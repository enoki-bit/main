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17"/>
  </p:notesMasterIdLst>
  <p:handoutMasterIdLst>
    <p:handoutMasterId r:id="rId18"/>
  </p:handoutMasterIdLst>
  <p:sldIdLst>
    <p:sldId id="256" r:id="rId2"/>
    <p:sldId id="261" r:id="rId3"/>
    <p:sldId id="262" r:id="rId4"/>
    <p:sldId id="264" r:id="rId5"/>
    <p:sldId id="263" r:id="rId6"/>
    <p:sldId id="265" r:id="rId7"/>
    <p:sldId id="266" r:id="rId8"/>
    <p:sldId id="268" r:id="rId9"/>
    <p:sldId id="267" r:id="rId10"/>
    <p:sldId id="269" r:id="rId11"/>
    <p:sldId id="270" r:id="rId12"/>
    <p:sldId id="271" r:id="rId13"/>
    <p:sldId id="272" r:id="rId14"/>
    <p:sldId id="273" r:id="rId15"/>
    <p:sldId id="274" r:id="rId16"/>
  </p:sldIdLst>
  <p:sldSz cx="9906000" cy="6858000" type="A4"/>
  <p:notesSz cx="9926638" cy="6797675"/>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既定のセクション" id="{B548F347-E632-4B36-A0C2-9CCD7ED3F5B1}">
          <p14:sldIdLst>
            <p14:sldId id="256"/>
            <p14:sldId id="261"/>
            <p14:sldId id="262"/>
            <p14:sldId id="264"/>
            <p14:sldId id="263"/>
            <p14:sldId id="265"/>
            <p14:sldId id="266"/>
            <p14:sldId id="268"/>
            <p14:sldId id="267"/>
            <p14:sldId id="269"/>
            <p14:sldId id="270"/>
            <p14:sldId id="271"/>
            <p14:sldId id="272"/>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1719C"/>
    <a:srgbClr val="4171D5"/>
    <a:srgbClr val="419BD5"/>
    <a:srgbClr val="898989"/>
    <a:srgbClr val="55ACE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0A15C55-8517-42AA-B614-E9B94910E393}" styleName="中間スタイル 2 - アクセント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中間スタイル 2 - アクセント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16" autoAdjust="0"/>
    <p:restoredTop sz="94660"/>
  </p:normalViewPr>
  <p:slideViewPr>
    <p:cSldViewPr snapToGrid="0">
      <p:cViewPr varScale="1">
        <p:scale>
          <a:sx n="110" d="100"/>
          <a:sy n="110" d="100"/>
        </p:scale>
        <p:origin x="1128"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0"/>
            <a:ext cx="4301650" cy="340410"/>
          </a:xfrm>
          <a:prstGeom prst="rect">
            <a:avLst/>
          </a:prstGeom>
        </p:spPr>
        <p:txBody>
          <a:bodyPr vert="horz" lIns="62944" tIns="31473" rIns="62944" bIns="31473" rtlCol="0"/>
          <a:lstStyle>
            <a:lvl1pPr algn="l">
              <a:defRPr sz="800"/>
            </a:lvl1pPr>
          </a:lstStyle>
          <a:p>
            <a:endParaRPr kumimoji="1" lang="ja-JP" altLang="en-US"/>
          </a:p>
        </p:txBody>
      </p:sp>
      <p:sp>
        <p:nvSpPr>
          <p:cNvPr id="3" name="日付プレースホルダー 2"/>
          <p:cNvSpPr>
            <a:spLocks noGrp="1"/>
          </p:cNvSpPr>
          <p:nvPr>
            <p:ph type="dt" sz="quarter" idx="1"/>
          </p:nvPr>
        </p:nvSpPr>
        <p:spPr>
          <a:xfrm>
            <a:off x="5623402" y="0"/>
            <a:ext cx="4301650" cy="340410"/>
          </a:xfrm>
          <a:prstGeom prst="rect">
            <a:avLst/>
          </a:prstGeom>
        </p:spPr>
        <p:txBody>
          <a:bodyPr vert="horz" lIns="62944" tIns="31473" rIns="62944" bIns="31473" rtlCol="0"/>
          <a:lstStyle>
            <a:lvl1pPr algn="r">
              <a:defRPr sz="800"/>
            </a:lvl1pPr>
          </a:lstStyle>
          <a:p>
            <a:fld id="{E2576A4B-778B-4444-AC61-1986328B18B1}" type="datetimeFigureOut">
              <a:rPr kumimoji="1" lang="ja-JP" altLang="en-US" smtClean="0"/>
              <a:t>2025/11/17</a:t>
            </a:fld>
            <a:endParaRPr kumimoji="1" lang="ja-JP" altLang="en-US"/>
          </a:p>
        </p:txBody>
      </p:sp>
      <p:sp>
        <p:nvSpPr>
          <p:cNvPr id="4" name="フッター プレースホルダー 3"/>
          <p:cNvSpPr>
            <a:spLocks noGrp="1"/>
          </p:cNvSpPr>
          <p:nvPr>
            <p:ph type="ftr" sz="quarter" idx="2"/>
          </p:nvPr>
        </p:nvSpPr>
        <p:spPr>
          <a:xfrm>
            <a:off x="1" y="6457265"/>
            <a:ext cx="4301650" cy="340410"/>
          </a:xfrm>
          <a:prstGeom prst="rect">
            <a:avLst/>
          </a:prstGeom>
        </p:spPr>
        <p:txBody>
          <a:bodyPr vert="horz" lIns="62944" tIns="31473" rIns="62944" bIns="31473" rtlCol="0" anchor="b"/>
          <a:lstStyle>
            <a:lvl1pPr algn="l">
              <a:defRPr sz="800"/>
            </a:lvl1pPr>
          </a:lstStyle>
          <a:p>
            <a:endParaRPr kumimoji="1" lang="ja-JP" altLang="en-US"/>
          </a:p>
        </p:txBody>
      </p:sp>
      <p:sp>
        <p:nvSpPr>
          <p:cNvPr id="5" name="スライド番号プレースホルダー 4"/>
          <p:cNvSpPr>
            <a:spLocks noGrp="1"/>
          </p:cNvSpPr>
          <p:nvPr>
            <p:ph type="sldNum" sz="quarter" idx="3"/>
          </p:nvPr>
        </p:nvSpPr>
        <p:spPr>
          <a:xfrm>
            <a:off x="5623402" y="6457265"/>
            <a:ext cx="4301650" cy="340410"/>
          </a:xfrm>
          <a:prstGeom prst="rect">
            <a:avLst/>
          </a:prstGeom>
        </p:spPr>
        <p:txBody>
          <a:bodyPr vert="horz" lIns="62944" tIns="31473" rIns="62944" bIns="31473" rtlCol="0" anchor="b"/>
          <a:lstStyle>
            <a:lvl1pPr algn="r">
              <a:defRPr sz="800"/>
            </a:lvl1pPr>
          </a:lstStyle>
          <a:p>
            <a:fld id="{0FADC253-00B3-415C-B4FD-22E7CAD8C242}" type="slidenum">
              <a:rPr kumimoji="1" lang="ja-JP" altLang="en-US" smtClean="0"/>
              <a:t>‹#›</a:t>
            </a:fld>
            <a:endParaRPr kumimoji="1" lang="ja-JP" altLang="en-US"/>
          </a:p>
        </p:txBody>
      </p:sp>
    </p:spTree>
    <p:extLst>
      <p:ext uri="{BB962C8B-B14F-4D97-AF65-F5344CB8AC3E}">
        <p14:creationId xmlns:p14="http://schemas.microsoft.com/office/powerpoint/2010/main" val="403071488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0"/>
            <a:ext cx="4301544" cy="341064"/>
          </a:xfrm>
          <a:prstGeom prst="rect">
            <a:avLst/>
          </a:prstGeom>
        </p:spPr>
        <p:txBody>
          <a:bodyPr vert="horz" lIns="95550" tIns="47775" rIns="95550" bIns="47775" rtlCol="0"/>
          <a:lstStyle>
            <a:lvl1pPr algn="l">
              <a:defRPr sz="1200"/>
            </a:lvl1pPr>
          </a:lstStyle>
          <a:p>
            <a:endParaRPr kumimoji="1" lang="ja-JP" altLang="en-US"/>
          </a:p>
        </p:txBody>
      </p:sp>
      <p:sp>
        <p:nvSpPr>
          <p:cNvPr id="3" name="日付プレースホルダー 2"/>
          <p:cNvSpPr>
            <a:spLocks noGrp="1"/>
          </p:cNvSpPr>
          <p:nvPr>
            <p:ph type="dt" idx="1"/>
          </p:nvPr>
        </p:nvSpPr>
        <p:spPr>
          <a:xfrm>
            <a:off x="5622798" y="0"/>
            <a:ext cx="4301544" cy="341064"/>
          </a:xfrm>
          <a:prstGeom prst="rect">
            <a:avLst/>
          </a:prstGeom>
        </p:spPr>
        <p:txBody>
          <a:bodyPr vert="horz" lIns="95550" tIns="47775" rIns="95550" bIns="47775" rtlCol="0"/>
          <a:lstStyle>
            <a:lvl1pPr algn="r">
              <a:defRPr sz="1200"/>
            </a:lvl1pPr>
          </a:lstStyle>
          <a:p>
            <a:fld id="{77BB2CB4-990A-49C4-AADC-9B2CA19E50BC}" type="datetimeFigureOut">
              <a:rPr kumimoji="1" lang="ja-JP" altLang="en-US" smtClean="0"/>
              <a:t>2025/11/17</a:t>
            </a:fld>
            <a:endParaRPr kumimoji="1" lang="ja-JP" altLang="en-US"/>
          </a:p>
        </p:txBody>
      </p:sp>
      <p:sp>
        <p:nvSpPr>
          <p:cNvPr id="4" name="スライド イメージ プレースホルダー 3"/>
          <p:cNvSpPr>
            <a:spLocks noGrp="1" noRot="1" noChangeAspect="1"/>
          </p:cNvSpPr>
          <p:nvPr>
            <p:ph type="sldImg" idx="2"/>
          </p:nvPr>
        </p:nvSpPr>
        <p:spPr>
          <a:xfrm>
            <a:off x="3306763" y="849313"/>
            <a:ext cx="3313112" cy="2293937"/>
          </a:xfrm>
          <a:prstGeom prst="rect">
            <a:avLst/>
          </a:prstGeom>
          <a:noFill/>
          <a:ln w="12700">
            <a:solidFill>
              <a:prstClr val="black"/>
            </a:solidFill>
          </a:ln>
        </p:spPr>
        <p:txBody>
          <a:bodyPr vert="horz" lIns="95550" tIns="47775" rIns="95550" bIns="47775" rtlCol="0" anchor="ctr"/>
          <a:lstStyle/>
          <a:p>
            <a:endParaRPr lang="ja-JP" altLang="en-US"/>
          </a:p>
        </p:txBody>
      </p:sp>
      <p:sp>
        <p:nvSpPr>
          <p:cNvPr id="5" name="ノート プレースホルダー 4"/>
          <p:cNvSpPr>
            <a:spLocks noGrp="1"/>
          </p:cNvSpPr>
          <p:nvPr>
            <p:ph type="body" sz="quarter" idx="3"/>
          </p:nvPr>
        </p:nvSpPr>
        <p:spPr>
          <a:xfrm>
            <a:off x="992665" y="3271383"/>
            <a:ext cx="7941310" cy="2676584"/>
          </a:xfrm>
          <a:prstGeom prst="rect">
            <a:avLst/>
          </a:prstGeom>
        </p:spPr>
        <p:txBody>
          <a:bodyPr vert="horz" lIns="95550" tIns="47775" rIns="95550" bIns="47775"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1" y="6456613"/>
            <a:ext cx="4301544" cy="341063"/>
          </a:xfrm>
          <a:prstGeom prst="rect">
            <a:avLst/>
          </a:prstGeom>
        </p:spPr>
        <p:txBody>
          <a:bodyPr vert="horz" lIns="95550" tIns="47775" rIns="95550" bIns="47775"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5622798" y="6456613"/>
            <a:ext cx="4301544" cy="341063"/>
          </a:xfrm>
          <a:prstGeom prst="rect">
            <a:avLst/>
          </a:prstGeom>
        </p:spPr>
        <p:txBody>
          <a:bodyPr vert="horz" lIns="95550" tIns="47775" rIns="95550" bIns="47775" rtlCol="0" anchor="b"/>
          <a:lstStyle>
            <a:lvl1pPr algn="r">
              <a:defRPr sz="1200"/>
            </a:lvl1pPr>
          </a:lstStyle>
          <a:p>
            <a:fld id="{30F9B3CF-BB5E-499C-96DD-F47E22CF7B26}" type="slidenum">
              <a:rPr kumimoji="1" lang="ja-JP" altLang="en-US" smtClean="0"/>
              <a:t>‹#›</a:t>
            </a:fld>
            <a:endParaRPr kumimoji="1" lang="ja-JP" altLang="en-US"/>
          </a:p>
        </p:txBody>
      </p:sp>
    </p:spTree>
    <p:extLst>
      <p:ext uri="{BB962C8B-B14F-4D97-AF65-F5344CB8AC3E}">
        <p14:creationId xmlns:p14="http://schemas.microsoft.com/office/powerpoint/2010/main" val="3900839935"/>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3306763" y="849313"/>
            <a:ext cx="3313112" cy="2293937"/>
          </a:xfrm>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30F9B3CF-BB5E-499C-96DD-F47E22CF7B26}" type="slidenum">
              <a:rPr kumimoji="1" lang="ja-JP" altLang="en-US" smtClean="0"/>
              <a:t>1</a:t>
            </a:fld>
            <a:endParaRPr kumimoji="1" lang="ja-JP" altLang="en-US"/>
          </a:p>
        </p:txBody>
      </p:sp>
    </p:spTree>
    <p:extLst>
      <p:ext uri="{BB962C8B-B14F-4D97-AF65-F5344CB8AC3E}">
        <p14:creationId xmlns:p14="http://schemas.microsoft.com/office/powerpoint/2010/main" val="192222856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742950" y="1906396"/>
            <a:ext cx="8420100" cy="721361"/>
          </a:xfrm>
          <a:prstGeom prst="rect">
            <a:avLst/>
          </a:prstGeom>
        </p:spPr>
        <p:txBody>
          <a:bodyPr anchor="ctr">
            <a:normAutofit/>
          </a:bodyPr>
          <a:lstStyle>
            <a:lvl1pPr algn="ctr">
              <a:defRPr sz="3600">
                <a:latin typeface="メイリオ" panose="020B0604030504040204" pitchFamily="50" charset="-128"/>
                <a:ea typeface="メイリオ" panose="020B0604030504040204" pitchFamily="50" charset="-128"/>
                <a:cs typeface="メイリオ" panose="020B0604030504040204" pitchFamily="50" charset="-128"/>
              </a:defRPr>
            </a:lvl1pPr>
          </a:lstStyle>
          <a:p>
            <a:r>
              <a:rPr lang="ja-JP" altLang="en-US" dirty="0"/>
              <a:t>マスター タイトルの書式設定</a:t>
            </a:r>
            <a:endParaRPr lang="en-US" dirty="0"/>
          </a:p>
        </p:txBody>
      </p:sp>
      <p:sp>
        <p:nvSpPr>
          <p:cNvPr id="3" name="Subtitle 2"/>
          <p:cNvSpPr>
            <a:spLocks noGrp="1"/>
          </p:cNvSpPr>
          <p:nvPr>
            <p:ph type="subTitle" idx="1"/>
          </p:nvPr>
        </p:nvSpPr>
        <p:spPr>
          <a:xfrm>
            <a:off x="1238250" y="2820795"/>
            <a:ext cx="7429500" cy="726440"/>
          </a:xfrm>
          <a:prstGeom prst="rect">
            <a:avLst/>
          </a:prstGeom>
        </p:spPr>
        <p:txBody>
          <a:bodyPr anchor="ctr">
            <a:normAutofit/>
          </a:bodyPr>
          <a:lstStyle>
            <a:lvl1pPr marL="0" indent="0" algn="ctr">
              <a:buNone/>
              <a:defRPr sz="1600">
                <a:latin typeface="メイリオ" panose="020B0604030504040204" pitchFamily="50" charset="-128"/>
                <a:ea typeface="メイリオ" panose="020B0604030504040204" pitchFamily="50" charset="-128"/>
                <a:cs typeface="メイリオ" panose="020B0604030504040204" pitchFamily="50" charset="-128"/>
              </a:defRPr>
            </a:lvl1pPr>
            <a:lvl2pPr marL="457197" indent="0" algn="ctr">
              <a:buNone/>
              <a:defRPr sz="2000"/>
            </a:lvl2pPr>
            <a:lvl3pPr marL="914395" indent="0" algn="ctr">
              <a:buNone/>
              <a:defRPr sz="1800"/>
            </a:lvl3pPr>
            <a:lvl4pPr marL="1371592" indent="0" algn="ctr">
              <a:buNone/>
              <a:defRPr sz="1600"/>
            </a:lvl4pPr>
            <a:lvl5pPr marL="1828789" indent="0" algn="ctr">
              <a:buNone/>
              <a:defRPr sz="1600"/>
            </a:lvl5pPr>
            <a:lvl6pPr marL="2285987" indent="0" algn="ctr">
              <a:buNone/>
              <a:defRPr sz="1600"/>
            </a:lvl6pPr>
            <a:lvl7pPr marL="2743184" indent="0" algn="ctr">
              <a:buNone/>
              <a:defRPr sz="1600"/>
            </a:lvl7pPr>
            <a:lvl8pPr marL="3200381" indent="0" algn="ctr">
              <a:buNone/>
              <a:defRPr sz="1600"/>
            </a:lvl8pPr>
            <a:lvl9pPr marL="3657579" indent="0" algn="ctr">
              <a:buNone/>
              <a:defRPr sz="1600"/>
            </a:lvl9pPr>
          </a:lstStyle>
          <a:p>
            <a:r>
              <a:rPr lang="ja-JP" altLang="en-US"/>
              <a:t>マスター サブタイトルの書式設定</a:t>
            </a:r>
            <a:endParaRPr lang="en-US" dirty="0"/>
          </a:p>
        </p:txBody>
      </p:sp>
      <p:sp>
        <p:nvSpPr>
          <p:cNvPr id="6" name="Slide Number Placeholder 5"/>
          <p:cNvSpPr>
            <a:spLocks noGrp="1"/>
          </p:cNvSpPr>
          <p:nvPr>
            <p:ph type="sldNum" sz="quarter" idx="12"/>
          </p:nvPr>
        </p:nvSpPr>
        <p:spPr>
          <a:xfrm>
            <a:off x="7668260" y="6519600"/>
            <a:ext cx="2228850" cy="324000"/>
          </a:xfrm>
        </p:spPr>
        <p:txBody>
          <a:bodyPr/>
          <a:lstStyle>
            <a:lvl1pPr>
              <a:defRPr sz="1100">
                <a:latin typeface="メイリオ" panose="020B0604030504040204" pitchFamily="50" charset="-128"/>
                <a:ea typeface="メイリオ" panose="020B0604030504040204" pitchFamily="50" charset="-128"/>
                <a:cs typeface="メイリオ" panose="020B0604030504040204" pitchFamily="50" charset="-128"/>
              </a:defRPr>
            </a:lvl1pPr>
          </a:lstStyle>
          <a:p>
            <a:fld id="{0BDC6CC0-337C-4DEC-BAED-08CE4EABF7AC}" type="slidenum">
              <a:rPr lang="ja-JP" altLang="en-US" smtClean="0"/>
              <a:pPr/>
              <a:t>‹#›</a:t>
            </a:fld>
            <a:endParaRPr lang="ja-JP" altLang="en-US" dirty="0"/>
          </a:p>
        </p:txBody>
      </p:sp>
      <p:pic>
        <p:nvPicPr>
          <p:cNvPr id="10" name="図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203440" y="37797"/>
            <a:ext cx="2672018" cy="464406"/>
          </a:xfrm>
          <a:prstGeom prst="rect">
            <a:avLst/>
          </a:prstGeom>
        </p:spPr>
      </p:pic>
    </p:spTree>
    <p:extLst>
      <p:ext uri="{BB962C8B-B14F-4D97-AF65-F5344CB8AC3E}">
        <p14:creationId xmlns:p14="http://schemas.microsoft.com/office/powerpoint/2010/main" val="4788281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ユーザー設定レイアウト">
    <p:spTree>
      <p:nvGrpSpPr>
        <p:cNvPr id="1" name=""/>
        <p:cNvGrpSpPr/>
        <p:nvPr/>
      </p:nvGrpSpPr>
      <p:grpSpPr>
        <a:xfrm>
          <a:off x="0" y="0"/>
          <a:ext cx="0" cy="0"/>
          <a:chOff x="0" y="0"/>
          <a:chExt cx="0" cy="0"/>
        </a:xfrm>
      </p:grpSpPr>
      <p:sp>
        <p:nvSpPr>
          <p:cNvPr id="2" name="タイトル 1"/>
          <p:cNvSpPr>
            <a:spLocks noGrp="1"/>
          </p:cNvSpPr>
          <p:nvPr>
            <p:ph type="title"/>
          </p:nvPr>
        </p:nvSpPr>
        <p:spPr>
          <a:xfrm>
            <a:off x="112543" y="62073"/>
            <a:ext cx="9784308" cy="444366"/>
          </a:xfrm>
          <a:prstGeom prst="rect">
            <a:avLst/>
          </a:prstGeom>
        </p:spPr>
        <p:txBody>
          <a:bodyPr vert="horz" anchor="ctr">
            <a:noAutofit/>
          </a:bodyPr>
          <a:lstStyle>
            <a:lvl1pPr>
              <a:lnSpc>
                <a:spcPts val="3360"/>
              </a:lnSpc>
              <a:defRPr sz="2800">
                <a:solidFill>
                  <a:schemeClr val="bg1"/>
                </a:solidFill>
                <a:latin typeface="メイリオ" panose="020B0604030504040204" pitchFamily="50" charset="-128"/>
                <a:ea typeface="メイリオ" panose="020B0604030504040204" pitchFamily="50" charset="-128"/>
                <a:cs typeface="メイリオ" panose="020B0604030504040204" pitchFamily="50" charset="-128"/>
              </a:defRPr>
            </a:lvl1pPr>
          </a:lstStyle>
          <a:p>
            <a:r>
              <a:rPr kumimoji="1" lang="ja-JP" altLang="en-US" dirty="0"/>
              <a:t>マスター タイトルの書式設定</a:t>
            </a:r>
          </a:p>
        </p:txBody>
      </p:sp>
      <p:sp>
        <p:nvSpPr>
          <p:cNvPr id="5" name="スライド番号プレースホルダー 4"/>
          <p:cNvSpPr>
            <a:spLocks noGrp="1"/>
          </p:cNvSpPr>
          <p:nvPr>
            <p:ph type="sldNum" sz="quarter" idx="12"/>
          </p:nvPr>
        </p:nvSpPr>
        <p:spPr>
          <a:xfrm>
            <a:off x="7668000" y="6543434"/>
            <a:ext cx="2228850" cy="276999"/>
          </a:xfrm>
        </p:spPr>
        <p:txBody>
          <a:bodyPr vert="horz">
            <a:noAutofit/>
          </a:bodyPr>
          <a:lstStyle>
            <a:lvl1pPr>
              <a:defRPr>
                <a:solidFill>
                  <a:srgbClr val="898989"/>
                </a:solidFill>
              </a:defRPr>
            </a:lvl1pPr>
          </a:lstStyle>
          <a:p>
            <a:fld id="{0BDC6CC0-337C-4DEC-BAED-08CE4EABF7AC}" type="slidenum">
              <a:rPr lang="ja-JP" altLang="en-US" smtClean="0"/>
              <a:pPr/>
              <a:t>‹#›</a:t>
            </a:fld>
            <a:endParaRPr lang="ja-JP" altLang="en-US" dirty="0"/>
          </a:p>
        </p:txBody>
      </p:sp>
    </p:spTree>
    <p:extLst>
      <p:ext uri="{BB962C8B-B14F-4D97-AF65-F5344CB8AC3E}">
        <p14:creationId xmlns:p14="http://schemas.microsoft.com/office/powerpoint/2010/main" val="126554005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正方形/長方形 6"/>
          <p:cNvSpPr/>
          <p:nvPr userDrawn="1"/>
        </p:nvSpPr>
        <p:spPr>
          <a:xfrm>
            <a:off x="0" y="0"/>
            <a:ext cx="9906000" cy="540000"/>
          </a:xfrm>
          <a:prstGeom prst="rect">
            <a:avLst/>
          </a:prstGeom>
          <a:solidFill>
            <a:srgbClr val="55AC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dirty="0"/>
          </a:p>
        </p:txBody>
      </p:sp>
      <p:sp>
        <p:nvSpPr>
          <p:cNvPr id="6" name="Slide Number Placeholder 5"/>
          <p:cNvSpPr>
            <a:spLocks noGrp="1"/>
          </p:cNvSpPr>
          <p:nvPr>
            <p:ph type="sldNum" sz="quarter" idx="4"/>
          </p:nvPr>
        </p:nvSpPr>
        <p:spPr>
          <a:xfrm>
            <a:off x="7668000" y="6519932"/>
            <a:ext cx="2228850" cy="324000"/>
          </a:xfrm>
          <a:prstGeom prst="rect">
            <a:avLst/>
          </a:prstGeom>
        </p:spPr>
        <p:txBody>
          <a:bodyPr vert="horz" lIns="91440" tIns="45720" rIns="91440" bIns="45720" rtlCol="0" anchor="ctr"/>
          <a:lstStyle>
            <a:lvl1pPr algn="r">
              <a:defRPr sz="1200">
                <a:solidFill>
                  <a:schemeClr val="tx1">
                    <a:tint val="75000"/>
                  </a:schemeClr>
                </a:solidFill>
              </a:defRPr>
            </a:lvl1pPr>
          </a:lstStyle>
          <a:p>
            <a:fld id="{0BDC6CC0-337C-4DEC-BAED-08CE4EABF7AC}" type="slidenum">
              <a:rPr kumimoji="1" lang="ja-JP" altLang="en-US" smtClean="0"/>
              <a:t>‹#›</a:t>
            </a:fld>
            <a:endParaRPr kumimoji="1" lang="ja-JP" altLang="en-US"/>
          </a:p>
        </p:txBody>
      </p:sp>
      <p:cxnSp>
        <p:nvCxnSpPr>
          <p:cNvPr id="8" name="直線コネクタ 7"/>
          <p:cNvCxnSpPr/>
          <p:nvPr userDrawn="1"/>
        </p:nvCxnSpPr>
        <p:spPr>
          <a:xfrm>
            <a:off x="0" y="6478807"/>
            <a:ext cx="9906000" cy="0"/>
          </a:xfrm>
          <a:prstGeom prst="line">
            <a:avLst/>
          </a:prstGeom>
          <a:ln w="38100">
            <a:solidFill>
              <a:srgbClr val="55ACEE"/>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94037557"/>
      </p:ext>
    </p:extLst>
  </p:cSld>
  <p:clrMap bg1="lt1" tx1="dk1" bg2="lt2" tx2="dk2" accent1="accent1" accent2="accent2" accent3="accent3" accent4="accent4" accent5="accent5" accent6="accent6" hlink="hlink" folHlink="folHlink"/>
  <p:sldLayoutIdLst>
    <p:sldLayoutId id="2147483673" r:id="rId1"/>
    <p:sldLayoutId id="2147483674" r:id="rId2"/>
  </p:sldLayoutIdLst>
  <p:hf hdr="0" ftr="0" dt="0"/>
  <p:txStyles>
    <p:titleStyle>
      <a:lvl1pPr algn="l" defTabSz="914395"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599" indent="-228599" algn="l" defTabSz="914395"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96" indent="-228599" algn="l" defTabSz="914395"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93" indent="-228599" algn="l" defTabSz="914395"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91" indent="-228599" algn="l" defTabSz="914395"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88" indent="-228599" algn="l" defTabSz="914395"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85" indent="-228599" algn="l" defTabSz="914395"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83" indent="-228599" algn="l" defTabSz="914395"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80" indent="-228599" algn="l" defTabSz="914395"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77" indent="-228599" algn="l" defTabSz="914395"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395" rtl="0" eaLnBrk="1" latinLnBrk="0" hangingPunct="1">
        <a:defRPr kumimoji="1" sz="1800" kern="1200">
          <a:solidFill>
            <a:schemeClr val="tx1"/>
          </a:solidFill>
          <a:latin typeface="+mn-lt"/>
          <a:ea typeface="+mn-ea"/>
          <a:cs typeface="+mn-cs"/>
        </a:defRPr>
      </a:lvl1pPr>
      <a:lvl2pPr marL="457197" algn="l" defTabSz="914395" rtl="0" eaLnBrk="1" latinLnBrk="0" hangingPunct="1">
        <a:defRPr kumimoji="1" sz="1800" kern="1200">
          <a:solidFill>
            <a:schemeClr val="tx1"/>
          </a:solidFill>
          <a:latin typeface="+mn-lt"/>
          <a:ea typeface="+mn-ea"/>
          <a:cs typeface="+mn-cs"/>
        </a:defRPr>
      </a:lvl2pPr>
      <a:lvl3pPr marL="914395" algn="l" defTabSz="914395" rtl="0" eaLnBrk="1" latinLnBrk="0" hangingPunct="1">
        <a:defRPr kumimoji="1" sz="1800" kern="1200">
          <a:solidFill>
            <a:schemeClr val="tx1"/>
          </a:solidFill>
          <a:latin typeface="+mn-lt"/>
          <a:ea typeface="+mn-ea"/>
          <a:cs typeface="+mn-cs"/>
        </a:defRPr>
      </a:lvl3pPr>
      <a:lvl4pPr marL="1371592" algn="l" defTabSz="914395" rtl="0" eaLnBrk="1" latinLnBrk="0" hangingPunct="1">
        <a:defRPr kumimoji="1" sz="1800" kern="1200">
          <a:solidFill>
            <a:schemeClr val="tx1"/>
          </a:solidFill>
          <a:latin typeface="+mn-lt"/>
          <a:ea typeface="+mn-ea"/>
          <a:cs typeface="+mn-cs"/>
        </a:defRPr>
      </a:lvl4pPr>
      <a:lvl5pPr marL="1828789" algn="l" defTabSz="914395" rtl="0" eaLnBrk="1" latinLnBrk="0" hangingPunct="1">
        <a:defRPr kumimoji="1" sz="1800" kern="1200">
          <a:solidFill>
            <a:schemeClr val="tx1"/>
          </a:solidFill>
          <a:latin typeface="+mn-lt"/>
          <a:ea typeface="+mn-ea"/>
          <a:cs typeface="+mn-cs"/>
        </a:defRPr>
      </a:lvl5pPr>
      <a:lvl6pPr marL="2285987" algn="l" defTabSz="914395" rtl="0" eaLnBrk="1" latinLnBrk="0" hangingPunct="1">
        <a:defRPr kumimoji="1" sz="1800" kern="1200">
          <a:solidFill>
            <a:schemeClr val="tx1"/>
          </a:solidFill>
          <a:latin typeface="+mn-lt"/>
          <a:ea typeface="+mn-ea"/>
          <a:cs typeface="+mn-cs"/>
        </a:defRPr>
      </a:lvl6pPr>
      <a:lvl7pPr marL="2743184" algn="l" defTabSz="914395" rtl="0" eaLnBrk="1" latinLnBrk="0" hangingPunct="1">
        <a:defRPr kumimoji="1" sz="1800" kern="1200">
          <a:solidFill>
            <a:schemeClr val="tx1"/>
          </a:solidFill>
          <a:latin typeface="+mn-lt"/>
          <a:ea typeface="+mn-ea"/>
          <a:cs typeface="+mn-cs"/>
        </a:defRPr>
      </a:lvl7pPr>
      <a:lvl8pPr marL="3200381" algn="l" defTabSz="914395" rtl="0" eaLnBrk="1" latinLnBrk="0" hangingPunct="1">
        <a:defRPr kumimoji="1" sz="1800" kern="1200">
          <a:solidFill>
            <a:schemeClr val="tx1"/>
          </a:solidFill>
          <a:latin typeface="+mn-lt"/>
          <a:ea typeface="+mn-ea"/>
          <a:cs typeface="+mn-cs"/>
        </a:defRPr>
      </a:lvl8pPr>
      <a:lvl9pPr marL="3657579" algn="l" defTabSz="914395"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742950" y="2170555"/>
            <a:ext cx="8420100" cy="721361"/>
          </a:xfrm>
        </p:spPr>
        <p:txBody>
          <a:bodyPr>
            <a:normAutofit/>
          </a:bodyPr>
          <a:lstStyle/>
          <a:p>
            <a:r>
              <a:rPr lang="en-US" altLang="ja-JP" sz="2800" dirty="0"/>
              <a:t>【</a:t>
            </a:r>
            <a:r>
              <a:rPr lang="ja-JP" altLang="en-US" sz="2800" dirty="0"/>
              <a:t>第</a:t>
            </a:r>
            <a:r>
              <a:rPr lang="en-US" altLang="ja-JP" sz="2800" dirty="0"/>
              <a:t>1</a:t>
            </a:r>
            <a:r>
              <a:rPr lang="ja-JP" altLang="en-US" sz="2800" dirty="0"/>
              <a:t>回</a:t>
            </a:r>
            <a:r>
              <a:rPr lang="en-US" altLang="ja-JP" sz="2800" dirty="0"/>
              <a:t>】</a:t>
            </a:r>
            <a:r>
              <a:rPr lang="ja-JP" altLang="en-US" sz="2800" dirty="0"/>
              <a:t>データベースの基礎知識</a:t>
            </a:r>
            <a:endParaRPr kumimoji="1" lang="ja-JP" altLang="en-US" sz="2800" dirty="0"/>
          </a:p>
        </p:txBody>
      </p:sp>
      <p:sp>
        <p:nvSpPr>
          <p:cNvPr id="5" name="スライド番号プレースホルダー 4"/>
          <p:cNvSpPr>
            <a:spLocks noGrp="1"/>
          </p:cNvSpPr>
          <p:nvPr>
            <p:ph type="sldNum" sz="quarter" idx="12"/>
          </p:nvPr>
        </p:nvSpPr>
        <p:spPr/>
        <p:txBody>
          <a:bodyPr/>
          <a:lstStyle/>
          <a:p>
            <a:fld id="{0BDC6CC0-337C-4DEC-BAED-08CE4EABF7AC}" type="slidenum">
              <a:rPr lang="ja-JP" altLang="en-US" smtClean="0"/>
              <a:pPr/>
              <a:t>1</a:t>
            </a:fld>
            <a:endParaRPr lang="ja-JP" altLang="en-US"/>
          </a:p>
        </p:txBody>
      </p:sp>
      <p:sp>
        <p:nvSpPr>
          <p:cNvPr id="6" name="字幕 5">
            <a:extLst>
              <a:ext uri="{FF2B5EF4-FFF2-40B4-BE49-F238E27FC236}">
                <a16:creationId xmlns:a16="http://schemas.microsoft.com/office/drawing/2014/main" id="{965CA2C2-7036-4887-B651-FDDDA96932CB}"/>
              </a:ext>
            </a:extLst>
          </p:cNvPr>
          <p:cNvSpPr>
            <a:spLocks noGrp="1"/>
          </p:cNvSpPr>
          <p:nvPr>
            <p:ph type="subTitle" idx="1"/>
          </p:nvPr>
        </p:nvSpPr>
        <p:spPr/>
        <p:txBody>
          <a:bodyPr/>
          <a:lstStyle/>
          <a:p>
            <a:endParaRPr lang="ja-JP" altLang="en-US" dirty="0"/>
          </a:p>
        </p:txBody>
      </p:sp>
    </p:spTree>
    <p:extLst>
      <p:ext uri="{BB962C8B-B14F-4D97-AF65-F5344CB8AC3E}">
        <p14:creationId xmlns:p14="http://schemas.microsoft.com/office/powerpoint/2010/main" val="777609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07F9091-6F42-244F-E19A-17186AF21322}"/>
              </a:ext>
            </a:extLst>
          </p:cNvPr>
          <p:cNvSpPr>
            <a:spLocks noGrp="1"/>
          </p:cNvSpPr>
          <p:nvPr>
            <p:ph type="title"/>
          </p:nvPr>
        </p:nvSpPr>
        <p:spPr/>
        <p:txBody>
          <a:bodyPr/>
          <a:lstStyle/>
          <a:p>
            <a:r>
              <a:rPr kumimoji="1" lang="en-US" altLang="ja-JP" dirty="0"/>
              <a:t>1. </a:t>
            </a:r>
            <a:r>
              <a:rPr kumimoji="1" lang="ja-JP" altLang="en-US" dirty="0"/>
              <a:t>データベースとは</a:t>
            </a:r>
            <a:r>
              <a:rPr lang="ja-JP" altLang="en-US" dirty="0"/>
              <a:t>？</a:t>
            </a:r>
            <a:endParaRPr kumimoji="1" lang="ja-JP" altLang="en-US" dirty="0"/>
          </a:p>
        </p:txBody>
      </p:sp>
      <p:sp>
        <p:nvSpPr>
          <p:cNvPr id="3" name="スライド番号プレースホルダー 2">
            <a:extLst>
              <a:ext uri="{FF2B5EF4-FFF2-40B4-BE49-F238E27FC236}">
                <a16:creationId xmlns:a16="http://schemas.microsoft.com/office/drawing/2014/main" id="{47C23008-39BF-D632-E213-277D0199F6A6}"/>
              </a:ext>
            </a:extLst>
          </p:cNvPr>
          <p:cNvSpPr>
            <a:spLocks noGrp="1"/>
          </p:cNvSpPr>
          <p:nvPr>
            <p:ph type="sldNum" sz="quarter" idx="12"/>
          </p:nvPr>
        </p:nvSpPr>
        <p:spPr/>
        <p:txBody>
          <a:bodyPr/>
          <a:lstStyle/>
          <a:p>
            <a:fld id="{0BDC6CC0-337C-4DEC-BAED-08CE4EABF7AC}" type="slidenum">
              <a:rPr lang="ja-JP" altLang="en-US" smtClean="0"/>
              <a:pPr/>
              <a:t>2</a:t>
            </a:fld>
            <a:endParaRPr lang="ja-JP" altLang="en-US" dirty="0"/>
          </a:p>
        </p:txBody>
      </p:sp>
      <p:sp>
        <p:nvSpPr>
          <p:cNvPr id="4" name="テキスト ボックス 3">
            <a:extLst>
              <a:ext uri="{FF2B5EF4-FFF2-40B4-BE49-F238E27FC236}">
                <a16:creationId xmlns:a16="http://schemas.microsoft.com/office/drawing/2014/main" id="{AB94D069-77E8-6064-227C-F7B668D3A08B}"/>
              </a:ext>
            </a:extLst>
          </p:cNvPr>
          <p:cNvSpPr txBox="1"/>
          <p:nvPr/>
        </p:nvSpPr>
        <p:spPr>
          <a:xfrm>
            <a:off x="112541" y="576001"/>
            <a:ext cx="9636369" cy="307777"/>
          </a:xfrm>
          <a:prstGeom prst="rect">
            <a:avLst/>
          </a:prstGeom>
          <a:noFill/>
        </p:spPr>
        <p:txBody>
          <a:bodyPr wrap="square" rtlCol="0">
            <a:spAutoFit/>
          </a:bodyPr>
          <a:lstStyle/>
          <a:p>
            <a:r>
              <a:rPr lang="en-US" altLang="ja-JP" sz="1400" u="sng" dirty="0">
                <a:latin typeface="メイリオ" panose="020B0604030504040204" pitchFamily="50" charset="-128"/>
                <a:ea typeface="メイリオ" panose="020B0604030504040204" pitchFamily="50" charset="-128"/>
                <a:cs typeface="メイリオ" panose="020B0604030504040204" pitchFamily="50" charset="-128"/>
              </a:rPr>
              <a:t>1-1. </a:t>
            </a:r>
            <a:r>
              <a:rPr lang="ja-JP" altLang="en-US" sz="1400" u="sng" dirty="0">
                <a:latin typeface="メイリオ" panose="020B0604030504040204" pitchFamily="50" charset="-128"/>
                <a:ea typeface="メイリオ" panose="020B0604030504040204" pitchFamily="50" charset="-128"/>
                <a:cs typeface="メイリオ" panose="020B0604030504040204" pitchFamily="50" charset="-128"/>
              </a:rPr>
              <a:t>データベースとは？</a:t>
            </a:r>
            <a:endParaRPr lang="en-US" altLang="ja-JP" sz="1400" u="sng"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5" name="テキスト ボックス 4">
            <a:extLst>
              <a:ext uri="{FF2B5EF4-FFF2-40B4-BE49-F238E27FC236}">
                <a16:creationId xmlns:a16="http://schemas.microsoft.com/office/drawing/2014/main" id="{480A354C-6E7A-51B1-A941-6B1ED47CB682}"/>
              </a:ext>
            </a:extLst>
          </p:cNvPr>
          <p:cNvSpPr txBox="1"/>
          <p:nvPr/>
        </p:nvSpPr>
        <p:spPr>
          <a:xfrm>
            <a:off x="112541" y="953339"/>
            <a:ext cx="9636369" cy="1815882"/>
          </a:xfrm>
          <a:prstGeom prst="rect">
            <a:avLst/>
          </a:prstGeom>
          <a:noFill/>
        </p:spPr>
        <p:txBody>
          <a:bodyPr wrap="square" rtlCol="0">
            <a:spAutoFit/>
          </a:bodyPr>
          <a:lstStyle/>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ある特定の条件に当てはまる「データ」を複数集めて、後で使いやすい形式に整理した情報のかたまり。</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       </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具体的に日常生活の身近なもので上げると、以下のようなものもデータベースと言える。</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・電話帳 </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相手の名前と電話番号の集まり。</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・住所録 </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相手の名前と住所の集まり。</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      </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我々がコンピューター上で使用するデータベースシステムのことを、一般的に</a:t>
            </a:r>
            <a:r>
              <a:rPr lang="en-US" altLang="ja-JP" sz="1400" b="1" u="sng"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DBMS(Database Management </a:t>
            </a:r>
          </a:p>
          <a:p>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400" b="1" u="sng"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System)</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と言い、総称して「データベース」と呼ぶ。</a:t>
            </a:r>
          </a:p>
        </p:txBody>
      </p:sp>
      <p:sp>
        <p:nvSpPr>
          <p:cNvPr id="6" name="テキスト ボックス 5">
            <a:extLst>
              <a:ext uri="{FF2B5EF4-FFF2-40B4-BE49-F238E27FC236}">
                <a16:creationId xmlns:a16="http://schemas.microsoft.com/office/drawing/2014/main" id="{43DB5E80-F4F3-190D-73F8-ADDC0A6CE479}"/>
              </a:ext>
            </a:extLst>
          </p:cNvPr>
          <p:cNvSpPr txBox="1"/>
          <p:nvPr/>
        </p:nvSpPr>
        <p:spPr>
          <a:xfrm>
            <a:off x="112541" y="2841142"/>
            <a:ext cx="9636369" cy="307777"/>
          </a:xfrm>
          <a:prstGeom prst="rect">
            <a:avLst/>
          </a:prstGeom>
          <a:noFill/>
        </p:spPr>
        <p:txBody>
          <a:bodyPr wrap="square" rtlCol="0">
            <a:spAutoFit/>
          </a:bodyPr>
          <a:lstStyle/>
          <a:p>
            <a:r>
              <a:rPr lang="en-US" altLang="ja-JP" sz="1400" u="sng" dirty="0">
                <a:latin typeface="メイリオ" panose="020B0604030504040204" pitchFamily="50" charset="-128"/>
                <a:ea typeface="メイリオ" panose="020B0604030504040204" pitchFamily="50" charset="-128"/>
                <a:cs typeface="メイリオ" panose="020B0604030504040204" pitchFamily="50" charset="-128"/>
              </a:rPr>
              <a:t>1-2. </a:t>
            </a:r>
            <a:r>
              <a:rPr lang="ja-JP" altLang="en-US" sz="1400" u="sng" dirty="0">
                <a:latin typeface="メイリオ" panose="020B0604030504040204" pitchFamily="50" charset="-128"/>
                <a:ea typeface="メイリオ" panose="020B0604030504040204" pitchFamily="50" charset="-128"/>
                <a:cs typeface="メイリオ" panose="020B0604030504040204" pitchFamily="50" charset="-128"/>
              </a:rPr>
              <a:t>データベース化のメリット</a:t>
            </a:r>
            <a:endPar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7" name="テキスト ボックス 6">
            <a:extLst>
              <a:ext uri="{FF2B5EF4-FFF2-40B4-BE49-F238E27FC236}">
                <a16:creationId xmlns:a16="http://schemas.microsoft.com/office/drawing/2014/main" id="{0AF63DEB-8A79-8D3D-902C-FFBC22498141}"/>
              </a:ext>
            </a:extLst>
          </p:cNvPr>
          <p:cNvSpPr txBox="1"/>
          <p:nvPr/>
        </p:nvSpPr>
        <p:spPr>
          <a:xfrm>
            <a:off x="112541" y="3220839"/>
            <a:ext cx="9636369" cy="1169551"/>
          </a:xfrm>
          <a:prstGeom prst="rect">
            <a:avLst/>
          </a:prstGeom>
          <a:noFill/>
        </p:spPr>
        <p:txBody>
          <a:bodyPr wrap="square" rtlCol="0">
            <a:spAutoFit/>
          </a:bodyPr>
          <a:lstStyle/>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データベースを使用して、データを管理するメリットとしては以下のようなものが挙げられる。</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　　　・複数のデータをまとめて一元管理できる</a:t>
            </a:r>
            <a:endPar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　　　・目的のデータを簡単に検索し、取り出すことができる</a:t>
            </a:r>
            <a:endPar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　　　・特定のデータを簡単に編集して使用することができる</a:t>
            </a:r>
            <a:endPar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8" name="テキスト ボックス 7">
            <a:extLst>
              <a:ext uri="{FF2B5EF4-FFF2-40B4-BE49-F238E27FC236}">
                <a16:creationId xmlns:a16="http://schemas.microsoft.com/office/drawing/2014/main" id="{C820C218-62FC-175D-819F-021FCF138FCC}"/>
              </a:ext>
            </a:extLst>
          </p:cNvPr>
          <p:cNvSpPr txBox="1"/>
          <p:nvPr/>
        </p:nvSpPr>
        <p:spPr>
          <a:xfrm>
            <a:off x="112541" y="4462310"/>
            <a:ext cx="9636369" cy="307777"/>
          </a:xfrm>
          <a:prstGeom prst="rect">
            <a:avLst/>
          </a:prstGeom>
          <a:noFill/>
        </p:spPr>
        <p:txBody>
          <a:bodyPr wrap="square" rtlCol="0">
            <a:spAutoFit/>
          </a:bodyPr>
          <a:lstStyle/>
          <a:p>
            <a:r>
              <a:rPr lang="en-US" altLang="ja-JP" sz="1400" u="sng" dirty="0">
                <a:latin typeface="メイリオ" panose="020B0604030504040204" pitchFamily="50" charset="-128"/>
                <a:ea typeface="メイリオ" panose="020B0604030504040204" pitchFamily="50" charset="-128"/>
                <a:cs typeface="メイリオ" panose="020B0604030504040204" pitchFamily="50" charset="-128"/>
              </a:rPr>
              <a:t>1-3. </a:t>
            </a:r>
            <a:r>
              <a:rPr lang="ja-JP" altLang="en-US" sz="1400" u="sng" dirty="0">
                <a:latin typeface="メイリオ" panose="020B0604030504040204" pitchFamily="50" charset="-128"/>
                <a:ea typeface="メイリオ" panose="020B0604030504040204" pitchFamily="50" charset="-128"/>
                <a:cs typeface="メイリオ" panose="020B0604030504040204" pitchFamily="50" charset="-128"/>
              </a:rPr>
              <a:t>データベースの種類</a:t>
            </a:r>
            <a:endPar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 name="テキスト ボックス 8">
            <a:extLst>
              <a:ext uri="{FF2B5EF4-FFF2-40B4-BE49-F238E27FC236}">
                <a16:creationId xmlns:a16="http://schemas.microsoft.com/office/drawing/2014/main" id="{EC681D34-9F29-83AB-75CF-241D7DBBC7CF}"/>
              </a:ext>
            </a:extLst>
          </p:cNvPr>
          <p:cNvSpPr txBox="1"/>
          <p:nvPr/>
        </p:nvSpPr>
        <p:spPr>
          <a:xfrm>
            <a:off x="112541" y="4842007"/>
            <a:ext cx="9636369" cy="954107"/>
          </a:xfrm>
          <a:prstGeom prst="rect">
            <a:avLst/>
          </a:prstGeom>
          <a:noFill/>
        </p:spPr>
        <p:txBody>
          <a:bodyPr wrap="square" rtlCol="0">
            <a:spAutoFit/>
          </a:bodyPr>
          <a:lstStyle/>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一般的なデータベースの種類としては、以下のものが挙げられる。</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　　　・階層型データベース</a:t>
            </a:r>
            <a:endPar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　　　・ネットワーク型データベース</a:t>
            </a:r>
            <a:endPar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　　　・リレーショナルデータベース</a:t>
            </a:r>
            <a:endPar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24587264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AEA71CB-9EE2-A789-55E8-FC95752CA1A5}"/>
              </a:ext>
            </a:extLst>
          </p:cNvPr>
          <p:cNvSpPr>
            <a:spLocks noGrp="1"/>
          </p:cNvSpPr>
          <p:nvPr>
            <p:ph type="title"/>
          </p:nvPr>
        </p:nvSpPr>
        <p:spPr/>
        <p:txBody>
          <a:bodyPr/>
          <a:lstStyle/>
          <a:p>
            <a:r>
              <a:rPr lang="en-US" altLang="ja-JP" dirty="0"/>
              <a:t>1. </a:t>
            </a:r>
            <a:r>
              <a:rPr lang="ja-JP" altLang="en-US" dirty="0"/>
              <a:t>データベースとは？</a:t>
            </a:r>
            <a:endParaRPr kumimoji="1" lang="ja-JP" altLang="en-US" dirty="0"/>
          </a:p>
        </p:txBody>
      </p:sp>
      <p:sp>
        <p:nvSpPr>
          <p:cNvPr id="3" name="スライド番号プレースホルダー 2">
            <a:extLst>
              <a:ext uri="{FF2B5EF4-FFF2-40B4-BE49-F238E27FC236}">
                <a16:creationId xmlns:a16="http://schemas.microsoft.com/office/drawing/2014/main" id="{EE4B5962-98FC-FC83-82A3-068C31C438C8}"/>
              </a:ext>
            </a:extLst>
          </p:cNvPr>
          <p:cNvSpPr>
            <a:spLocks noGrp="1"/>
          </p:cNvSpPr>
          <p:nvPr>
            <p:ph type="sldNum" sz="quarter" idx="12"/>
          </p:nvPr>
        </p:nvSpPr>
        <p:spPr/>
        <p:txBody>
          <a:bodyPr/>
          <a:lstStyle/>
          <a:p>
            <a:fld id="{0BDC6CC0-337C-4DEC-BAED-08CE4EABF7AC}" type="slidenum">
              <a:rPr lang="ja-JP" altLang="en-US" smtClean="0"/>
              <a:pPr/>
              <a:t>3</a:t>
            </a:fld>
            <a:endParaRPr lang="ja-JP" altLang="en-US" dirty="0"/>
          </a:p>
        </p:txBody>
      </p:sp>
      <p:sp>
        <p:nvSpPr>
          <p:cNvPr id="4" name="テキスト ボックス 3">
            <a:extLst>
              <a:ext uri="{FF2B5EF4-FFF2-40B4-BE49-F238E27FC236}">
                <a16:creationId xmlns:a16="http://schemas.microsoft.com/office/drawing/2014/main" id="{101E0CF3-A167-E647-4214-CE60AA90FAE5}"/>
              </a:ext>
            </a:extLst>
          </p:cNvPr>
          <p:cNvSpPr txBox="1"/>
          <p:nvPr/>
        </p:nvSpPr>
        <p:spPr>
          <a:xfrm>
            <a:off x="112541" y="576001"/>
            <a:ext cx="9636369" cy="307777"/>
          </a:xfrm>
          <a:prstGeom prst="rect">
            <a:avLst/>
          </a:prstGeom>
          <a:noFill/>
        </p:spPr>
        <p:txBody>
          <a:bodyPr wrap="square" rtlCol="0">
            <a:spAutoFit/>
          </a:bodyPr>
          <a:lstStyle/>
          <a:p>
            <a:r>
              <a:rPr lang="en-US" altLang="ja-JP" sz="1400" u="sng" dirty="0">
                <a:latin typeface="メイリオ" panose="020B0604030504040204" pitchFamily="50" charset="-128"/>
                <a:ea typeface="メイリオ" panose="020B0604030504040204" pitchFamily="50" charset="-128"/>
                <a:cs typeface="メイリオ" panose="020B0604030504040204" pitchFamily="50" charset="-128"/>
              </a:rPr>
              <a:t>1-3. </a:t>
            </a:r>
            <a:r>
              <a:rPr lang="ja-JP" altLang="en-US" sz="1400" u="sng" dirty="0">
                <a:latin typeface="メイリオ" panose="020B0604030504040204" pitchFamily="50" charset="-128"/>
                <a:ea typeface="メイリオ" panose="020B0604030504040204" pitchFamily="50" charset="-128"/>
                <a:cs typeface="メイリオ" panose="020B0604030504040204" pitchFamily="50" charset="-128"/>
              </a:rPr>
              <a:t>データベースの種類</a:t>
            </a:r>
            <a:endParaRPr lang="en-US" altLang="ja-JP" sz="1400" u="sng"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5" name="テキスト ボックス 4">
            <a:extLst>
              <a:ext uri="{FF2B5EF4-FFF2-40B4-BE49-F238E27FC236}">
                <a16:creationId xmlns:a16="http://schemas.microsoft.com/office/drawing/2014/main" id="{DB7C2F65-B6BF-6BA7-5E67-36804FA2C5A9}"/>
              </a:ext>
            </a:extLst>
          </p:cNvPr>
          <p:cNvSpPr txBox="1"/>
          <p:nvPr/>
        </p:nvSpPr>
        <p:spPr>
          <a:xfrm>
            <a:off x="112541" y="953339"/>
            <a:ext cx="9636369" cy="1077218"/>
          </a:xfrm>
          <a:prstGeom prst="rect">
            <a:avLst/>
          </a:prstGeom>
          <a:noFill/>
        </p:spPr>
        <p:txBody>
          <a:bodyPr wrap="square" rtlCol="0">
            <a:spAutoFit/>
          </a:bodyPr>
          <a:lstStyle/>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階層型データベース</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a:t>
            </a: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階層型データベースとは、データを階層的な構造で保存するデータベースで、</a:t>
            </a:r>
            <a:r>
              <a:rPr lang="ja-JP" altLang="en-US" sz="1400" b="1" u="sng"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一対多のデータを効率よく管理</a:t>
            </a:r>
            <a:endParaRPr lang="en-US" altLang="ja-JP" sz="1400" b="1" u="sng"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a:t>
            </a:r>
            <a:r>
              <a:rPr lang="ja-JP" altLang="en-US" sz="1400" b="1" u="sng"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することができる</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endParaRPr lang="en-US" altLang="ja-JP" sz="8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例</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a:t>
            </a:r>
            <a:endParaRPr lang="ja-JP" altLang="en-US" sz="1400" dirty="0">
              <a:latin typeface="メイリオ" panose="020B0604030504040204" pitchFamily="50" charset="-128"/>
              <a:ea typeface="メイリオ" panose="020B0604030504040204" pitchFamily="50" charset="-128"/>
              <a:cs typeface="メイリオ" panose="020B0604030504040204" pitchFamily="50" charset="-128"/>
            </a:endParaRPr>
          </a:p>
        </p:txBody>
      </p:sp>
      <p:graphicFrame>
        <p:nvGraphicFramePr>
          <p:cNvPr id="6" name="表 5">
            <a:extLst>
              <a:ext uri="{FF2B5EF4-FFF2-40B4-BE49-F238E27FC236}">
                <a16:creationId xmlns:a16="http://schemas.microsoft.com/office/drawing/2014/main" id="{15BB518D-72A2-720F-D64D-4BD10CC28EB4}"/>
              </a:ext>
            </a:extLst>
          </p:cNvPr>
          <p:cNvGraphicFramePr>
            <a:graphicFrameLocks noGrp="1"/>
          </p:cNvGraphicFramePr>
          <p:nvPr>
            <p:extLst>
              <p:ext uri="{D42A27DB-BD31-4B8C-83A1-F6EECF244321}">
                <p14:modId xmlns:p14="http://schemas.microsoft.com/office/powerpoint/2010/main" val="2189800490"/>
              </p:ext>
            </p:extLst>
          </p:nvPr>
        </p:nvGraphicFramePr>
        <p:xfrm>
          <a:off x="936000" y="2100118"/>
          <a:ext cx="6604000" cy="1483360"/>
        </p:xfrm>
        <a:graphic>
          <a:graphicData uri="http://schemas.openxmlformats.org/drawingml/2006/table">
            <a:tbl>
              <a:tblPr firstRow="1" bandRow="1">
                <a:tableStyleId>{5C22544A-7EE6-4342-B048-85BDC9FD1C3A}</a:tableStyleId>
              </a:tblPr>
              <a:tblGrid>
                <a:gridCol w="1807200">
                  <a:extLst>
                    <a:ext uri="{9D8B030D-6E8A-4147-A177-3AD203B41FA5}">
                      <a16:colId xmlns:a16="http://schemas.microsoft.com/office/drawing/2014/main" val="3471930159"/>
                    </a:ext>
                  </a:extLst>
                </a:gridCol>
                <a:gridCol w="4796800">
                  <a:extLst>
                    <a:ext uri="{9D8B030D-6E8A-4147-A177-3AD203B41FA5}">
                      <a16:colId xmlns:a16="http://schemas.microsoft.com/office/drawing/2014/main" val="435870745"/>
                    </a:ext>
                  </a:extLst>
                </a:gridCol>
              </a:tblGrid>
              <a:tr h="370840">
                <a:tc>
                  <a:txBody>
                    <a:bodyPr/>
                    <a:lstStyle/>
                    <a:p>
                      <a:pPr algn="ctr"/>
                      <a:r>
                        <a:rPr kumimoji="1" lang="ja-JP" altLang="en-US" dirty="0">
                          <a:latin typeface="メイリオ" panose="020B0604030504040204" pitchFamily="50" charset="-128"/>
                          <a:ea typeface="メイリオ" panose="020B0604030504040204" pitchFamily="50" charset="-128"/>
                        </a:rPr>
                        <a:t>部門</a:t>
                      </a:r>
                    </a:p>
                  </a:txBody>
                  <a:tcPr/>
                </a:tc>
                <a:tc>
                  <a:txBody>
                    <a:bodyPr/>
                    <a:lstStyle/>
                    <a:p>
                      <a:pPr algn="ctr"/>
                      <a:r>
                        <a:rPr kumimoji="1" lang="ja-JP" altLang="en-US" dirty="0">
                          <a:latin typeface="メイリオ" panose="020B0604030504040204" pitchFamily="50" charset="-128"/>
                          <a:ea typeface="メイリオ" panose="020B0604030504040204" pitchFamily="50" charset="-128"/>
                        </a:rPr>
                        <a:t>部門の従業員</a:t>
                      </a:r>
                    </a:p>
                  </a:txBody>
                  <a:tcPr/>
                </a:tc>
                <a:extLst>
                  <a:ext uri="{0D108BD9-81ED-4DB2-BD59-A6C34878D82A}">
                    <a16:rowId xmlns:a16="http://schemas.microsoft.com/office/drawing/2014/main" val="312938569"/>
                  </a:ext>
                </a:extLst>
              </a:tr>
              <a:tr h="370840">
                <a:tc>
                  <a:txBody>
                    <a:bodyPr/>
                    <a:lstStyle/>
                    <a:p>
                      <a:r>
                        <a:rPr kumimoji="1" lang="ja-JP" altLang="en-US" dirty="0">
                          <a:latin typeface="メイリオ" panose="020B0604030504040204" pitchFamily="50" charset="-128"/>
                          <a:ea typeface="メイリオ" panose="020B0604030504040204" pitchFamily="50" charset="-128"/>
                        </a:rPr>
                        <a:t>営業部</a:t>
                      </a:r>
                    </a:p>
                  </a:txBody>
                  <a:tcPr/>
                </a:tc>
                <a:tc>
                  <a:txBody>
                    <a:bodyPr/>
                    <a:lstStyle/>
                    <a:p>
                      <a:r>
                        <a:rPr kumimoji="1" lang="ja-JP" altLang="en-US" dirty="0">
                          <a:latin typeface="メイリオ" panose="020B0604030504040204" pitchFamily="50" charset="-128"/>
                          <a:ea typeface="メイリオ" panose="020B0604030504040204" pitchFamily="50" charset="-128"/>
                        </a:rPr>
                        <a:t>山田</a:t>
                      </a:r>
                      <a:r>
                        <a:rPr kumimoji="1" lang="en-US" altLang="ja-JP" dirty="0">
                          <a:latin typeface="メイリオ" panose="020B0604030504040204" pitchFamily="50" charset="-128"/>
                          <a:ea typeface="メイリオ" panose="020B0604030504040204" pitchFamily="50" charset="-128"/>
                        </a:rPr>
                        <a:t>, </a:t>
                      </a:r>
                      <a:r>
                        <a:rPr kumimoji="1" lang="ja-JP" altLang="en-US" dirty="0">
                          <a:latin typeface="メイリオ" panose="020B0604030504040204" pitchFamily="50" charset="-128"/>
                          <a:ea typeface="メイリオ" panose="020B0604030504040204" pitchFamily="50" charset="-128"/>
                        </a:rPr>
                        <a:t>田中</a:t>
                      </a:r>
                      <a:r>
                        <a:rPr kumimoji="1" lang="en-US" altLang="ja-JP" dirty="0">
                          <a:latin typeface="メイリオ" panose="020B0604030504040204" pitchFamily="50" charset="-128"/>
                          <a:ea typeface="メイリオ" panose="020B0604030504040204" pitchFamily="50" charset="-128"/>
                        </a:rPr>
                        <a:t>, </a:t>
                      </a:r>
                      <a:r>
                        <a:rPr kumimoji="1" lang="ja-JP" altLang="en-US" dirty="0">
                          <a:latin typeface="メイリオ" panose="020B0604030504040204" pitchFamily="50" charset="-128"/>
                          <a:ea typeface="メイリオ" panose="020B0604030504040204" pitchFamily="50" charset="-128"/>
                        </a:rPr>
                        <a:t>佐藤</a:t>
                      </a:r>
                    </a:p>
                  </a:txBody>
                  <a:tcPr/>
                </a:tc>
                <a:extLst>
                  <a:ext uri="{0D108BD9-81ED-4DB2-BD59-A6C34878D82A}">
                    <a16:rowId xmlns:a16="http://schemas.microsoft.com/office/drawing/2014/main" val="275676988"/>
                  </a:ext>
                </a:extLst>
              </a:tr>
              <a:tr h="370840">
                <a:tc>
                  <a:txBody>
                    <a:bodyPr/>
                    <a:lstStyle/>
                    <a:p>
                      <a:r>
                        <a:rPr kumimoji="1" lang="ja-JP" altLang="en-US" dirty="0">
                          <a:latin typeface="メイリオ" panose="020B0604030504040204" pitchFamily="50" charset="-128"/>
                          <a:ea typeface="メイリオ" panose="020B0604030504040204" pitchFamily="50" charset="-128"/>
                        </a:rPr>
                        <a:t>企画部</a:t>
                      </a:r>
                    </a:p>
                  </a:txBody>
                  <a:tcPr/>
                </a:tc>
                <a:tc>
                  <a:txBody>
                    <a:bodyPr/>
                    <a:lstStyle/>
                    <a:p>
                      <a:r>
                        <a:rPr kumimoji="1" lang="ja-JP" altLang="en-US" dirty="0">
                          <a:latin typeface="メイリオ" panose="020B0604030504040204" pitchFamily="50" charset="-128"/>
                          <a:ea typeface="メイリオ" panose="020B0604030504040204" pitchFamily="50" charset="-128"/>
                        </a:rPr>
                        <a:t>伊藤</a:t>
                      </a:r>
                      <a:r>
                        <a:rPr kumimoji="1" lang="en-US" altLang="ja-JP" dirty="0">
                          <a:latin typeface="メイリオ" panose="020B0604030504040204" pitchFamily="50" charset="-128"/>
                          <a:ea typeface="メイリオ" panose="020B0604030504040204" pitchFamily="50" charset="-128"/>
                        </a:rPr>
                        <a:t>, </a:t>
                      </a:r>
                      <a:r>
                        <a:rPr kumimoji="1" lang="ja-JP" altLang="en-US" dirty="0">
                          <a:latin typeface="メイリオ" panose="020B0604030504040204" pitchFamily="50" charset="-128"/>
                          <a:ea typeface="メイリオ" panose="020B0604030504040204" pitchFamily="50" charset="-128"/>
                        </a:rPr>
                        <a:t>渡辺</a:t>
                      </a:r>
                      <a:r>
                        <a:rPr kumimoji="1" lang="en-US" altLang="ja-JP" dirty="0">
                          <a:latin typeface="メイリオ" panose="020B0604030504040204" pitchFamily="50" charset="-128"/>
                          <a:ea typeface="メイリオ" panose="020B0604030504040204" pitchFamily="50" charset="-128"/>
                        </a:rPr>
                        <a:t>, </a:t>
                      </a:r>
                      <a:r>
                        <a:rPr kumimoji="1" lang="ja-JP" altLang="en-US" dirty="0">
                          <a:latin typeface="メイリオ" panose="020B0604030504040204" pitchFamily="50" charset="-128"/>
                          <a:ea typeface="メイリオ" panose="020B0604030504040204" pitchFamily="50" charset="-128"/>
                        </a:rPr>
                        <a:t>鈴木</a:t>
                      </a:r>
                    </a:p>
                  </a:txBody>
                  <a:tcPr/>
                </a:tc>
                <a:extLst>
                  <a:ext uri="{0D108BD9-81ED-4DB2-BD59-A6C34878D82A}">
                    <a16:rowId xmlns:a16="http://schemas.microsoft.com/office/drawing/2014/main" val="1323925798"/>
                  </a:ext>
                </a:extLst>
              </a:tr>
              <a:tr h="370840">
                <a:tc>
                  <a:txBody>
                    <a:bodyPr/>
                    <a:lstStyle/>
                    <a:p>
                      <a:r>
                        <a:rPr kumimoji="1" lang="ja-JP" altLang="en-US" dirty="0">
                          <a:latin typeface="メイリオ" panose="020B0604030504040204" pitchFamily="50" charset="-128"/>
                          <a:ea typeface="メイリオ" panose="020B0604030504040204" pitchFamily="50" charset="-128"/>
                        </a:rPr>
                        <a:t>製造部</a:t>
                      </a:r>
                    </a:p>
                  </a:txBody>
                  <a:tcPr/>
                </a:tc>
                <a:tc>
                  <a:txBody>
                    <a:bodyPr/>
                    <a:lstStyle/>
                    <a:p>
                      <a:r>
                        <a:rPr kumimoji="1" lang="ja-JP" altLang="en-US" dirty="0">
                          <a:latin typeface="メイリオ" panose="020B0604030504040204" pitchFamily="50" charset="-128"/>
                          <a:ea typeface="メイリオ" panose="020B0604030504040204" pitchFamily="50" charset="-128"/>
                        </a:rPr>
                        <a:t>高橋</a:t>
                      </a:r>
                      <a:r>
                        <a:rPr kumimoji="1" lang="en-US" altLang="ja-JP" dirty="0">
                          <a:latin typeface="メイリオ" panose="020B0604030504040204" pitchFamily="50" charset="-128"/>
                          <a:ea typeface="メイリオ" panose="020B0604030504040204" pitchFamily="50" charset="-128"/>
                        </a:rPr>
                        <a:t>, </a:t>
                      </a:r>
                      <a:r>
                        <a:rPr kumimoji="1" lang="ja-JP" altLang="en-US" dirty="0">
                          <a:latin typeface="メイリオ" panose="020B0604030504040204" pitchFamily="50" charset="-128"/>
                          <a:ea typeface="メイリオ" panose="020B0604030504040204" pitchFamily="50" charset="-128"/>
                        </a:rPr>
                        <a:t>佐々木</a:t>
                      </a:r>
                      <a:r>
                        <a:rPr kumimoji="1" lang="en-US" altLang="ja-JP" dirty="0">
                          <a:latin typeface="メイリオ" panose="020B0604030504040204" pitchFamily="50" charset="-128"/>
                          <a:ea typeface="メイリオ" panose="020B0604030504040204" pitchFamily="50" charset="-128"/>
                        </a:rPr>
                        <a:t>, </a:t>
                      </a:r>
                      <a:r>
                        <a:rPr kumimoji="1" lang="ja-JP" altLang="en-US" dirty="0">
                          <a:latin typeface="メイリオ" panose="020B0604030504040204" pitchFamily="50" charset="-128"/>
                          <a:ea typeface="メイリオ" panose="020B0604030504040204" pitchFamily="50" charset="-128"/>
                        </a:rPr>
                        <a:t>斎藤</a:t>
                      </a:r>
                    </a:p>
                  </a:txBody>
                  <a:tcPr/>
                </a:tc>
                <a:extLst>
                  <a:ext uri="{0D108BD9-81ED-4DB2-BD59-A6C34878D82A}">
                    <a16:rowId xmlns:a16="http://schemas.microsoft.com/office/drawing/2014/main" val="3651223382"/>
                  </a:ext>
                </a:extLst>
              </a:tr>
            </a:tbl>
          </a:graphicData>
        </a:graphic>
      </p:graphicFrame>
      <p:sp>
        <p:nvSpPr>
          <p:cNvPr id="7" name="テキスト ボックス 6">
            <a:extLst>
              <a:ext uri="{FF2B5EF4-FFF2-40B4-BE49-F238E27FC236}">
                <a16:creationId xmlns:a16="http://schemas.microsoft.com/office/drawing/2014/main" id="{187429EE-AB8F-1DE4-11FC-BD5FD89B8F19}"/>
              </a:ext>
            </a:extLst>
          </p:cNvPr>
          <p:cNvSpPr txBox="1"/>
          <p:nvPr/>
        </p:nvSpPr>
        <p:spPr>
          <a:xfrm>
            <a:off x="112541" y="3657893"/>
            <a:ext cx="9636369" cy="1077218"/>
          </a:xfrm>
          <a:prstGeom prst="rect">
            <a:avLst/>
          </a:prstGeom>
          <a:noFill/>
        </p:spPr>
        <p:txBody>
          <a:bodyPr wrap="square" rtlCol="0">
            <a:spAutoFit/>
          </a:bodyPr>
          <a:lstStyle/>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ネットワーク型データベース</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a:t>
            </a: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ネットワーク型データベースとは、データ間の関係性を柔軟に管理でき、</a:t>
            </a:r>
            <a:r>
              <a:rPr lang="ja-JP" altLang="en-US" sz="1400" b="1" u="sng"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多対多の関係性を持つデータの管理</a:t>
            </a:r>
            <a:endParaRPr lang="en-US" altLang="ja-JP" sz="1400" b="1" u="sng"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a:t>
            </a:r>
            <a:r>
              <a:rPr lang="ja-JP" altLang="en-US" sz="1400" b="1" u="sng"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に適している</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endParaRPr lang="en-US" altLang="ja-JP" sz="8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例</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a:t>
            </a:r>
            <a:endParaRPr lang="ja-JP" altLang="en-US" sz="1400" dirty="0">
              <a:latin typeface="メイリオ" panose="020B0604030504040204" pitchFamily="50" charset="-128"/>
              <a:ea typeface="メイリオ" panose="020B0604030504040204" pitchFamily="50" charset="-128"/>
              <a:cs typeface="メイリオ" panose="020B0604030504040204" pitchFamily="50" charset="-128"/>
            </a:endParaRPr>
          </a:p>
        </p:txBody>
      </p:sp>
      <p:graphicFrame>
        <p:nvGraphicFramePr>
          <p:cNvPr id="8" name="表 7">
            <a:extLst>
              <a:ext uri="{FF2B5EF4-FFF2-40B4-BE49-F238E27FC236}">
                <a16:creationId xmlns:a16="http://schemas.microsoft.com/office/drawing/2014/main" id="{F466C19D-E9F9-E2D2-B313-39A110DDBB38}"/>
              </a:ext>
            </a:extLst>
          </p:cNvPr>
          <p:cNvGraphicFramePr>
            <a:graphicFrameLocks noGrp="1"/>
          </p:cNvGraphicFramePr>
          <p:nvPr>
            <p:extLst>
              <p:ext uri="{D42A27DB-BD31-4B8C-83A1-F6EECF244321}">
                <p14:modId xmlns:p14="http://schemas.microsoft.com/office/powerpoint/2010/main" val="1093838751"/>
              </p:ext>
            </p:extLst>
          </p:nvPr>
        </p:nvGraphicFramePr>
        <p:xfrm>
          <a:off x="936000" y="4798639"/>
          <a:ext cx="6604000" cy="1483360"/>
        </p:xfrm>
        <a:graphic>
          <a:graphicData uri="http://schemas.openxmlformats.org/drawingml/2006/table">
            <a:tbl>
              <a:tblPr firstRow="1" bandRow="1">
                <a:tableStyleId>{5C22544A-7EE6-4342-B048-85BDC9FD1C3A}</a:tableStyleId>
              </a:tblPr>
              <a:tblGrid>
                <a:gridCol w="1807200">
                  <a:extLst>
                    <a:ext uri="{9D8B030D-6E8A-4147-A177-3AD203B41FA5}">
                      <a16:colId xmlns:a16="http://schemas.microsoft.com/office/drawing/2014/main" val="3471930159"/>
                    </a:ext>
                  </a:extLst>
                </a:gridCol>
                <a:gridCol w="4796800">
                  <a:extLst>
                    <a:ext uri="{9D8B030D-6E8A-4147-A177-3AD203B41FA5}">
                      <a16:colId xmlns:a16="http://schemas.microsoft.com/office/drawing/2014/main" val="435870745"/>
                    </a:ext>
                  </a:extLst>
                </a:gridCol>
              </a:tblGrid>
              <a:tr h="370840">
                <a:tc>
                  <a:txBody>
                    <a:bodyPr/>
                    <a:lstStyle/>
                    <a:p>
                      <a:pPr algn="ctr"/>
                      <a:r>
                        <a:rPr kumimoji="1" lang="ja-JP" altLang="en-US" dirty="0">
                          <a:latin typeface="メイリオ" panose="020B0604030504040204" pitchFamily="50" charset="-128"/>
                          <a:ea typeface="メイリオ" panose="020B0604030504040204" pitchFamily="50" charset="-128"/>
                        </a:rPr>
                        <a:t>従業員</a:t>
                      </a:r>
                    </a:p>
                  </a:txBody>
                  <a:tcPr/>
                </a:tc>
                <a:tc>
                  <a:txBody>
                    <a:bodyPr/>
                    <a:lstStyle/>
                    <a:p>
                      <a:pPr algn="ctr"/>
                      <a:r>
                        <a:rPr kumimoji="1" lang="ja-JP" altLang="en-US" dirty="0">
                          <a:latin typeface="メイリオ" panose="020B0604030504040204" pitchFamily="50" charset="-128"/>
                          <a:ea typeface="メイリオ" panose="020B0604030504040204" pitchFamily="50" charset="-128"/>
                        </a:rPr>
                        <a:t>参加プロジェクト</a:t>
                      </a:r>
                    </a:p>
                  </a:txBody>
                  <a:tcPr/>
                </a:tc>
                <a:extLst>
                  <a:ext uri="{0D108BD9-81ED-4DB2-BD59-A6C34878D82A}">
                    <a16:rowId xmlns:a16="http://schemas.microsoft.com/office/drawing/2014/main" val="312938569"/>
                  </a:ext>
                </a:extLst>
              </a:tr>
              <a:tr h="370840">
                <a:tc>
                  <a:txBody>
                    <a:bodyPr/>
                    <a:lstStyle/>
                    <a:p>
                      <a:r>
                        <a:rPr kumimoji="1" lang="ja-JP" altLang="en-US" dirty="0">
                          <a:latin typeface="メイリオ" panose="020B0604030504040204" pitchFamily="50" charset="-128"/>
                          <a:ea typeface="メイリオ" panose="020B0604030504040204" pitchFamily="50" charset="-128"/>
                        </a:rPr>
                        <a:t>山田</a:t>
                      </a:r>
                    </a:p>
                  </a:txBody>
                  <a:tcPr/>
                </a:tc>
                <a:tc>
                  <a:txBody>
                    <a:bodyPr/>
                    <a:lstStyle/>
                    <a:p>
                      <a:r>
                        <a:rPr kumimoji="1" lang="en-US" altLang="ja-JP" dirty="0">
                          <a:latin typeface="メイリオ" panose="020B0604030504040204" pitchFamily="50" charset="-128"/>
                          <a:ea typeface="メイリオ" panose="020B0604030504040204" pitchFamily="50" charset="-128"/>
                        </a:rPr>
                        <a:t>A</a:t>
                      </a:r>
                      <a:r>
                        <a:rPr kumimoji="1" lang="ja-JP" altLang="en-US" dirty="0">
                          <a:latin typeface="メイリオ" panose="020B0604030504040204" pitchFamily="50" charset="-128"/>
                          <a:ea typeface="メイリオ" panose="020B0604030504040204" pitchFamily="50" charset="-128"/>
                        </a:rPr>
                        <a:t>プロジェクト</a:t>
                      </a:r>
                      <a:r>
                        <a:rPr kumimoji="1" lang="en-US" altLang="ja-JP" dirty="0">
                          <a:latin typeface="メイリオ" panose="020B0604030504040204" pitchFamily="50" charset="-128"/>
                          <a:ea typeface="メイリオ" panose="020B0604030504040204" pitchFamily="50" charset="-128"/>
                        </a:rPr>
                        <a:t>, B</a:t>
                      </a:r>
                      <a:r>
                        <a:rPr kumimoji="1" lang="ja-JP" altLang="en-US" dirty="0">
                          <a:latin typeface="メイリオ" panose="020B0604030504040204" pitchFamily="50" charset="-128"/>
                          <a:ea typeface="メイリオ" panose="020B0604030504040204" pitchFamily="50" charset="-128"/>
                        </a:rPr>
                        <a:t>プロジェクト</a:t>
                      </a:r>
                    </a:p>
                  </a:txBody>
                  <a:tcPr/>
                </a:tc>
                <a:extLst>
                  <a:ext uri="{0D108BD9-81ED-4DB2-BD59-A6C34878D82A}">
                    <a16:rowId xmlns:a16="http://schemas.microsoft.com/office/drawing/2014/main" val="275676988"/>
                  </a:ext>
                </a:extLst>
              </a:tr>
              <a:tr h="370840">
                <a:tc>
                  <a:txBody>
                    <a:bodyPr/>
                    <a:lstStyle/>
                    <a:p>
                      <a:r>
                        <a:rPr kumimoji="1" lang="ja-JP" altLang="en-US" dirty="0">
                          <a:latin typeface="メイリオ" panose="020B0604030504040204" pitchFamily="50" charset="-128"/>
                          <a:ea typeface="メイリオ" panose="020B0604030504040204" pitchFamily="50" charset="-128"/>
                        </a:rPr>
                        <a:t>田中</a:t>
                      </a:r>
                    </a:p>
                  </a:txBody>
                  <a:tcPr/>
                </a:tc>
                <a:tc>
                  <a:txBody>
                    <a:bodyPr/>
                    <a:lstStyle/>
                    <a:p>
                      <a:r>
                        <a:rPr kumimoji="1" lang="en-US" altLang="ja-JP" dirty="0">
                          <a:latin typeface="メイリオ" panose="020B0604030504040204" pitchFamily="50" charset="-128"/>
                          <a:ea typeface="メイリオ" panose="020B0604030504040204" pitchFamily="50" charset="-128"/>
                        </a:rPr>
                        <a:t>A</a:t>
                      </a:r>
                      <a:r>
                        <a:rPr kumimoji="1" lang="ja-JP" altLang="en-US" dirty="0">
                          <a:latin typeface="メイリオ" panose="020B0604030504040204" pitchFamily="50" charset="-128"/>
                          <a:ea typeface="メイリオ" panose="020B0604030504040204" pitchFamily="50" charset="-128"/>
                        </a:rPr>
                        <a:t>プロジェクト</a:t>
                      </a:r>
                      <a:r>
                        <a:rPr kumimoji="1" lang="en-US" altLang="ja-JP" dirty="0">
                          <a:latin typeface="メイリオ" panose="020B0604030504040204" pitchFamily="50" charset="-128"/>
                          <a:ea typeface="メイリオ" panose="020B0604030504040204" pitchFamily="50" charset="-128"/>
                        </a:rPr>
                        <a:t>, C</a:t>
                      </a:r>
                      <a:r>
                        <a:rPr kumimoji="1" lang="ja-JP" altLang="en-US" dirty="0">
                          <a:latin typeface="メイリオ" panose="020B0604030504040204" pitchFamily="50" charset="-128"/>
                          <a:ea typeface="メイリオ" panose="020B0604030504040204" pitchFamily="50" charset="-128"/>
                        </a:rPr>
                        <a:t>プロジェクト</a:t>
                      </a:r>
                    </a:p>
                  </a:txBody>
                  <a:tcPr/>
                </a:tc>
                <a:extLst>
                  <a:ext uri="{0D108BD9-81ED-4DB2-BD59-A6C34878D82A}">
                    <a16:rowId xmlns:a16="http://schemas.microsoft.com/office/drawing/2014/main" val="1323925798"/>
                  </a:ext>
                </a:extLst>
              </a:tr>
              <a:tr h="370840">
                <a:tc>
                  <a:txBody>
                    <a:bodyPr/>
                    <a:lstStyle/>
                    <a:p>
                      <a:r>
                        <a:rPr kumimoji="1" lang="ja-JP" altLang="en-US" dirty="0">
                          <a:latin typeface="メイリオ" panose="020B0604030504040204" pitchFamily="50" charset="-128"/>
                          <a:ea typeface="メイリオ" panose="020B0604030504040204" pitchFamily="50" charset="-128"/>
                        </a:rPr>
                        <a:t>佐藤</a:t>
                      </a:r>
                    </a:p>
                  </a:txBody>
                  <a:tcPr/>
                </a:tc>
                <a:tc>
                  <a:txBody>
                    <a:bodyPr/>
                    <a:lstStyle/>
                    <a:p>
                      <a:r>
                        <a:rPr kumimoji="1" lang="en-US" altLang="ja-JP" dirty="0">
                          <a:latin typeface="メイリオ" panose="020B0604030504040204" pitchFamily="50" charset="-128"/>
                          <a:ea typeface="メイリオ" panose="020B0604030504040204" pitchFamily="50" charset="-128"/>
                        </a:rPr>
                        <a:t>B</a:t>
                      </a:r>
                      <a:r>
                        <a:rPr kumimoji="1" lang="ja-JP" altLang="en-US" dirty="0">
                          <a:latin typeface="メイリオ" panose="020B0604030504040204" pitchFamily="50" charset="-128"/>
                          <a:ea typeface="メイリオ" panose="020B0604030504040204" pitchFamily="50" charset="-128"/>
                        </a:rPr>
                        <a:t>プロジェクト</a:t>
                      </a:r>
                      <a:r>
                        <a:rPr kumimoji="1" lang="en-US" altLang="ja-JP" dirty="0">
                          <a:latin typeface="メイリオ" panose="020B0604030504040204" pitchFamily="50" charset="-128"/>
                          <a:ea typeface="メイリオ" panose="020B0604030504040204" pitchFamily="50" charset="-128"/>
                        </a:rPr>
                        <a:t>, D</a:t>
                      </a:r>
                      <a:r>
                        <a:rPr kumimoji="1" lang="ja-JP" altLang="en-US" dirty="0">
                          <a:latin typeface="メイリオ" panose="020B0604030504040204" pitchFamily="50" charset="-128"/>
                          <a:ea typeface="メイリオ" panose="020B0604030504040204" pitchFamily="50" charset="-128"/>
                        </a:rPr>
                        <a:t>プロジェクト</a:t>
                      </a:r>
                    </a:p>
                  </a:txBody>
                  <a:tcPr/>
                </a:tc>
                <a:extLst>
                  <a:ext uri="{0D108BD9-81ED-4DB2-BD59-A6C34878D82A}">
                    <a16:rowId xmlns:a16="http://schemas.microsoft.com/office/drawing/2014/main" val="3651223382"/>
                  </a:ext>
                </a:extLst>
              </a:tr>
            </a:tbl>
          </a:graphicData>
        </a:graphic>
      </p:graphicFrame>
    </p:spTree>
    <p:extLst>
      <p:ext uri="{BB962C8B-B14F-4D97-AF65-F5344CB8AC3E}">
        <p14:creationId xmlns:p14="http://schemas.microsoft.com/office/powerpoint/2010/main" val="586726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4821C4-E89E-D1D9-17E3-52122EF9150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86617C8-BE64-DBE4-F1A9-072FFBB82D59}"/>
              </a:ext>
            </a:extLst>
          </p:cNvPr>
          <p:cNvSpPr>
            <a:spLocks noGrp="1"/>
          </p:cNvSpPr>
          <p:nvPr>
            <p:ph type="title"/>
          </p:nvPr>
        </p:nvSpPr>
        <p:spPr/>
        <p:txBody>
          <a:bodyPr/>
          <a:lstStyle/>
          <a:p>
            <a:r>
              <a:rPr lang="en-US" altLang="ja-JP" dirty="0"/>
              <a:t>1. </a:t>
            </a:r>
            <a:r>
              <a:rPr lang="ja-JP" altLang="en-US" dirty="0"/>
              <a:t>データベースとは？</a:t>
            </a:r>
            <a:endParaRPr kumimoji="1" lang="ja-JP" altLang="en-US" dirty="0"/>
          </a:p>
        </p:txBody>
      </p:sp>
      <p:sp>
        <p:nvSpPr>
          <p:cNvPr id="3" name="スライド番号プレースホルダー 2">
            <a:extLst>
              <a:ext uri="{FF2B5EF4-FFF2-40B4-BE49-F238E27FC236}">
                <a16:creationId xmlns:a16="http://schemas.microsoft.com/office/drawing/2014/main" id="{9F192BE1-8CD4-6B65-641D-401E0E010EEE}"/>
              </a:ext>
            </a:extLst>
          </p:cNvPr>
          <p:cNvSpPr>
            <a:spLocks noGrp="1"/>
          </p:cNvSpPr>
          <p:nvPr>
            <p:ph type="sldNum" sz="quarter" idx="12"/>
          </p:nvPr>
        </p:nvSpPr>
        <p:spPr/>
        <p:txBody>
          <a:bodyPr/>
          <a:lstStyle/>
          <a:p>
            <a:fld id="{0BDC6CC0-337C-4DEC-BAED-08CE4EABF7AC}" type="slidenum">
              <a:rPr lang="ja-JP" altLang="en-US" smtClean="0"/>
              <a:pPr/>
              <a:t>4</a:t>
            </a:fld>
            <a:endParaRPr lang="ja-JP" altLang="en-US" dirty="0"/>
          </a:p>
        </p:txBody>
      </p:sp>
      <p:sp>
        <p:nvSpPr>
          <p:cNvPr id="4" name="テキスト ボックス 3">
            <a:extLst>
              <a:ext uri="{FF2B5EF4-FFF2-40B4-BE49-F238E27FC236}">
                <a16:creationId xmlns:a16="http://schemas.microsoft.com/office/drawing/2014/main" id="{7DE16F1D-368A-4728-CC87-8AC8DB152B28}"/>
              </a:ext>
            </a:extLst>
          </p:cNvPr>
          <p:cNvSpPr txBox="1"/>
          <p:nvPr/>
        </p:nvSpPr>
        <p:spPr>
          <a:xfrm>
            <a:off x="112541" y="576001"/>
            <a:ext cx="9636369" cy="307777"/>
          </a:xfrm>
          <a:prstGeom prst="rect">
            <a:avLst/>
          </a:prstGeom>
          <a:noFill/>
        </p:spPr>
        <p:txBody>
          <a:bodyPr wrap="square" rtlCol="0">
            <a:spAutoFit/>
          </a:bodyPr>
          <a:lstStyle/>
          <a:p>
            <a:r>
              <a:rPr lang="en-US" altLang="ja-JP" sz="1400" u="sng" dirty="0">
                <a:latin typeface="メイリオ" panose="020B0604030504040204" pitchFamily="50" charset="-128"/>
                <a:ea typeface="メイリオ" panose="020B0604030504040204" pitchFamily="50" charset="-128"/>
                <a:cs typeface="メイリオ" panose="020B0604030504040204" pitchFamily="50" charset="-128"/>
              </a:rPr>
              <a:t>1-3. </a:t>
            </a:r>
            <a:r>
              <a:rPr lang="ja-JP" altLang="en-US" sz="1400" u="sng" dirty="0">
                <a:latin typeface="メイリオ" panose="020B0604030504040204" pitchFamily="50" charset="-128"/>
                <a:ea typeface="メイリオ" panose="020B0604030504040204" pitchFamily="50" charset="-128"/>
                <a:cs typeface="メイリオ" panose="020B0604030504040204" pitchFamily="50" charset="-128"/>
              </a:rPr>
              <a:t>データベースの種類</a:t>
            </a:r>
            <a:endParaRPr lang="en-US" altLang="ja-JP" sz="1400" u="sng"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5" name="テキスト ボックス 4">
            <a:extLst>
              <a:ext uri="{FF2B5EF4-FFF2-40B4-BE49-F238E27FC236}">
                <a16:creationId xmlns:a16="http://schemas.microsoft.com/office/drawing/2014/main" id="{FCE9A573-C1AA-3280-B7C1-018BAA4D8A3F}"/>
              </a:ext>
            </a:extLst>
          </p:cNvPr>
          <p:cNvSpPr txBox="1"/>
          <p:nvPr/>
        </p:nvSpPr>
        <p:spPr>
          <a:xfrm>
            <a:off x="112541" y="953339"/>
            <a:ext cx="9636369" cy="1077218"/>
          </a:xfrm>
          <a:prstGeom prst="rect">
            <a:avLst/>
          </a:prstGeom>
          <a:noFill/>
        </p:spPr>
        <p:txBody>
          <a:bodyPr wrap="square" rtlCol="0">
            <a:spAutoFit/>
          </a:bodyPr>
          <a:lstStyle/>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リレーショナルデータベース</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a:t>
            </a: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リレーショナルデータベースとは、様々なデータを複数の表形式で管理し、</a:t>
            </a:r>
            <a:r>
              <a:rPr lang="ja-JP" altLang="en-US" sz="1400" b="1" u="sng"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一対多・多対多に関係なく柔軟に</a:t>
            </a:r>
            <a:endParaRPr lang="en-US" altLang="ja-JP" sz="1400" b="1" u="sng"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a:t>
            </a:r>
            <a:r>
              <a:rPr lang="ja-JP" altLang="en-US" sz="1400" b="1" u="sng"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データを管理することができる</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endParaRPr lang="en-US" altLang="ja-JP" sz="8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例</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a:t>
            </a:r>
            <a:endParaRPr lang="ja-JP" altLang="en-US" sz="1400" dirty="0">
              <a:latin typeface="メイリオ" panose="020B0604030504040204" pitchFamily="50" charset="-128"/>
              <a:ea typeface="メイリオ" panose="020B0604030504040204" pitchFamily="50" charset="-128"/>
              <a:cs typeface="メイリオ" panose="020B0604030504040204" pitchFamily="50" charset="-128"/>
            </a:endParaRPr>
          </a:p>
        </p:txBody>
      </p:sp>
      <p:graphicFrame>
        <p:nvGraphicFramePr>
          <p:cNvPr id="6" name="表 5">
            <a:extLst>
              <a:ext uri="{FF2B5EF4-FFF2-40B4-BE49-F238E27FC236}">
                <a16:creationId xmlns:a16="http://schemas.microsoft.com/office/drawing/2014/main" id="{FFD9167B-AB59-229C-D2E0-ABC367D73FD6}"/>
              </a:ext>
            </a:extLst>
          </p:cNvPr>
          <p:cNvGraphicFramePr>
            <a:graphicFrameLocks noGrp="1"/>
          </p:cNvGraphicFramePr>
          <p:nvPr>
            <p:extLst>
              <p:ext uri="{D42A27DB-BD31-4B8C-83A1-F6EECF244321}">
                <p14:modId xmlns:p14="http://schemas.microsoft.com/office/powerpoint/2010/main" val="2829018308"/>
              </p:ext>
            </p:extLst>
          </p:nvPr>
        </p:nvGraphicFramePr>
        <p:xfrm>
          <a:off x="936000" y="2100118"/>
          <a:ext cx="4392000" cy="1483200"/>
        </p:xfrm>
        <a:graphic>
          <a:graphicData uri="http://schemas.openxmlformats.org/drawingml/2006/table">
            <a:tbl>
              <a:tblPr firstRow="1" bandRow="1">
                <a:tableStyleId>{5C22544A-7EE6-4342-B048-85BDC9FD1C3A}</a:tableStyleId>
              </a:tblPr>
              <a:tblGrid>
                <a:gridCol w="1296000">
                  <a:extLst>
                    <a:ext uri="{9D8B030D-6E8A-4147-A177-3AD203B41FA5}">
                      <a16:colId xmlns:a16="http://schemas.microsoft.com/office/drawing/2014/main" val="3471930159"/>
                    </a:ext>
                  </a:extLst>
                </a:gridCol>
                <a:gridCol w="1800000">
                  <a:extLst>
                    <a:ext uri="{9D8B030D-6E8A-4147-A177-3AD203B41FA5}">
                      <a16:colId xmlns:a16="http://schemas.microsoft.com/office/drawing/2014/main" val="435870745"/>
                    </a:ext>
                  </a:extLst>
                </a:gridCol>
                <a:gridCol w="1296000">
                  <a:extLst>
                    <a:ext uri="{9D8B030D-6E8A-4147-A177-3AD203B41FA5}">
                      <a16:colId xmlns:a16="http://schemas.microsoft.com/office/drawing/2014/main" val="301384897"/>
                    </a:ext>
                  </a:extLst>
                </a:gridCol>
              </a:tblGrid>
              <a:tr h="370800">
                <a:tc>
                  <a:txBody>
                    <a:bodyPr/>
                    <a:lstStyle/>
                    <a:p>
                      <a:pPr algn="ctr"/>
                      <a:r>
                        <a:rPr kumimoji="1" lang="ja-JP" altLang="en-US" dirty="0">
                          <a:latin typeface="メイリオ" panose="020B0604030504040204" pitchFamily="50" charset="-128"/>
                          <a:ea typeface="メイリオ" panose="020B0604030504040204" pitchFamily="50" charset="-128"/>
                        </a:rPr>
                        <a:t>学生</a:t>
                      </a:r>
                      <a:r>
                        <a:rPr kumimoji="1" lang="en-US" altLang="ja-JP" dirty="0">
                          <a:latin typeface="メイリオ" panose="020B0604030504040204" pitchFamily="50" charset="-128"/>
                          <a:ea typeface="メイリオ" panose="020B0604030504040204" pitchFamily="50" charset="-128"/>
                        </a:rPr>
                        <a:t>ID</a:t>
                      </a:r>
                      <a:endParaRPr kumimoji="1" lang="ja-JP" altLang="en-US" dirty="0">
                        <a:latin typeface="メイリオ" panose="020B0604030504040204" pitchFamily="50" charset="-128"/>
                        <a:ea typeface="メイリオ" panose="020B0604030504040204" pitchFamily="50" charset="-128"/>
                      </a:endParaRPr>
                    </a:p>
                  </a:txBody>
                  <a:tcPr/>
                </a:tc>
                <a:tc>
                  <a:txBody>
                    <a:bodyPr/>
                    <a:lstStyle/>
                    <a:p>
                      <a:pPr algn="ctr"/>
                      <a:r>
                        <a:rPr kumimoji="1" lang="ja-JP" altLang="en-US" dirty="0">
                          <a:latin typeface="メイリオ" panose="020B0604030504040204" pitchFamily="50" charset="-128"/>
                          <a:ea typeface="メイリオ" panose="020B0604030504040204" pitchFamily="50" charset="-128"/>
                        </a:rPr>
                        <a:t>氏名</a:t>
                      </a:r>
                    </a:p>
                  </a:txBody>
                  <a:tcPr/>
                </a:tc>
                <a:tc>
                  <a:txBody>
                    <a:bodyPr/>
                    <a:lstStyle/>
                    <a:p>
                      <a:pPr algn="ctr"/>
                      <a:r>
                        <a:rPr kumimoji="1" lang="ja-JP" altLang="en-US" dirty="0">
                          <a:latin typeface="メイリオ" panose="020B0604030504040204" pitchFamily="50" charset="-128"/>
                          <a:ea typeface="メイリオ" panose="020B0604030504040204" pitchFamily="50" charset="-128"/>
                        </a:rPr>
                        <a:t>学部</a:t>
                      </a:r>
                      <a:r>
                        <a:rPr kumimoji="1" lang="en-US" altLang="ja-JP" dirty="0">
                          <a:latin typeface="メイリオ" panose="020B0604030504040204" pitchFamily="50" charset="-128"/>
                          <a:ea typeface="メイリオ" panose="020B0604030504040204" pitchFamily="50" charset="-128"/>
                        </a:rPr>
                        <a:t>ID</a:t>
                      </a:r>
                      <a:endParaRPr kumimoji="1" lang="ja-JP" altLang="en-US" dirty="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312938569"/>
                  </a:ext>
                </a:extLst>
              </a:tr>
              <a:tr h="370800">
                <a:tc>
                  <a:txBody>
                    <a:bodyPr/>
                    <a:lstStyle/>
                    <a:p>
                      <a:r>
                        <a:rPr kumimoji="1" lang="en-US" altLang="ja-JP" dirty="0">
                          <a:latin typeface="メイリオ" panose="020B0604030504040204" pitchFamily="50" charset="-128"/>
                          <a:ea typeface="メイリオ" panose="020B0604030504040204" pitchFamily="50" charset="-128"/>
                        </a:rPr>
                        <a:t>001</a:t>
                      </a:r>
                      <a:endParaRPr kumimoji="1" lang="ja-JP" altLang="en-US" dirty="0">
                        <a:latin typeface="メイリオ" panose="020B0604030504040204" pitchFamily="50" charset="-128"/>
                        <a:ea typeface="メイリオ" panose="020B0604030504040204" pitchFamily="50" charset="-128"/>
                      </a:endParaRPr>
                    </a:p>
                  </a:txBody>
                  <a:tcPr/>
                </a:tc>
                <a:tc>
                  <a:txBody>
                    <a:bodyPr/>
                    <a:lstStyle/>
                    <a:p>
                      <a:r>
                        <a:rPr kumimoji="1" lang="ja-JP" altLang="en-US" dirty="0">
                          <a:latin typeface="メイリオ" panose="020B0604030504040204" pitchFamily="50" charset="-128"/>
                          <a:ea typeface="メイリオ" panose="020B0604030504040204" pitchFamily="50" charset="-128"/>
                        </a:rPr>
                        <a:t>田中</a:t>
                      </a:r>
                    </a:p>
                  </a:txBody>
                  <a:tcPr/>
                </a:tc>
                <a:tc>
                  <a:txBody>
                    <a:bodyPr/>
                    <a:lstStyle/>
                    <a:p>
                      <a:r>
                        <a:rPr kumimoji="1" lang="en-US" altLang="ja-JP" dirty="0">
                          <a:latin typeface="メイリオ" panose="020B0604030504040204" pitchFamily="50" charset="-128"/>
                          <a:ea typeface="メイリオ" panose="020B0604030504040204" pitchFamily="50" charset="-128"/>
                        </a:rPr>
                        <a:t>01</a:t>
                      </a:r>
                      <a:endParaRPr kumimoji="1" lang="ja-JP" altLang="en-US" dirty="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275676988"/>
                  </a:ext>
                </a:extLst>
              </a:tr>
              <a:tr h="370800">
                <a:tc>
                  <a:txBody>
                    <a:bodyPr/>
                    <a:lstStyle/>
                    <a:p>
                      <a:r>
                        <a:rPr kumimoji="1" lang="en-US" altLang="ja-JP" dirty="0">
                          <a:latin typeface="メイリオ" panose="020B0604030504040204" pitchFamily="50" charset="-128"/>
                          <a:ea typeface="メイリオ" panose="020B0604030504040204" pitchFamily="50" charset="-128"/>
                        </a:rPr>
                        <a:t>002</a:t>
                      </a:r>
                      <a:endParaRPr kumimoji="1" lang="ja-JP" altLang="en-US" dirty="0">
                        <a:latin typeface="メイリオ" panose="020B0604030504040204" pitchFamily="50" charset="-128"/>
                        <a:ea typeface="メイリオ" panose="020B0604030504040204" pitchFamily="50" charset="-128"/>
                      </a:endParaRPr>
                    </a:p>
                  </a:txBody>
                  <a:tcPr/>
                </a:tc>
                <a:tc>
                  <a:txBody>
                    <a:bodyPr/>
                    <a:lstStyle/>
                    <a:p>
                      <a:r>
                        <a:rPr kumimoji="1" lang="ja-JP" altLang="en-US" dirty="0">
                          <a:latin typeface="メイリオ" panose="020B0604030504040204" pitchFamily="50" charset="-128"/>
                          <a:ea typeface="メイリオ" panose="020B0604030504040204" pitchFamily="50" charset="-128"/>
                        </a:rPr>
                        <a:t>山田</a:t>
                      </a:r>
                    </a:p>
                  </a:txBody>
                  <a:tcPr/>
                </a:tc>
                <a:tc>
                  <a:txBody>
                    <a:bodyPr/>
                    <a:lstStyle/>
                    <a:p>
                      <a:r>
                        <a:rPr kumimoji="1" lang="en-US" altLang="ja-JP" dirty="0">
                          <a:latin typeface="メイリオ" panose="020B0604030504040204" pitchFamily="50" charset="-128"/>
                          <a:ea typeface="メイリオ" panose="020B0604030504040204" pitchFamily="50" charset="-128"/>
                        </a:rPr>
                        <a:t>02</a:t>
                      </a:r>
                      <a:endParaRPr kumimoji="1" lang="ja-JP" altLang="en-US" dirty="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1323925798"/>
                  </a:ext>
                </a:extLst>
              </a:tr>
              <a:tr h="370800">
                <a:tc>
                  <a:txBody>
                    <a:bodyPr/>
                    <a:lstStyle/>
                    <a:p>
                      <a:r>
                        <a:rPr kumimoji="1" lang="en-US" altLang="ja-JP" dirty="0">
                          <a:latin typeface="メイリオ" panose="020B0604030504040204" pitchFamily="50" charset="-128"/>
                          <a:ea typeface="メイリオ" panose="020B0604030504040204" pitchFamily="50" charset="-128"/>
                        </a:rPr>
                        <a:t>003</a:t>
                      </a:r>
                      <a:endParaRPr kumimoji="1" lang="ja-JP" altLang="en-US" dirty="0">
                        <a:latin typeface="メイリオ" panose="020B0604030504040204" pitchFamily="50" charset="-128"/>
                        <a:ea typeface="メイリオ" panose="020B0604030504040204" pitchFamily="50" charset="-128"/>
                      </a:endParaRPr>
                    </a:p>
                  </a:txBody>
                  <a:tcPr/>
                </a:tc>
                <a:tc>
                  <a:txBody>
                    <a:bodyPr/>
                    <a:lstStyle/>
                    <a:p>
                      <a:r>
                        <a:rPr kumimoji="1" lang="ja-JP" altLang="en-US" dirty="0">
                          <a:latin typeface="メイリオ" panose="020B0604030504040204" pitchFamily="50" charset="-128"/>
                          <a:ea typeface="メイリオ" panose="020B0604030504040204" pitchFamily="50" charset="-128"/>
                        </a:rPr>
                        <a:t>佐藤</a:t>
                      </a:r>
                    </a:p>
                  </a:txBody>
                  <a:tcPr/>
                </a:tc>
                <a:tc>
                  <a:txBody>
                    <a:bodyPr/>
                    <a:lstStyle/>
                    <a:p>
                      <a:r>
                        <a:rPr kumimoji="1" lang="en-US" altLang="ja-JP" dirty="0">
                          <a:latin typeface="メイリオ" panose="020B0604030504040204" pitchFamily="50" charset="-128"/>
                          <a:ea typeface="メイリオ" panose="020B0604030504040204" pitchFamily="50" charset="-128"/>
                        </a:rPr>
                        <a:t>03</a:t>
                      </a:r>
                      <a:endParaRPr kumimoji="1" lang="ja-JP" altLang="en-US" dirty="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3651223382"/>
                  </a:ext>
                </a:extLst>
              </a:tr>
            </a:tbl>
          </a:graphicData>
        </a:graphic>
      </p:graphicFrame>
      <p:sp>
        <p:nvSpPr>
          <p:cNvPr id="7" name="テキスト ボックス 6">
            <a:extLst>
              <a:ext uri="{FF2B5EF4-FFF2-40B4-BE49-F238E27FC236}">
                <a16:creationId xmlns:a16="http://schemas.microsoft.com/office/drawing/2014/main" id="{3806F745-845F-0259-547D-B4F5D8CE028C}"/>
              </a:ext>
            </a:extLst>
          </p:cNvPr>
          <p:cNvSpPr txBox="1"/>
          <p:nvPr/>
        </p:nvSpPr>
        <p:spPr>
          <a:xfrm>
            <a:off x="112541" y="3652879"/>
            <a:ext cx="9636369" cy="738664"/>
          </a:xfrm>
          <a:prstGeom prst="rect">
            <a:avLst/>
          </a:prstGeom>
          <a:noFill/>
        </p:spPr>
        <p:txBody>
          <a:bodyPr wrap="square" rtlCol="0">
            <a:spAutoFit/>
          </a:bodyPr>
          <a:lstStyle/>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我々が業務で使用しているデータベースは、「リレーショナルデータベース」であり、一般的に「リレーショナル</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データベース」システムを</a:t>
            </a:r>
            <a:r>
              <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RDBMS(Relational Database Management System)</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と言う。</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以降は、リレーショナルデータベースについて、説明する。</a:t>
            </a:r>
          </a:p>
        </p:txBody>
      </p:sp>
      <p:graphicFrame>
        <p:nvGraphicFramePr>
          <p:cNvPr id="9" name="表 8">
            <a:extLst>
              <a:ext uri="{FF2B5EF4-FFF2-40B4-BE49-F238E27FC236}">
                <a16:creationId xmlns:a16="http://schemas.microsoft.com/office/drawing/2014/main" id="{741812FE-6394-33CC-1BC9-C6F19CFD5ADB}"/>
              </a:ext>
            </a:extLst>
          </p:cNvPr>
          <p:cNvGraphicFramePr>
            <a:graphicFrameLocks noGrp="1"/>
          </p:cNvGraphicFramePr>
          <p:nvPr>
            <p:extLst>
              <p:ext uri="{D42A27DB-BD31-4B8C-83A1-F6EECF244321}">
                <p14:modId xmlns:p14="http://schemas.microsoft.com/office/powerpoint/2010/main" val="4135293885"/>
              </p:ext>
            </p:extLst>
          </p:nvPr>
        </p:nvGraphicFramePr>
        <p:xfrm>
          <a:off x="5629920" y="2100118"/>
          <a:ext cx="3096000" cy="1483200"/>
        </p:xfrm>
        <a:graphic>
          <a:graphicData uri="http://schemas.openxmlformats.org/drawingml/2006/table">
            <a:tbl>
              <a:tblPr firstRow="1" bandRow="1">
                <a:tableStyleId>{5C22544A-7EE6-4342-B048-85BDC9FD1C3A}</a:tableStyleId>
              </a:tblPr>
              <a:tblGrid>
                <a:gridCol w="1296000">
                  <a:extLst>
                    <a:ext uri="{9D8B030D-6E8A-4147-A177-3AD203B41FA5}">
                      <a16:colId xmlns:a16="http://schemas.microsoft.com/office/drawing/2014/main" val="3471930159"/>
                    </a:ext>
                  </a:extLst>
                </a:gridCol>
                <a:gridCol w="1800000">
                  <a:extLst>
                    <a:ext uri="{9D8B030D-6E8A-4147-A177-3AD203B41FA5}">
                      <a16:colId xmlns:a16="http://schemas.microsoft.com/office/drawing/2014/main" val="435870745"/>
                    </a:ext>
                  </a:extLst>
                </a:gridCol>
              </a:tblGrid>
              <a:tr h="370800">
                <a:tc>
                  <a:txBody>
                    <a:bodyPr/>
                    <a:lstStyle/>
                    <a:p>
                      <a:pPr algn="ctr"/>
                      <a:r>
                        <a:rPr kumimoji="1" lang="ja-JP" altLang="en-US" dirty="0">
                          <a:latin typeface="メイリオ" panose="020B0604030504040204" pitchFamily="50" charset="-128"/>
                          <a:ea typeface="メイリオ" panose="020B0604030504040204" pitchFamily="50" charset="-128"/>
                        </a:rPr>
                        <a:t>学部</a:t>
                      </a:r>
                      <a:r>
                        <a:rPr kumimoji="1" lang="en-US" altLang="ja-JP" dirty="0">
                          <a:latin typeface="メイリオ" panose="020B0604030504040204" pitchFamily="50" charset="-128"/>
                          <a:ea typeface="メイリオ" panose="020B0604030504040204" pitchFamily="50" charset="-128"/>
                        </a:rPr>
                        <a:t>ID</a:t>
                      </a:r>
                      <a:endParaRPr kumimoji="1" lang="ja-JP" altLang="en-US" dirty="0">
                        <a:latin typeface="メイリオ" panose="020B0604030504040204" pitchFamily="50" charset="-128"/>
                        <a:ea typeface="メイリオ" panose="020B0604030504040204" pitchFamily="50" charset="-128"/>
                      </a:endParaRPr>
                    </a:p>
                  </a:txBody>
                  <a:tcPr/>
                </a:tc>
                <a:tc>
                  <a:txBody>
                    <a:bodyPr/>
                    <a:lstStyle/>
                    <a:p>
                      <a:pPr algn="ctr"/>
                      <a:r>
                        <a:rPr kumimoji="1" lang="ja-JP" altLang="en-US" dirty="0">
                          <a:latin typeface="メイリオ" panose="020B0604030504040204" pitchFamily="50" charset="-128"/>
                          <a:ea typeface="メイリオ" panose="020B0604030504040204" pitchFamily="50" charset="-128"/>
                        </a:rPr>
                        <a:t>学部名</a:t>
                      </a:r>
                    </a:p>
                  </a:txBody>
                  <a:tcPr/>
                </a:tc>
                <a:extLst>
                  <a:ext uri="{0D108BD9-81ED-4DB2-BD59-A6C34878D82A}">
                    <a16:rowId xmlns:a16="http://schemas.microsoft.com/office/drawing/2014/main" val="312938569"/>
                  </a:ext>
                </a:extLst>
              </a:tr>
              <a:tr h="370800">
                <a:tc>
                  <a:txBody>
                    <a:bodyPr/>
                    <a:lstStyle/>
                    <a:p>
                      <a:r>
                        <a:rPr kumimoji="1" lang="en-US" altLang="ja-JP" dirty="0">
                          <a:latin typeface="メイリオ" panose="020B0604030504040204" pitchFamily="50" charset="-128"/>
                          <a:ea typeface="メイリオ" panose="020B0604030504040204" pitchFamily="50" charset="-128"/>
                        </a:rPr>
                        <a:t>001</a:t>
                      </a:r>
                      <a:endParaRPr kumimoji="1" lang="ja-JP" altLang="en-US" dirty="0">
                        <a:latin typeface="メイリオ" panose="020B0604030504040204" pitchFamily="50" charset="-128"/>
                        <a:ea typeface="メイリオ" panose="020B0604030504040204" pitchFamily="50" charset="-128"/>
                      </a:endParaRPr>
                    </a:p>
                  </a:txBody>
                  <a:tcPr/>
                </a:tc>
                <a:tc>
                  <a:txBody>
                    <a:bodyPr/>
                    <a:lstStyle/>
                    <a:p>
                      <a:r>
                        <a:rPr kumimoji="1" lang="ja-JP" altLang="en-US" dirty="0">
                          <a:latin typeface="メイリオ" panose="020B0604030504040204" pitchFamily="50" charset="-128"/>
                          <a:ea typeface="メイリオ" panose="020B0604030504040204" pitchFamily="50" charset="-128"/>
                        </a:rPr>
                        <a:t>工学部</a:t>
                      </a:r>
                    </a:p>
                  </a:txBody>
                  <a:tcPr/>
                </a:tc>
                <a:extLst>
                  <a:ext uri="{0D108BD9-81ED-4DB2-BD59-A6C34878D82A}">
                    <a16:rowId xmlns:a16="http://schemas.microsoft.com/office/drawing/2014/main" val="275676988"/>
                  </a:ext>
                </a:extLst>
              </a:tr>
              <a:tr h="370800">
                <a:tc>
                  <a:txBody>
                    <a:bodyPr/>
                    <a:lstStyle/>
                    <a:p>
                      <a:r>
                        <a:rPr kumimoji="1" lang="en-US" altLang="ja-JP" dirty="0">
                          <a:latin typeface="メイリオ" panose="020B0604030504040204" pitchFamily="50" charset="-128"/>
                          <a:ea typeface="メイリオ" panose="020B0604030504040204" pitchFamily="50" charset="-128"/>
                        </a:rPr>
                        <a:t>002</a:t>
                      </a:r>
                      <a:endParaRPr kumimoji="1" lang="ja-JP" altLang="en-US" dirty="0">
                        <a:latin typeface="メイリオ" panose="020B0604030504040204" pitchFamily="50" charset="-128"/>
                        <a:ea typeface="メイリオ" panose="020B0604030504040204" pitchFamily="50" charset="-128"/>
                      </a:endParaRPr>
                    </a:p>
                  </a:txBody>
                  <a:tcPr/>
                </a:tc>
                <a:tc>
                  <a:txBody>
                    <a:bodyPr/>
                    <a:lstStyle/>
                    <a:p>
                      <a:r>
                        <a:rPr kumimoji="1" lang="ja-JP" altLang="en-US" dirty="0">
                          <a:latin typeface="メイリオ" panose="020B0604030504040204" pitchFamily="50" charset="-128"/>
                          <a:ea typeface="メイリオ" panose="020B0604030504040204" pitchFamily="50" charset="-128"/>
                        </a:rPr>
                        <a:t>経済学部</a:t>
                      </a:r>
                    </a:p>
                  </a:txBody>
                  <a:tcPr/>
                </a:tc>
                <a:extLst>
                  <a:ext uri="{0D108BD9-81ED-4DB2-BD59-A6C34878D82A}">
                    <a16:rowId xmlns:a16="http://schemas.microsoft.com/office/drawing/2014/main" val="1323925798"/>
                  </a:ext>
                </a:extLst>
              </a:tr>
              <a:tr h="370800">
                <a:tc>
                  <a:txBody>
                    <a:bodyPr/>
                    <a:lstStyle/>
                    <a:p>
                      <a:r>
                        <a:rPr kumimoji="1" lang="en-US" altLang="ja-JP" dirty="0">
                          <a:latin typeface="メイリオ" panose="020B0604030504040204" pitchFamily="50" charset="-128"/>
                          <a:ea typeface="メイリオ" panose="020B0604030504040204" pitchFamily="50" charset="-128"/>
                        </a:rPr>
                        <a:t>003</a:t>
                      </a:r>
                      <a:endParaRPr kumimoji="1" lang="ja-JP" altLang="en-US" dirty="0">
                        <a:latin typeface="メイリオ" panose="020B0604030504040204" pitchFamily="50" charset="-128"/>
                        <a:ea typeface="メイリオ" panose="020B0604030504040204" pitchFamily="50" charset="-128"/>
                      </a:endParaRPr>
                    </a:p>
                  </a:txBody>
                  <a:tcPr/>
                </a:tc>
                <a:tc>
                  <a:txBody>
                    <a:bodyPr/>
                    <a:lstStyle/>
                    <a:p>
                      <a:r>
                        <a:rPr kumimoji="1" lang="ja-JP" altLang="en-US" dirty="0">
                          <a:latin typeface="メイリオ" panose="020B0604030504040204" pitchFamily="50" charset="-128"/>
                          <a:ea typeface="メイリオ" panose="020B0604030504040204" pitchFamily="50" charset="-128"/>
                        </a:rPr>
                        <a:t>文学部</a:t>
                      </a:r>
                    </a:p>
                  </a:txBody>
                  <a:tcPr/>
                </a:tc>
                <a:extLst>
                  <a:ext uri="{0D108BD9-81ED-4DB2-BD59-A6C34878D82A}">
                    <a16:rowId xmlns:a16="http://schemas.microsoft.com/office/drawing/2014/main" val="3651223382"/>
                  </a:ext>
                </a:extLst>
              </a:tr>
            </a:tbl>
          </a:graphicData>
        </a:graphic>
      </p:graphicFrame>
    </p:spTree>
    <p:extLst>
      <p:ext uri="{BB962C8B-B14F-4D97-AF65-F5344CB8AC3E}">
        <p14:creationId xmlns:p14="http://schemas.microsoft.com/office/powerpoint/2010/main" val="12868685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 name="表 19">
            <a:extLst>
              <a:ext uri="{FF2B5EF4-FFF2-40B4-BE49-F238E27FC236}">
                <a16:creationId xmlns:a16="http://schemas.microsoft.com/office/drawing/2014/main" id="{334EAB2C-0DD7-47DF-F453-3A93B576798B}"/>
              </a:ext>
            </a:extLst>
          </p:cNvPr>
          <p:cNvGraphicFramePr>
            <a:graphicFrameLocks noGrp="1"/>
          </p:cNvGraphicFramePr>
          <p:nvPr>
            <p:extLst>
              <p:ext uri="{D42A27DB-BD31-4B8C-83A1-F6EECF244321}">
                <p14:modId xmlns:p14="http://schemas.microsoft.com/office/powerpoint/2010/main" val="4277306219"/>
              </p:ext>
            </p:extLst>
          </p:nvPr>
        </p:nvGraphicFramePr>
        <p:xfrm>
          <a:off x="535407" y="2136417"/>
          <a:ext cx="8231321" cy="2128520"/>
        </p:xfrm>
        <a:graphic>
          <a:graphicData uri="http://schemas.openxmlformats.org/drawingml/2006/table">
            <a:tbl>
              <a:tblPr firstRow="1" bandRow="1">
                <a:tableStyleId>{5C22544A-7EE6-4342-B048-85BDC9FD1C3A}</a:tableStyleId>
              </a:tblPr>
              <a:tblGrid>
                <a:gridCol w="1064022">
                  <a:extLst>
                    <a:ext uri="{9D8B030D-6E8A-4147-A177-3AD203B41FA5}">
                      <a16:colId xmlns:a16="http://schemas.microsoft.com/office/drawing/2014/main" val="20000"/>
                    </a:ext>
                  </a:extLst>
                </a:gridCol>
                <a:gridCol w="1642905">
                  <a:extLst>
                    <a:ext uri="{9D8B030D-6E8A-4147-A177-3AD203B41FA5}">
                      <a16:colId xmlns:a16="http://schemas.microsoft.com/office/drawing/2014/main" val="20001"/>
                    </a:ext>
                  </a:extLst>
                </a:gridCol>
                <a:gridCol w="1835198">
                  <a:extLst>
                    <a:ext uri="{9D8B030D-6E8A-4147-A177-3AD203B41FA5}">
                      <a16:colId xmlns:a16="http://schemas.microsoft.com/office/drawing/2014/main" val="20002"/>
                    </a:ext>
                  </a:extLst>
                </a:gridCol>
                <a:gridCol w="679435">
                  <a:extLst>
                    <a:ext uri="{9D8B030D-6E8A-4147-A177-3AD203B41FA5}">
                      <a16:colId xmlns:a16="http://schemas.microsoft.com/office/drawing/2014/main" val="20003"/>
                    </a:ext>
                  </a:extLst>
                </a:gridCol>
                <a:gridCol w="1066026">
                  <a:extLst>
                    <a:ext uri="{9D8B030D-6E8A-4147-A177-3AD203B41FA5}">
                      <a16:colId xmlns:a16="http://schemas.microsoft.com/office/drawing/2014/main" val="20004"/>
                    </a:ext>
                  </a:extLst>
                </a:gridCol>
                <a:gridCol w="1148080">
                  <a:extLst>
                    <a:ext uri="{9D8B030D-6E8A-4147-A177-3AD203B41FA5}">
                      <a16:colId xmlns:a16="http://schemas.microsoft.com/office/drawing/2014/main" val="20005"/>
                    </a:ext>
                  </a:extLst>
                </a:gridCol>
                <a:gridCol w="795655">
                  <a:extLst>
                    <a:ext uri="{9D8B030D-6E8A-4147-A177-3AD203B41FA5}">
                      <a16:colId xmlns:a16="http://schemas.microsoft.com/office/drawing/2014/main" val="20006"/>
                    </a:ext>
                  </a:extLst>
                </a:gridCol>
              </a:tblGrid>
              <a:tr h="274320">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学生番号</a:t>
                      </a:r>
                    </a:p>
                  </a:txBody>
                  <a:tcPr/>
                </a:tc>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生徒名</a:t>
                      </a:r>
                    </a:p>
                  </a:txBody>
                  <a:tcPr/>
                </a:tc>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生年月日</a:t>
                      </a:r>
                    </a:p>
                  </a:txBody>
                  <a:tcPr/>
                </a:tc>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性別</a:t>
                      </a:r>
                    </a:p>
                  </a:txBody>
                  <a:tcPr/>
                </a:tc>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委員会</a:t>
                      </a:r>
                    </a:p>
                  </a:txBody>
                  <a:tcPr/>
                </a:tc>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本籍都道府県</a:t>
                      </a:r>
                    </a:p>
                  </a:txBody>
                  <a:tcPr/>
                </a:tc>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担任</a:t>
                      </a:r>
                    </a:p>
                  </a:txBody>
                  <a:tcPr/>
                </a:tc>
                <a:extLst>
                  <a:ext uri="{0D108BD9-81ED-4DB2-BD59-A6C34878D82A}">
                    <a16:rowId xmlns:a16="http://schemas.microsoft.com/office/drawing/2014/main" val="10000"/>
                  </a:ext>
                </a:extLst>
              </a:tr>
              <a:tr h="370840">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10101</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ブレイド　太郎</a:t>
                      </a:r>
                    </a:p>
                  </a:txBody>
                  <a:tcPr/>
                </a:tc>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1980</a:t>
                      </a:r>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年</a:t>
                      </a:r>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12</a:t>
                      </a:r>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月</a:t>
                      </a:r>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12</a:t>
                      </a:r>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日</a:t>
                      </a:r>
                    </a:p>
                  </a:txBody>
                  <a:tcPr/>
                </a:tc>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男</a:t>
                      </a:r>
                    </a:p>
                  </a:txBody>
                  <a:tcPr/>
                </a:tc>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保健委員</a:t>
                      </a:r>
                    </a:p>
                  </a:txBody>
                  <a:tcPr/>
                </a:tc>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鹿児島県</a:t>
                      </a:r>
                    </a:p>
                  </a:txBody>
                  <a:tcPr/>
                </a:tc>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先生</a:t>
                      </a:r>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A</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extLst>
                  <a:ext uri="{0D108BD9-81ED-4DB2-BD59-A6C34878D82A}">
                    <a16:rowId xmlns:a16="http://schemas.microsoft.com/office/drawing/2014/main" val="10001"/>
                  </a:ext>
                </a:extLst>
              </a:tr>
              <a:tr h="370840">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10102</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ブレイド　花子</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1980</a:t>
                      </a:r>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年</a:t>
                      </a:r>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10</a:t>
                      </a:r>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月</a:t>
                      </a:r>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13</a:t>
                      </a:r>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日</a:t>
                      </a:r>
                    </a:p>
                  </a:txBody>
                  <a:tcPr/>
                </a:tc>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女</a:t>
                      </a:r>
                    </a:p>
                  </a:txBody>
                  <a:tcPr/>
                </a:tc>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総務</a:t>
                      </a:r>
                    </a:p>
                  </a:txBody>
                  <a:tcPr/>
                </a:tc>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東京都</a:t>
                      </a:r>
                    </a:p>
                  </a:txBody>
                  <a:tcPr/>
                </a:tc>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先生</a:t>
                      </a:r>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B</a:t>
                      </a:r>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　</a:t>
                      </a:r>
                    </a:p>
                  </a:txBody>
                  <a:tcPr/>
                </a:tc>
                <a:extLst>
                  <a:ext uri="{0D108BD9-81ED-4DB2-BD59-A6C34878D82A}">
                    <a16:rowId xmlns:a16="http://schemas.microsoft.com/office/drawing/2014/main" val="10002"/>
                  </a:ext>
                </a:extLst>
              </a:tr>
              <a:tr h="370840">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10103</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ブレイド　次郎</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1980</a:t>
                      </a:r>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年</a:t>
                      </a:r>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9</a:t>
                      </a:r>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月</a:t>
                      </a:r>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11</a:t>
                      </a:r>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日</a:t>
                      </a:r>
                    </a:p>
                  </a:txBody>
                  <a:tcPr/>
                </a:tc>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男</a:t>
                      </a:r>
                    </a:p>
                  </a:txBody>
                  <a:tcPr/>
                </a:tc>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体育委員</a:t>
                      </a:r>
                    </a:p>
                  </a:txBody>
                  <a:tcPr/>
                </a:tc>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沖縄県</a:t>
                      </a:r>
                    </a:p>
                  </a:txBody>
                  <a:tcPr/>
                </a:tc>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先生</a:t>
                      </a:r>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A</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extLst>
                  <a:ext uri="{0D108BD9-81ED-4DB2-BD59-A6C34878D82A}">
                    <a16:rowId xmlns:a16="http://schemas.microsoft.com/office/drawing/2014/main" val="10003"/>
                  </a:ext>
                </a:extLst>
              </a:tr>
              <a:tr h="370840">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10104</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ブレイド　三郎</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1980</a:t>
                      </a:r>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年</a:t>
                      </a:r>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3</a:t>
                      </a:r>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月</a:t>
                      </a:r>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1</a:t>
                      </a:r>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日</a:t>
                      </a:r>
                    </a:p>
                  </a:txBody>
                  <a:tcPr/>
                </a:tc>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男</a:t>
                      </a:r>
                    </a:p>
                  </a:txBody>
                  <a:tcPr/>
                </a:tc>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文化委員</a:t>
                      </a:r>
                    </a:p>
                  </a:txBody>
                  <a:tcPr/>
                </a:tc>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長崎県</a:t>
                      </a:r>
                    </a:p>
                  </a:txBody>
                  <a:tcPr/>
                </a:tc>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先生</a:t>
                      </a:r>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C</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extLst>
                  <a:ext uri="{0D108BD9-81ED-4DB2-BD59-A6C34878D82A}">
                    <a16:rowId xmlns:a16="http://schemas.microsoft.com/office/drawing/2014/main" val="10004"/>
                  </a:ext>
                </a:extLst>
              </a:tr>
              <a:tr h="370840">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10105</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ブレイド　智子</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1980</a:t>
                      </a:r>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年</a:t>
                      </a:r>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5</a:t>
                      </a:r>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月</a:t>
                      </a:r>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2</a:t>
                      </a:r>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日</a:t>
                      </a:r>
                    </a:p>
                  </a:txBody>
                  <a:tcPr/>
                </a:tc>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女</a:t>
                      </a:r>
                    </a:p>
                  </a:txBody>
                  <a:tcPr/>
                </a:tc>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風紀委員</a:t>
                      </a:r>
                    </a:p>
                  </a:txBody>
                  <a:tcPr/>
                </a:tc>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北海道</a:t>
                      </a:r>
                    </a:p>
                  </a:txBody>
                  <a:tcPr/>
                </a:tc>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先生</a:t>
                      </a:r>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D</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extLst>
                  <a:ext uri="{0D108BD9-81ED-4DB2-BD59-A6C34878D82A}">
                    <a16:rowId xmlns:a16="http://schemas.microsoft.com/office/drawing/2014/main" val="10005"/>
                  </a:ext>
                </a:extLst>
              </a:tr>
            </a:tbl>
          </a:graphicData>
        </a:graphic>
      </p:graphicFrame>
      <p:sp>
        <p:nvSpPr>
          <p:cNvPr id="2" name="タイトル 1">
            <a:extLst>
              <a:ext uri="{FF2B5EF4-FFF2-40B4-BE49-F238E27FC236}">
                <a16:creationId xmlns:a16="http://schemas.microsoft.com/office/drawing/2014/main" id="{69923C56-76AD-22D8-AB4F-04FBC67CBAFC}"/>
              </a:ext>
            </a:extLst>
          </p:cNvPr>
          <p:cNvSpPr>
            <a:spLocks noGrp="1"/>
          </p:cNvSpPr>
          <p:nvPr>
            <p:ph type="title"/>
          </p:nvPr>
        </p:nvSpPr>
        <p:spPr/>
        <p:txBody>
          <a:bodyPr/>
          <a:lstStyle/>
          <a:p>
            <a:r>
              <a:rPr kumimoji="1" lang="en-US" altLang="ja-JP" dirty="0"/>
              <a:t>1. </a:t>
            </a:r>
            <a:r>
              <a:rPr kumimoji="1" lang="ja-JP" altLang="en-US" dirty="0"/>
              <a:t>データベースとは？</a:t>
            </a:r>
          </a:p>
        </p:txBody>
      </p:sp>
      <p:sp>
        <p:nvSpPr>
          <p:cNvPr id="3" name="スライド番号プレースホルダー 2">
            <a:extLst>
              <a:ext uri="{FF2B5EF4-FFF2-40B4-BE49-F238E27FC236}">
                <a16:creationId xmlns:a16="http://schemas.microsoft.com/office/drawing/2014/main" id="{7649C51F-0FAD-910F-5CB1-5E3C7083E5C3}"/>
              </a:ext>
            </a:extLst>
          </p:cNvPr>
          <p:cNvSpPr>
            <a:spLocks noGrp="1"/>
          </p:cNvSpPr>
          <p:nvPr>
            <p:ph type="sldNum" sz="quarter" idx="12"/>
          </p:nvPr>
        </p:nvSpPr>
        <p:spPr/>
        <p:txBody>
          <a:bodyPr/>
          <a:lstStyle/>
          <a:p>
            <a:fld id="{0BDC6CC0-337C-4DEC-BAED-08CE4EABF7AC}" type="slidenum">
              <a:rPr lang="ja-JP" altLang="en-US" smtClean="0"/>
              <a:pPr/>
              <a:t>5</a:t>
            </a:fld>
            <a:endParaRPr lang="ja-JP" altLang="en-US" dirty="0"/>
          </a:p>
        </p:txBody>
      </p:sp>
      <p:sp>
        <p:nvSpPr>
          <p:cNvPr id="4" name="テキスト ボックス 3">
            <a:extLst>
              <a:ext uri="{FF2B5EF4-FFF2-40B4-BE49-F238E27FC236}">
                <a16:creationId xmlns:a16="http://schemas.microsoft.com/office/drawing/2014/main" id="{A1D5D97B-4769-2E85-D608-6027494E4F4E}"/>
              </a:ext>
            </a:extLst>
          </p:cNvPr>
          <p:cNvSpPr txBox="1"/>
          <p:nvPr/>
        </p:nvSpPr>
        <p:spPr>
          <a:xfrm>
            <a:off x="112541" y="576001"/>
            <a:ext cx="9636369" cy="307777"/>
          </a:xfrm>
          <a:prstGeom prst="rect">
            <a:avLst/>
          </a:prstGeom>
          <a:noFill/>
        </p:spPr>
        <p:txBody>
          <a:bodyPr wrap="square" rtlCol="0">
            <a:spAutoFit/>
          </a:bodyPr>
          <a:lstStyle/>
          <a:p>
            <a:r>
              <a:rPr lang="en-US" altLang="ja-JP" sz="1400" u="sng" dirty="0">
                <a:latin typeface="メイリオ" panose="020B0604030504040204" pitchFamily="50" charset="-128"/>
                <a:ea typeface="メイリオ" panose="020B0604030504040204" pitchFamily="50" charset="-128"/>
                <a:cs typeface="メイリオ" panose="020B0604030504040204" pitchFamily="50" charset="-128"/>
              </a:rPr>
              <a:t>1-4. </a:t>
            </a:r>
            <a:r>
              <a:rPr lang="ja-JP" altLang="en-US" sz="1400" u="sng" dirty="0">
                <a:latin typeface="メイリオ" panose="020B0604030504040204" pitchFamily="50" charset="-128"/>
                <a:ea typeface="メイリオ" panose="020B0604030504040204" pitchFamily="50" charset="-128"/>
                <a:cs typeface="メイリオ" panose="020B0604030504040204" pitchFamily="50" charset="-128"/>
              </a:rPr>
              <a:t>リレーショナルデータベースを利用したデータの正規化</a:t>
            </a:r>
            <a:endParaRPr lang="en-US" altLang="ja-JP" sz="1400" u="sng"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5" name="テキスト ボックス 4">
            <a:extLst>
              <a:ext uri="{FF2B5EF4-FFF2-40B4-BE49-F238E27FC236}">
                <a16:creationId xmlns:a16="http://schemas.microsoft.com/office/drawing/2014/main" id="{D98974AB-58D4-B618-94EB-78CBFD9C48E4}"/>
              </a:ext>
            </a:extLst>
          </p:cNvPr>
          <p:cNvSpPr txBox="1"/>
          <p:nvPr/>
        </p:nvSpPr>
        <p:spPr>
          <a:xfrm>
            <a:off x="112541" y="953340"/>
            <a:ext cx="9636369" cy="738664"/>
          </a:xfrm>
          <a:prstGeom prst="rect">
            <a:avLst/>
          </a:prstGeom>
          <a:noFill/>
        </p:spPr>
        <p:txBody>
          <a:bodyPr wrap="square" rtlCol="0">
            <a:spAutoFit/>
          </a:bodyPr>
          <a:lstStyle/>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「リレーショナルデータベース」とは、</a:t>
            </a:r>
            <a:r>
              <a:rPr lang="ja-JP" altLang="en-US" sz="1400" b="1" u="sng"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関係データベース</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と呼ばれ、複数のデータを表形式で管理し、異なる種類</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のデータの関係性で組み合わせることにより、データの管理を行う。</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管理したいデータを複数のデータに分散させ、別々のデータに管理することを</a:t>
            </a:r>
            <a:r>
              <a:rPr lang="ja-JP" altLang="en-US" sz="1400" b="1" u="sng"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データの正規化</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という。</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7" name="テキスト ボックス 6">
            <a:extLst>
              <a:ext uri="{FF2B5EF4-FFF2-40B4-BE49-F238E27FC236}">
                <a16:creationId xmlns:a16="http://schemas.microsoft.com/office/drawing/2014/main" id="{D28FC5D0-EC08-C1B1-D7BC-6ACDFF2D9A66}"/>
              </a:ext>
            </a:extLst>
          </p:cNvPr>
          <p:cNvSpPr txBox="1"/>
          <p:nvPr/>
        </p:nvSpPr>
        <p:spPr>
          <a:xfrm>
            <a:off x="535406" y="1761566"/>
            <a:ext cx="1204743" cy="307777"/>
          </a:xfrm>
          <a:prstGeom prst="rect">
            <a:avLst/>
          </a:prstGeom>
          <a:noFill/>
        </p:spPr>
        <p:txBody>
          <a:bodyPr wrap="square" rtlCol="0">
            <a:spAutoFit/>
          </a:bodyPr>
          <a:lstStyle/>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生徒名簿</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21" name="テキスト ボックス 20">
            <a:extLst>
              <a:ext uri="{FF2B5EF4-FFF2-40B4-BE49-F238E27FC236}">
                <a16:creationId xmlns:a16="http://schemas.microsoft.com/office/drawing/2014/main" id="{4A49807B-C343-4815-EDD7-9A93B512F81B}"/>
              </a:ext>
            </a:extLst>
          </p:cNvPr>
          <p:cNvSpPr txBox="1"/>
          <p:nvPr/>
        </p:nvSpPr>
        <p:spPr>
          <a:xfrm>
            <a:off x="112541" y="4340018"/>
            <a:ext cx="9636369" cy="307777"/>
          </a:xfrm>
          <a:prstGeom prst="rect">
            <a:avLst/>
          </a:prstGeom>
          <a:noFill/>
        </p:spPr>
        <p:txBody>
          <a:bodyPr wrap="square" rtlCol="0">
            <a:spAutoFit/>
          </a:bodyPr>
          <a:lstStyle/>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上の「生徒名簿」を複数のデータに分散させ、正規化するとどのようになるかを考えてみましょう。</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40185444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EB8E5D-B0E9-4512-CA42-B030EBBC024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F5D84DC-259E-38E7-8BC6-D9A7A0F31989}"/>
              </a:ext>
            </a:extLst>
          </p:cNvPr>
          <p:cNvSpPr>
            <a:spLocks noGrp="1"/>
          </p:cNvSpPr>
          <p:nvPr>
            <p:ph type="title"/>
          </p:nvPr>
        </p:nvSpPr>
        <p:spPr/>
        <p:txBody>
          <a:bodyPr/>
          <a:lstStyle/>
          <a:p>
            <a:r>
              <a:rPr kumimoji="1" lang="en-US" altLang="ja-JP" dirty="0"/>
              <a:t>1. </a:t>
            </a:r>
            <a:r>
              <a:rPr kumimoji="1" lang="ja-JP" altLang="en-US" dirty="0"/>
              <a:t>データベースとは？</a:t>
            </a:r>
          </a:p>
        </p:txBody>
      </p:sp>
      <p:sp>
        <p:nvSpPr>
          <p:cNvPr id="3" name="スライド番号プレースホルダー 2">
            <a:extLst>
              <a:ext uri="{FF2B5EF4-FFF2-40B4-BE49-F238E27FC236}">
                <a16:creationId xmlns:a16="http://schemas.microsoft.com/office/drawing/2014/main" id="{26DE39E1-239C-D285-994C-2AF907DC0BA2}"/>
              </a:ext>
            </a:extLst>
          </p:cNvPr>
          <p:cNvSpPr>
            <a:spLocks noGrp="1"/>
          </p:cNvSpPr>
          <p:nvPr>
            <p:ph type="sldNum" sz="quarter" idx="12"/>
          </p:nvPr>
        </p:nvSpPr>
        <p:spPr/>
        <p:txBody>
          <a:bodyPr/>
          <a:lstStyle/>
          <a:p>
            <a:fld id="{0BDC6CC0-337C-4DEC-BAED-08CE4EABF7AC}" type="slidenum">
              <a:rPr lang="ja-JP" altLang="en-US" smtClean="0"/>
              <a:pPr/>
              <a:t>6</a:t>
            </a:fld>
            <a:endParaRPr lang="ja-JP" altLang="en-US" dirty="0"/>
          </a:p>
        </p:txBody>
      </p:sp>
      <p:sp>
        <p:nvSpPr>
          <p:cNvPr id="4" name="テキスト ボックス 3">
            <a:extLst>
              <a:ext uri="{FF2B5EF4-FFF2-40B4-BE49-F238E27FC236}">
                <a16:creationId xmlns:a16="http://schemas.microsoft.com/office/drawing/2014/main" id="{E4DAC1C2-E63C-6D01-095F-6C61A8107C3D}"/>
              </a:ext>
            </a:extLst>
          </p:cNvPr>
          <p:cNvSpPr txBox="1"/>
          <p:nvPr/>
        </p:nvSpPr>
        <p:spPr>
          <a:xfrm>
            <a:off x="112541" y="576001"/>
            <a:ext cx="9636369" cy="307777"/>
          </a:xfrm>
          <a:prstGeom prst="rect">
            <a:avLst/>
          </a:prstGeom>
          <a:noFill/>
        </p:spPr>
        <p:txBody>
          <a:bodyPr wrap="square" rtlCol="0">
            <a:spAutoFit/>
          </a:bodyPr>
          <a:lstStyle/>
          <a:p>
            <a:r>
              <a:rPr lang="en-US" altLang="ja-JP" sz="1400" u="sng" dirty="0">
                <a:latin typeface="メイリオ" panose="020B0604030504040204" pitchFamily="50" charset="-128"/>
                <a:ea typeface="メイリオ" panose="020B0604030504040204" pitchFamily="50" charset="-128"/>
                <a:cs typeface="メイリオ" panose="020B0604030504040204" pitchFamily="50" charset="-128"/>
              </a:rPr>
              <a:t>1-4. </a:t>
            </a:r>
            <a:r>
              <a:rPr lang="ja-JP" altLang="en-US" sz="1400" u="sng" dirty="0">
                <a:latin typeface="メイリオ" panose="020B0604030504040204" pitchFamily="50" charset="-128"/>
                <a:ea typeface="メイリオ" panose="020B0604030504040204" pitchFamily="50" charset="-128"/>
                <a:cs typeface="メイリオ" panose="020B0604030504040204" pitchFamily="50" charset="-128"/>
              </a:rPr>
              <a:t>リレーショナルデータベースを利用したデータの正規化</a:t>
            </a:r>
            <a:endParaRPr lang="en-US" altLang="ja-JP" sz="1400" u="sng" dirty="0">
              <a:latin typeface="メイリオ" panose="020B0604030504040204" pitchFamily="50" charset="-128"/>
              <a:ea typeface="メイリオ" panose="020B0604030504040204" pitchFamily="50" charset="-128"/>
              <a:cs typeface="メイリオ" panose="020B0604030504040204" pitchFamily="50" charset="-128"/>
            </a:endParaRPr>
          </a:p>
        </p:txBody>
      </p:sp>
      <p:graphicFrame>
        <p:nvGraphicFramePr>
          <p:cNvPr id="6" name="表 5">
            <a:extLst>
              <a:ext uri="{FF2B5EF4-FFF2-40B4-BE49-F238E27FC236}">
                <a16:creationId xmlns:a16="http://schemas.microsoft.com/office/drawing/2014/main" id="{849EFF6C-515B-4D94-2203-AE0BAEF3AB71}"/>
              </a:ext>
            </a:extLst>
          </p:cNvPr>
          <p:cNvGraphicFramePr>
            <a:graphicFrameLocks noGrp="1"/>
          </p:cNvGraphicFramePr>
          <p:nvPr>
            <p:extLst>
              <p:ext uri="{D42A27DB-BD31-4B8C-83A1-F6EECF244321}">
                <p14:modId xmlns:p14="http://schemas.microsoft.com/office/powerpoint/2010/main" val="1125601475"/>
              </p:ext>
            </p:extLst>
          </p:nvPr>
        </p:nvGraphicFramePr>
        <p:xfrm>
          <a:off x="535407" y="1328191"/>
          <a:ext cx="8251797" cy="1645920"/>
        </p:xfrm>
        <a:graphic>
          <a:graphicData uri="http://schemas.openxmlformats.org/drawingml/2006/table">
            <a:tbl>
              <a:tblPr firstRow="1" bandRow="1">
                <a:tableStyleId>{5C22544A-7EE6-4342-B048-85BDC9FD1C3A}</a:tableStyleId>
              </a:tblPr>
              <a:tblGrid>
                <a:gridCol w="1064022">
                  <a:extLst>
                    <a:ext uri="{9D8B030D-6E8A-4147-A177-3AD203B41FA5}">
                      <a16:colId xmlns:a16="http://schemas.microsoft.com/office/drawing/2014/main" val="20000"/>
                    </a:ext>
                  </a:extLst>
                </a:gridCol>
                <a:gridCol w="1642905">
                  <a:extLst>
                    <a:ext uri="{9D8B030D-6E8A-4147-A177-3AD203B41FA5}">
                      <a16:colId xmlns:a16="http://schemas.microsoft.com/office/drawing/2014/main" val="20001"/>
                    </a:ext>
                  </a:extLst>
                </a:gridCol>
                <a:gridCol w="1835198">
                  <a:extLst>
                    <a:ext uri="{9D8B030D-6E8A-4147-A177-3AD203B41FA5}">
                      <a16:colId xmlns:a16="http://schemas.microsoft.com/office/drawing/2014/main" val="20002"/>
                    </a:ext>
                  </a:extLst>
                </a:gridCol>
                <a:gridCol w="736918">
                  <a:extLst>
                    <a:ext uri="{9D8B030D-6E8A-4147-A177-3AD203B41FA5}">
                      <a16:colId xmlns:a16="http://schemas.microsoft.com/office/drawing/2014/main" val="20003"/>
                    </a:ext>
                  </a:extLst>
                </a:gridCol>
                <a:gridCol w="889318">
                  <a:extLst>
                    <a:ext uri="{9D8B030D-6E8A-4147-A177-3AD203B41FA5}">
                      <a16:colId xmlns:a16="http://schemas.microsoft.com/office/drawing/2014/main" val="20004"/>
                    </a:ext>
                  </a:extLst>
                </a:gridCol>
                <a:gridCol w="1346518">
                  <a:extLst>
                    <a:ext uri="{9D8B030D-6E8A-4147-A177-3AD203B41FA5}">
                      <a16:colId xmlns:a16="http://schemas.microsoft.com/office/drawing/2014/main" val="20005"/>
                    </a:ext>
                  </a:extLst>
                </a:gridCol>
                <a:gridCol w="736918">
                  <a:extLst>
                    <a:ext uri="{9D8B030D-6E8A-4147-A177-3AD203B41FA5}">
                      <a16:colId xmlns:a16="http://schemas.microsoft.com/office/drawing/2014/main" val="20006"/>
                    </a:ext>
                  </a:extLst>
                </a:gridCol>
              </a:tblGrid>
              <a:tr h="274320">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学生番号</a:t>
                      </a:r>
                    </a:p>
                  </a:txBody>
                  <a:tcPr/>
                </a:tc>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生徒名</a:t>
                      </a:r>
                    </a:p>
                  </a:txBody>
                  <a:tcPr/>
                </a:tc>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生年月日</a:t>
                      </a:r>
                    </a:p>
                  </a:txBody>
                  <a:tcPr/>
                </a:tc>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性別</a:t>
                      </a:r>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ID</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委員会</a:t>
                      </a:r>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ID</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本籍都道府県</a:t>
                      </a:r>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ID</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担任</a:t>
                      </a:r>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ID</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extLst>
                  <a:ext uri="{0D108BD9-81ED-4DB2-BD59-A6C34878D82A}">
                    <a16:rowId xmlns:a16="http://schemas.microsoft.com/office/drawing/2014/main" val="10000"/>
                  </a:ext>
                </a:extLst>
              </a:tr>
              <a:tr h="274320">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10101</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ブレイド　太郎</a:t>
                      </a:r>
                    </a:p>
                  </a:txBody>
                  <a:tcPr/>
                </a:tc>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1980</a:t>
                      </a:r>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年</a:t>
                      </a:r>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12</a:t>
                      </a:r>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月</a:t>
                      </a:r>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12</a:t>
                      </a:r>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日</a:t>
                      </a:r>
                    </a:p>
                  </a:txBody>
                  <a:tcPr/>
                </a:tc>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1</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3</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46</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1</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extLst>
                  <a:ext uri="{0D108BD9-81ED-4DB2-BD59-A6C34878D82A}">
                    <a16:rowId xmlns:a16="http://schemas.microsoft.com/office/drawing/2014/main" val="10001"/>
                  </a:ext>
                </a:extLst>
              </a:tr>
              <a:tr h="274320">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10102</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ブレイド　花子</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1980</a:t>
                      </a:r>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年</a:t>
                      </a:r>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10</a:t>
                      </a:r>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月</a:t>
                      </a:r>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13</a:t>
                      </a:r>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日</a:t>
                      </a:r>
                    </a:p>
                  </a:txBody>
                  <a:tcPr/>
                </a:tc>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2</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1</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13</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2</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extLst>
                  <a:ext uri="{0D108BD9-81ED-4DB2-BD59-A6C34878D82A}">
                    <a16:rowId xmlns:a16="http://schemas.microsoft.com/office/drawing/2014/main" val="10002"/>
                  </a:ext>
                </a:extLst>
              </a:tr>
              <a:tr h="274320">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10103</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ブレイド　次郎</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1980</a:t>
                      </a:r>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年</a:t>
                      </a:r>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9</a:t>
                      </a:r>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月</a:t>
                      </a:r>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11</a:t>
                      </a:r>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日</a:t>
                      </a:r>
                    </a:p>
                  </a:txBody>
                  <a:tcPr/>
                </a:tc>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1</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5</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47</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1</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extLst>
                  <a:ext uri="{0D108BD9-81ED-4DB2-BD59-A6C34878D82A}">
                    <a16:rowId xmlns:a16="http://schemas.microsoft.com/office/drawing/2014/main" val="10003"/>
                  </a:ext>
                </a:extLst>
              </a:tr>
              <a:tr h="274320">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10104</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ブレイド　三郎</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1980</a:t>
                      </a:r>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年</a:t>
                      </a:r>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3</a:t>
                      </a:r>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月</a:t>
                      </a:r>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1</a:t>
                      </a:r>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日</a:t>
                      </a:r>
                    </a:p>
                  </a:txBody>
                  <a:tcPr/>
                </a:tc>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1</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4</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42</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3</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extLst>
                  <a:ext uri="{0D108BD9-81ED-4DB2-BD59-A6C34878D82A}">
                    <a16:rowId xmlns:a16="http://schemas.microsoft.com/office/drawing/2014/main" val="10004"/>
                  </a:ext>
                </a:extLst>
              </a:tr>
              <a:tr h="274320">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10105</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ブレイド　智子</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1980</a:t>
                      </a:r>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年</a:t>
                      </a:r>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5</a:t>
                      </a:r>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月</a:t>
                      </a:r>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2</a:t>
                      </a:r>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日</a:t>
                      </a:r>
                    </a:p>
                  </a:txBody>
                  <a:tcPr/>
                </a:tc>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2</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2</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1</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4</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extLst>
                  <a:ext uri="{0D108BD9-81ED-4DB2-BD59-A6C34878D82A}">
                    <a16:rowId xmlns:a16="http://schemas.microsoft.com/office/drawing/2014/main" val="10005"/>
                  </a:ext>
                </a:extLst>
              </a:tr>
            </a:tbl>
          </a:graphicData>
        </a:graphic>
      </p:graphicFrame>
      <p:sp>
        <p:nvSpPr>
          <p:cNvPr id="7" name="テキスト ボックス 6">
            <a:extLst>
              <a:ext uri="{FF2B5EF4-FFF2-40B4-BE49-F238E27FC236}">
                <a16:creationId xmlns:a16="http://schemas.microsoft.com/office/drawing/2014/main" id="{6B5C084C-5CCB-C6D4-E573-0D88A09DB555}"/>
              </a:ext>
            </a:extLst>
          </p:cNvPr>
          <p:cNvSpPr txBox="1"/>
          <p:nvPr/>
        </p:nvSpPr>
        <p:spPr>
          <a:xfrm>
            <a:off x="535406" y="953340"/>
            <a:ext cx="1204743" cy="307777"/>
          </a:xfrm>
          <a:prstGeom prst="rect">
            <a:avLst/>
          </a:prstGeom>
          <a:noFill/>
        </p:spPr>
        <p:txBody>
          <a:bodyPr wrap="square" rtlCol="0">
            <a:spAutoFit/>
          </a:bodyPr>
          <a:lstStyle/>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生徒名簿</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8" name="テキスト ボックス 7">
            <a:extLst>
              <a:ext uri="{FF2B5EF4-FFF2-40B4-BE49-F238E27FC236}">
                <a16:creationId xmlns:a16="http://schemas.microsoft.com/office/drawing/2014/main" id="{2EDAF30A-3192-C8C6-7A38-3F44AA4EB37C}"/>
              </a:ext>
            </a:extLst>
          </p:cNvPr>
          <p:cNvSpPr txBox="1"/>
          <p:nvPr/>
        </p:nvSpPr>
        <p:spPr>
          <a:xfrm>
            <a:off x="535406" y="3536596"/>
            <a:ext cx="1204743" cy="307777"/>
          </a:xfrm>
          <a:prstGeom prst="rect">
            <a:avLst/>
          </a:prstGeom>
          <a:noFill/>
        </p:spPr>
        <p:txBody>
          <a:bodyPr wrap="square" rtlCol="0">
            <a:spAutoFit/>
          </a:bodyPr>
          <a:lstStyle/>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性別</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p:txBody>
      </p:sp>
      <p:graphicFrame>
        <p:nvGraphicFramePr>
          <p:cNvPr id="9" name="表 8">
            <a:extLst>
              <a:ext uri="{FF2B5EF4-FFF2-40B4-BE49-F238E27FC236}">
                <a16:creationId xmlns:a16="http://schemas.microsoft.com/office/drawing/2014/main" id="{74BE9E9D-DF8F-9059-A320-B5021E588E88}"/>
              </a:ext>
            </a:extLst>
          </p:cNvPr>
          <p:cNvGraphicFramePr>
            <a:graphicFrameLocks noGrp="1"/>
          </p:cNvGraphicFramePr>
          <p:nvPr>
            <p:extLst>
              <p:ext uri="{D42A27DB-BD31-4B8C-83A1-F6EECF244321}">
                <p14:modId xmlns:p14="http://schemas.microsoft.com/office/powerpoint/2010/main" val="3652065314"/>
              </p:ext>
            </p:extLst>
          </p:nvPr>
        </p:nvGraphicFramePr>
        <p:xfrm>
          <a:off x="535406" y="3913934"/>
          <a:ext cx="1275398" cy="822960"/>
        </p:xfrm>
        <a:graphic>
          <a:graphicData uri="http://schemas.openxmlformats.org/drawingml/2006/table">
            <a:tbl>
              <a:tblPr firstRow="1" bandRow="1">
                <a:tableStyleId>{21E4AEA4-8DFA-4A89-87EB-49C32662AFE0}</a:tableStyleId>
              </a:tblPr>
              <a:tblGrid>
                <a:gridCol w="736918">
                  <a:extLst>
                    <a:ext uri="{9D8B030D-6E8A-4147-A177-3AD203B41FA5}">
                      <a16:colId xmlns:a16="http://schemas.microsoft.com/office/drawing/2014/main" val="20000"/>
                    </a:ext>
                  </a:extLst>
                </a:gridCol>
                <a:gridCol w="538480">
                  <a:extLst>
                    <a:ext uri="{9D8B030D-6E8A-4147-A177-3AD203B41FA5}">
                      <a16:colId xmlns:a16="http://schemas.microsoft.com/office/drawing/2014/main" val="20001"/>
                    </a:ext>
                  </a:extLst>
                </a:gridCol>
              </a:tblGrid>
              <a:tr h="274320">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性別</a:t>
                      </a:r>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ID</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性別</a:t>
                      </a:r>
                    </a:p>
                  </a:txBody>
                  <a:tcPr/>
                </a:tc>
                <a:extLst>
                  <a:ext uri="{0D108BD9-81ED-4DB2-BD59-A6C34878D82A}">
                    <a16:rowId xmlns:a16="http://schemas.microsoft.com/office/drawing/2014/main" val="10000"/>
                  </a:ext>
                </a:extLst>
              </a:tr>
              <a:tr h="274320">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1</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男</a:t>
                      </a:r>
                    </a:p>
                  </a:txBody>
                  <a:tcPr/>
                </a:tc>
                <a:extLst>
                  <a:ext uri="{0D108BD9-81ED-4DB2-BD59-A6C34878D82A}">
                    <a16:rowId xmlns:a16="http://schemas.microsoft.com/office/drawing/2014/main" val="10001"/>
                  </a:ext>
                </a:extLst>
              </a:tr>
              <a:tr h="274320">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2</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女</a:t>
                      </a:r>
                    </a:p>
                  </a:txBody>
                  <a:tcPr/>
                </a:tc>
                <a:extLst>
                  <a:ext uri="{0D108BD9-81ED-4DB2-BD59-A6C34878D82A}">
                    <a16:rowId xmlns:a16="http://schemas.microsoft.com/office/drawing/2014/main" val="10002"/>
                  </a:ext>
                </a:extLst>
              </a:tr>
            </a:tbl>
          </a:graphicData>
        </a:graphic>
      </p:graphicFrame>
      <p:sp>
        <p:nvSpPr>
          <p:cNvPr id="10" name="テキスト ボックス 9">
            <a:extLst>
              <a:ext uri="{FF2B5EF4-FFF2-40B4-BE49-F238E27FC236}">
                <a16:creationId xmlns:a16="http://schemas.microsoft.com/office/drawing/2014/main" id="{A1CAA772-09D8-AFEF-4552-030B6CDCD19C}"/>
              </a:ext>
            </a:extLst>
          </p:cNvPr>
          <p:cNvSpPr txBox="1"/>
          <p:nvPr/>
        </p:nvSpPr>
        <p:spPr>
          <a:xfrm>
            <a:off x="2242064" y="3536596"/>
            <a:ext cx="1204743" cy="307777"/>
          </a:xfrm>
          <a:prstGeom prst="rect">
            <a:avLst/>
          </a:prstGeom>
          <a:noFill/>
        </p:spPr>
        <p:txBody>
          <a:bodyPr wrap="square" rtlCol="0">
            <a:spAutoFit/>
          </a:bodyPr>
          <a:lstStyle/>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委員会</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p:txBody>
      </p:sp>
      <p:graphicFrame>
        <p:nvGraphicFramePr>
          <p:cNvPr id="11" name="表 10">
            <a:extLst>
              <a:ext uri="{FF2B5EF4-FFF2-40B4-BE49-F238E27FC236}">
                <a16:creationId xmlns:a16="http://schemas.microsoft.com/office/drawing/2014/main" id="{B0F41784-CC45-B040-7BCC-27C525A17AD9}"/>
              </a:ext>
            </a:extLst>
          </p:cNvPr>
          <p:cNvGraphicFramePr>
            <a:graphicFrameLocks noGrp="1"/>
          </p:cNvGraphicFramePr>
          <p:nvPr>
            <p:extLst>
              <p:ext uri="{D42A27DB-BD31-4B8C-83A1-F6EECF244321}">
                <p14:modId xmlns:p14="http://schemas.microsoft.com/office/powerpoint/2010/main" val="1111760809"/>
              </p:ext>
            </p:extLst>
          </p:nvPr>
        </p:nvGraphicFramePr>
        <p:xfrm>
          <a:off x="2242065" y="3913934"/>
          <a:ext cx="1673861" cy="1828800"/>
        </p:xfrm>
        <a:graphic>
          <a:graphicData uri="http://schemas.openxmlformats.org/drawingml/2006/table">
            <a:tbl>
              <a:tblPr firstRow="1" bandRow="1">
                <a:tableStyleId>{93296810-A885-4BE3-A3E7-6D5BEEA58F35}</a:tableStyleId>
              </a:tblPr>
              <a:tblGrid>
                <a:gridCol w="828993">
                  <a:extLst>
                    <a:ext uri="{9D8B030D-6E8A-4147-A177-3AD203B41FA5}">
                      <a16:colId xmlns:a16="http://schemas.microsoft.com/office/drawing/2014/main" val="20000"/>
                    </a:ext>
                  </a:extLst>
                </a:gridCol>
                <a:gridCol w="844868">
                  <a:extLst>
                    <a:ext uri="{9D8B030D-6E8A-4147-A177-3AD203B41FA5}">
                      <a16:colId xmlns:a16="http://schemas.microsoft.com/office/drawing/2014/main" val="20001"/>
                    </a:ext>
                  </a:extLst>
                </a:gridCol>
              </a:tblGrid>
              <a:tr h="457200">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委員会</a:t>
                      </a:r>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ID</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委員会</a:t>
                      </a:r>
                    </a:p>
                  </a:txBody>
                  <a:tcPr/>
                </a:tc>
                <a:extLst>
                  <a:ext uri="{0D108BD9-81ED-4DB2-BD59-A6C34878D82A}">
                    <a16:rowId xmlns:a16="http://schemas.microsoft.com/office/drawing/2014/main" val="10000"/>
                  </a:ext>
                </a:extLst>
              </a:tr>
              <a:tr h="274320">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1</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総務</a:t>
                      </a:r>
                    </a:p>
                  </a:txBody>
                  <a:tcPr/>
                </a:tc>
                <a:extLst>
                  <a:ext uri="{0D108BD9-81ED-4DB2-BD59-A6C34878D82A}">
                    <a16:rowId xmlns:a16="http://schemas.microsoft.com/office/drawing/2014/main" val="10001"/>
                  </a:ext>
                </a:extLst>
              </a:tr>
              <a:tr h="274320">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2</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風紀委員</a:t>
                      </a:r>
                    </a:p>
                  </a:txBody>
                  <a:tcPr/>
                </a:tc>
                <a:extLst>
                  <a:ext uri="{0D108BD9-81ED-4DB2-BD59-A6C34878D82A}">
                    <a16:rowId xmlns:a16="http://schemas.microsoft.com/office/drawing/2014/main" val="10002"/>
                  </a:ext>
                </a:extLst>
              </a:tr>
              <a:tr h="274320">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3</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保健委員</a:t>
                      </a:r>
                    </a:p>
                  </a:txBody>
                  <a:tcPr/>
                </a:tc>
                <a:extLst>
                  <a:ext uri="{0D108BD9-81ED-4DB2-BD59-A6C34878D82A}">
                    <a16:rowId xmlns:a16="http://schemas.microsoft.com/office/drawing/2014/main" val="10003"/>
                  </a:ext>
                </a:extLst>
              </a:tr>
              <a:tr h="274320">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4</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文化委員</a:t>
                      </a:r>
                      <a:endPar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extLst>
                  <a:ext uri="{0D108BD9-81ED-4DB2-BD59-A6C34878D82A}">
                    <a16:rowId xmlns:a16="http://schemas.microsoft.com/office/drawing/2014/main" val="10004"/>
                  </a:ext>
                </a:extLst>
              </a:tr>
              <a:tr h="274320">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5</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体育委員</a:t>
                      </a:r>
                    </a:p>
                  </a:txBody>
                  <a:tcPr/>
                </a:tc>
                <a:extLst>
                  <a:ext uri="{0D108BD9-81ED-4DB2-BD59-A6C34878D82A}">
                    <a16:rowId xmlns:a16="http://schemas.microsoft.com/office/drawing/2014/main" val="10005"/>
                  </a:ext>
                </a:extLst>
              </a:tr>
            </a:tbl>
          </a:graphicData>
        </a:graphic>
      </p:graphicFrame>
      <p:sp>
        <p:nvSpPr>
          <p:cNvPr id="12" name="テキスト ボックス 11">
            <a:extLst>
              <a:ext uri="{FF2B5EF4-FFF2-40B4-BE49-F238E27FC236}">
                <a16:creationId xmlns:a16="http://schemas.microsoft.com/office/drawing/2014/main" id="{E370188D-119C-917D-EBFA-349C09EC34D4}"/>
              </a:ext>
            </a:extLst>
          </p:cNvPr>
          <p:cNvSpPr txBox="1"/>
          <p:nvPr/>
        </p:nvSpPr>
        <p:spPr>
          <a:xfrm>
            <a:off x="4347187" y="3741635"/>
            <a:ext cx="1204743" cy="307777"/>
          </a:xfrm>
          <a:prstGeom prst="rect">
            <a:avLst/>
          </a:prstGeom>
          <a:noFill/>
        </p:spPr>
        <p:txBody>
          <a:bodyPr wrap="square" rtlCol="0">
            <a:spAutoFit/>
          </a:bodyPr>
          <a:lstStyle/>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都道府県</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p:txBody>
      </p:sp>
      <p:graphicFrame>
        <p:nvGraphicFramePr>
          <p:cNvPr id="13" name="表 12">
            <a:extLst>
              <a:ext uri="{FF2B5EF4-FFF2-40B4-BE49-F238E27FC236}">
                <a16:creationId xmlns:a16="http://schemas.microsoft.com/office/drawing/2014/main" id="{D17BFC49-30BF-24AE-0888-D60F15F10086}"/>
              </a:ext>
            </a:extLst>
          </p:cNvPr>
          <p:cNvGraphicFramePr>
            <a:graphicFrameLocks noGrp="1"/>
          </p:cNvGraphicFramePr>
          <p:nvPr>
            <p:extLst>
              <p:ext uri="{D42A27DB-BD31-4B8C-83A1-F6EECF244321}">
                <p14:modId xmlns:p14="http://schemas.microsoft.com/office/powerpoint/2010/main" val="3162436184"/>
              </p:ext>
            </p:extLst>
          </p:nvPr>
        </p:nvGraphicFramePr>
        <p:xfrm>
          <a:off x="4347187" y="4118973"/>
          <a:ext cx="1886586" cy="1645920"/>
        </p:xfrm>
        <a:graphic>
          <a:graphicData uri="http://schemas.openxmlformats.org/drawingml/2006/table">
            <a:tbl>
              <a:tblPr firstRow="1" bandRow="1">
                <a:tableStyleId>{00A15C55-8517-42AA-B614-E9B94910E393}</a:tableStyleId>
              </a:tblPr>
              <a:tblGrid>
                <a:gridCol w="1041718">
                  <a:extLst>
                    <a:ext uri="{9D8B030D-6E8A-4147-A177-3AD203B41FA5}">
                      <a16:colId xmlns:a16="http://schemas.microsoft.com/office/drawing/2014/main" val="20000"/>
                    </a:ext>
                  </a:extLst>
                </a:gridCol>
                <a:gridCol w="844868">
                  <a:extLst>
                    <a:ext uri="{9D8B030D-6E8A-4147-A177-3AD203B41FA5}">
                      <a16:colId xmlns:a16="http://schemas.microsoft.com/office/drawing/2014/main" val="20001"/>
                    </a:ext>
                  </a:extLst>
                </a:gridCol>
              </a:tblGrid>
              <a:tr h="274320">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都道府県</a:t>
                      </a:r>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ID</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都道府県</a:t>
                      </a:r>
                    </a:p>
                  </a:txBody>
                  <a:tcPr/>
                </a:tc>
                <a:extLst>
                  <a:ext uri="{0D108BD9-81ED-4DB2-BD59-A6C34878D82A}">
                    <a16:rowId xmlns:a16="http://schemas.microsoft.com/office/drawing/2014/main" val="10000"/>
                  </a:ext>
                </a:extLst>
              </a:tr>
              <a:tr h="274320">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1</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北海道</a:t>
                      </a:r>
                    </a:p>
                  </a:txBody>
                  <a:tcPr/>
                </a:tc>
                <a:extLst>
                  <a:ext uri="{0D108BD9-81ED-4DB2-BD59-A6C34878D82A}">
                    <a16:rowId xmlns:a16="http://schemas.microsoft.com/office/drawing/2014/main" val="10001"/>
                  </a:ext>
                </a:extLst>
              </a:tr>
              <a:tr h="274320">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13</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東京都</a:t>
                      </a:r>
                    </a:p>
                  </a:txBody>
                  <a:tcPr/>
                </a:tc>
                <a:extLst>
                  <a:ext uri="{0D108BD9-81ED-4DB2-BD59-A6C34878D82A}">
                    <a16:rowId xmlns:a16="http://schemas.microsoft.com/office/drawing/2014/main" val="10002"/>
                  </a:ext>
                </a:extLst>
              </a:tr>
              <a:tr h="274320">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42</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長崎県</a:t>
                      </a:r>
                    </a:p>
                  </a:txBody>
                  <a:tcPr/>
                </a:tc>
                <a:extLst>
                  <a:ext uri="{0D108BD9-81ED-4DB2-BD59-A6C34878D82A}">
                    <a16:rowId xmlns:a16="http://schemas.microsoft.com/office/drawing/2014/main" val="10003"/>
                  </a:ext>
                </a:extLst>
              </a:tr>
              <a:tr h="274320">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46</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鹿児島県</a:t>
                      </a:r>
                      <a:endPar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extLst>
                  <a:ext uri="{0D108BD9-81ED-4DB2-BD59-A6C34878D82A}">
                    <a16:rowId xmlns:a16="http://schemas.microsoft.com/office/drawing/2014/main" val="10004"/>
                  </a:ext>
                </a:extLst>
              </a:tr>
              <a:tr h="274320">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47</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沖縄県</a:t>
                      </a:r>
                    </a:p>
                  </a:txBody>
                  <a:tcPr/>
                </a:tc>
                <a:extLst>
                  <a:ext uri="{0D108BD9-81ED-4DB2-BD59-A6C34878D82A}">
                    <a16:rowId xmlns:a16="http://schemas.microsoft.com/office/drawing/2014/main" val="10005"/>
                  </a:ext>
                </a:extLst>
              </a:tr>
            </a:tbl>
          </a:graphicData>
        </a:graphic>
      </p:graphicFrame>
      <p:sp>
        <p:nvSpPr>
          <p:cNvPr id="14" name="テキスト ボックス 13">
            <a:extLst>
              <a:ext uri="{FF2B5EF4-FFF2-40B4-BE49-F238E27FC236}">
                <a16:creationId xmlns:a16="http://schemas.microsoft.com/office/drawing/2014/main" id="{22BFDBAB-F0F2-FD00-2650-3F144768501A}"/>
              </a:ext>
            </a:extLst>
          </p:cNvPr>
          <p:cNvSpPr txBox="1"/>
          <p:nvPr/>
        </p:nvSpPr>
        <p:spPr>
          <a:xfrm>
            <a:off x="6665035" y="3741635"/>
            <a:ext cx="1204743" cy="307777"/>
          </a:xfrm>
          <a:prstGeom prst="rect">
            <a:avLst/>
          </a:prstGeom>
          <a:noFill/>
        </p:spPr>
        <p:txBody>
          <a:bodyPr wrap="square" rtlCol="0">
            <a:spAutoFit/>
          </a:bodyPr>
          <a:lstStyle/>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担任</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p:txBody>
      </p:sp>
      <p:graphicFrame>
        <p:nvGraphicFramePr>
          <p:cNvPr id="15" name="表 14">
            <a:extLst>
              <a:ext uri="{FF2B5EF4-FFF2-40B4-BE49-F238E27FC236}">
                <a16:creationId xmlns:a16="http://schemas.microsoft.com/office/drawing/2014/main" id="{8C84BE1C-8B28-548C-B93F-0DF709FF3784}"/>
              </a:ext>
            </a:extLst>
          </p:cNvPr>
          <p:cNvGraphicFramePr>
            <a:graphicFrameLocks noGrp="1"/>
          </p:cNvGraphicFramePr>
          <p:nvPr>
            <p:extLst>
              <p:ext uri="{D42A27DB-BD31-4B8C-83A1-F6EECF244321}">
                <p14:modId xmlns:p14="http://schemas.microsoft.com/office/powerpoint/2010/main" val="4090474198"/>
              </p:ext>
            </p:extLst>
          </p:nvPr>
        </p:nvGraphicFramePr>
        <p:xfrm>
          <a:off x="6665035" y="4118973"/>
          <a:ext cx="2083436" cy="1371600"/>
        </p:xfrm>
        <a:graphic>
          <a:graphicData uri="http://schemas.openxmlformats.org/drawingml/2006/table">
            <a:tbl>
              <a:tblPr firstRow="1" bandRow="1">
                <a:tableStyleId>{7DF18680-E054-41AD-8BC1-D1AEF772440D}</a:tableStyleId>
              </a:tblPr>
              <a:tblGrid>
                <a:gridCol w="1041718">
                  <a:extLst>
                    <a:ext uri="{9D8B030D-6E8A-4147-A177-3AD203B41FA5}">
                      <a16:colId xmlns:a16="http://schemas.microsoft.com/office/drawing/2014/main" val="20000"/>
                    </a:ext>
                  </a:extLst>
                </a:gridCol>
                <a:gridCol w="1041718">
                  <a:extLst>
                    <a:ext uri="{9D8B030D-6E8A-4147-A177-3AD203B41FA5}">
                      <a16:colId xmlns:a16="http://schemas.microsoft.com/office/drawing/2014/main" val="20001"/>
                    </a:ext>
                  </a:extLst>
                </a:gridCol>
              </a:tblGrid>
              <a:tr h="274320">
                <a:tc>
                  <a:txBody>
                    <a:bodyPr/>
                    <a:lstStyle/>
                    <a:p>
                      <a:r>
                        <a:rPr kumimoji="1" lang="ja-JP" altLang="en-US" sz="1200" dirty="0"/>
                        <a:t>担任</a:t>
                      </a:r>
                      <a:r>
                        <a:rPr kumimoji="1" lang="en-US" altLang="ja-JP" sz="1200" dirty="0"/>
                        <a:t>ID</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ja-JP" altLang="en-US" sz="1200" dirty="0"/>
                        <a:t>担任</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extLst>
                  <a:ext uri="{0D108BD9-81ED-4DB2-BD59-A6C34878D82A}">
                    <a16:rowId xmlns:a16="http://schemas.microsoft.com/office/drawing/2014/main" val="10000"/>
                  </a:ext>
                </a:extLst>
              </a:tr>
              <a:tr h="274320">
                <a:tc>
                  <a:txBody>
                    <a:bodyPr/>
                    <a:lstStyle/>
                    <a:p>
                      <a:r>
                        <a:rPr kumimoji="1" lang="en-US" altLang="ja-JP" sz="1200" dirty="0"/>
                        <a:t>1</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ja-JP" altLang="en-US" sz="1200" dirty="0"/>
                        <a:t>先生</a:t>
                      </a:r>
                      <a:r>
                        <a:rPr kumimoji="1" lang="en-US" altLang="ja-JP" sz="1200" dirty="0"/>
                        <a:t>A</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extLst>
                  <a:ext uri="{0D108BD9-81ED-4DB2-BD59-A6C34878D82A}">
                    <a16:rowId xmlns:a16="http://schemas.microsoft.com/office/drawing/2014/main" val="10001"/>
                  </a:ext>
                </a:extLst>
              </a:tr>
              <a:tr h="274320">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2</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ja-JP" altLang="en-US" sz="1200" dirty="0"/>
                        <a:t>先生</a:t>
                      </a:r>
                      <a:r>
                        <a:rPr kumimoji="1" lang="en-US" altLang="ja-JP" sz="1200" dirty="0"/>
                        <a:t>B</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extLst>
                  <a:ext uri="{0D108BD9-81ED-4DB2-BD59-A6C34878D82A}">
                    <a16:rowId xmlns:a16="http://schemas.microsoft.com/office/drawing/2014/main" val="10002"/>
                  </a:ext>
                </a:extLst>
              </a:tr>
              <a:tr h="274320">
                <a:tc>
                  <a:txBody>
                    <a:bodyPr/>
                    <a:lstStyle/>
                    <a:p>
                      <a:r>
                        <a:rPr kumimoji="1" lang="en-US" altLang="ja-JP" sz="1200" dirty="0"/>
                        <a:t>3</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ja-JP" altLang="en-US" sz="1200" dirty="0"/>
                        <a:t>先生</a:t>
                      </a:r>
                      <a:r>
                        <a:rPr kumimoji="1" lang="en-US" altLang="ja-JP" sz="1200" dirty="0"/>
                        <a:t>C</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extLst>
                  <a:ext uri="{0D108BD9-81ED-4DB2-BD59-A6C34878D82A}">
                    <a16:rowId xmlns:a16="http://schemas.microsoft.com/office/drawing/2014/main" val="10003"/>
                  </a:ext>
                </a:extLst>
              </a:tr>
              <a:tr h="274320">
                <a:tc>
                  <a:txBody>
                    <a:bodyPr/>
                    <a:lstStyle/>
                    <a:p>
                      <a:r>
                        <a:rPr kumimoji="1" lang="en-US" altLang="ja-JP" sz="1200" dirty="0"/>
                        <a:t>4</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ja-JP" altLang="en-US" sz="1200" dirty="0"/>
                        <a:t>先生</a:t>
                      </a:r>
                      <a:r>
                        <a:rPr kumimoji="1" lang="en-US" altLang="ja-JP" sz="1200" dirty="0"/>
                        <a:t>D</a:t>
                      </a:r>
                      <a:endPar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extLst>
                  <a:ext uri="{0D108BD9-81ED-4DB2-BD59-A6C34878D82A}">
                    <a16:rowId xmlns:a16="http://schemas.microsoft.com/office/drawing/2014/main" val="10004"/>
                  </a:ext>
                </a:extLst>
              </a:tr>
            </a:tbl>
          </a:graphicData>
        </a:graphic>
      </p:graphicFrame>
      <p:cxnSp>
        <p:nvCxnSpPr>
          <p:cNvPr id="16" name="カギ線コネクタ 14">
            <a:extLst>
              <a:ext uri="{FF2B5EF4-FFF2-40B4-BE49-F238E27FC236}">
                <a16:creationId xmlns:a16="http://schemas.microsoft.com/office/drawing/2014/main" id="{9A23866B-8DFF-0A51-F122-31B49D9F0842}"/>
              </a:ext>
            </a:extLst>
          </p:cNvPr>
          <p:cNvCxnSpPr/>
          <p:nvPr/>
        </p:nvCxnSpPr>
        <p:spPr>
          <a:xfrm rot="5400000">
            <a:off x="2885875" y="1036930"/>
            <a:ext cx="396000" cy="4392000"/>
          </a:xfrm>
          <a:prstGeom prst="bentConnector3">
            <a:avLst/>
          </a:prstGeom>
          <a:ln w="25400">
            <a:headEnd type="oval"/>
            <a:tailEnd type="oval"/>
          </a:ln>
        </p:spPr>
        <p:style>
          <a:lnRef idx="1">
            <a:schemeClr val="accent1"/>
          </a:lnRef>
          <a:fillRef idx="0">
            <a:schemeClr val="accent1"/>
          </a:fillRef>
          <a:effectRef idx="0">
            <a:schemeClr val="accent1"/>
          </a:effectRef>
          <a:fontRef idx="minor">
            <a:schemeClr val="tx1"/>
          </a:fontRef>
        </p:style>
      </p:cxnSp>
      <p:cxnSp>
        <p:nvCxnSpPr>
          <p:cNvPr id="17" name="カギ線コネクタ 19">
            <a:extLst>
              <a:ext uri="{FF2B5EF4-FFF2-40B4-BE49-F238E27FC236}">
                <a16:creationId xmlns:a16="http://schemas.microsoft.com/office/drawing/2014/main" id="{C3E79A67-BBCB-EBF8-8314-0DEA03A4282E}"/>
              </a:ext>
            </a:extLst>
          </p:cNvPr>
          <p:cNvCxnSpPr/>
          <p:nvPr/>
        </p:nvCxnSpPr>
        <p:spPr>
          <a:xfrm rot="5400000">
            <a:off x="4071328" y="1504930"/>
            <a:ext cx="396000" cy="3456000"/>
          </a:xfrm>
          <a:prstGeom prst="bentConnector3">
            <a:avLst>
              <a:gd name="adj1" fmla="val 74867"/>
            </a:avLst>
          </a:prstGeom>
          <a:ln w="25400">
            <a:headEnd type="oval"/>
            <a:tailEnd type="oval"/>
          </a:ln>
        </p:spPr>
        <p:style>
          <a:lnRef idx="1">
            <a:schemeClr val="accent1"/>
          </a:lnRef>
          <a:fillRef idx="0">
            <a:schemeClr val="accent1"/>
          </a:fillRef>
          <a:effectRef idx="0">
            <a:schemeClr val="accent1"/>
          </a:effectRef>
          <a:fontRef idx="minor">
            <a:schemeClr val="tx1"/>
          </a:fontRef>
        </p:style>
      </p:cxnSp>
      <p:cxnSp>
        <p:nvCxnSpPr>
          <p:cNvPr id="18" name="カギ線コネクタ 21">
            <a:extLst>
              <a:ext uri="{FF2B5EF4-FFF2-40B4-BE49-F238E27FC236}">
                <a16:creationId xmlns:a16="http://schemas.microsoft.com/office/drawing/2014/main" id="{04A7B003-B3BD-A7E1-513C-C4E7864DB938}"/>
              </a:ext>
            </a:extLst>
          </p:cNvPr>
          <p:cNvCxnSpPr/>
          <p:nvPr/>
        </p:nvCxnSpPr>
        <p:spPr>
          <a:xfrm rot="5400000">
            <a:off x="5481861" y="2206929"/>
            <a:ext cx="576000" cy="2232000"/>
          </a:xfrm>
          <a:prstGeom prst="bentConnector3">
            <a:avLst>
              <a:gd name="adj1" fmla="val 69657"/>
            </a:avLst>
          </a:prstGeom>
          <a:ln w="25400">
            <a:headEnd type="oval"/>
            <a:tailEnd type="oval"/>
          </a:ln>
        </p:spPr>
        <p:style>
          <a:lnRef idx="1">
            <a:schemeClr val="accent1"/>
          </a:lnRef>
          <a:fillRef idx="0">
            <a:schemeClr val="accent1"/>
          </a:fillRef>
          <a:effectRef idx="0">
            <a:schemeClr val="accent1"/>
          </a:effectRef>
          <a:fontRef idx="minor">
            <a:schemeClr val="tx1"/>
          </a:fontRef>
        </p:style>
      </p:cxnSp>
      <p:cxnSp>
        <p:nvCxnSpPr>
          <p:cNvPr id="19" name="カギ線コネクタ 24">
            <a:extLst>
              <a:ext uri="{FF2B5EF4-FFF2-40B4-BE49-F238E27FC236}">
                <a16:creationId xmlns:a16="http://schemas.microsoft.com/office/drawing/2014/main" id="{88604354-8F77-80DC-5767-3D29069DFA7A}"/>
              </a:ext>
            </a:extLst>
          </p:cNvPr>
          <p:cNvCxnSpPr/>
          <p:nvPr/>
        </p:nvCxnSpPr>
        <p:spPr>
          <a:xfrm rot="5400000">
            <a:off x="7311328" y="2692930"/>
            <a:ext cx="576000" cy="1260000"/>
          </a:xfrm>
          <a:prstGeom prst="bentConnector3">
            <a:avLst>
              <a:gd name="adj1" fmla="val 81868"/>
            </a:avLst>
          </a:prstGeom>
          <a:ln w="25400">
            <a:headEnd type="oval"/>
            <a:tail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974737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55464D5-A006-C3D3-33FB-BFB5A80ECA1F}"/>
              </a:ext>
            </a:extLst>
          </p:cNvPr>
          <p:cNvSpPr>
            <a:spLocks noGrp="1"/>
          </p:cNvSpPr>
          <p:nvPr>
            <p:ph type="title"/>
          </p:nvPr>
        </p:nvSpPr>
        <p:spPr/>
        <p:txBody>
          <a:bodyPr/>
          <a:lstStyle/>
          <a:p>
            <a:r>
              <a:rPr kumimoji="1" lang="en-US" altLang="ja-JP" dirty="0"/>
              <a:t>1. </a:t>
            </a:r>
            <a:r>
              <a:rPr kumimoji="1" lang="ja-JP" altLang="en-US" dirty="0"/>
              <a:t>データベースとは？</a:t>
            </a:r>
          </a:p>
        </p:txBody>
      </p:sp>
      <p:sp>
        <p:nvSpPr>
          <p:cNvPr id="3" name="スライド番号プレースホルダー 2">
            <a:extLst>
              <a:ext uri="{FF2B5EF4-FFF2-40B4-BE49-F238E27FC236}">
                <a16:creationId xmlns:a16="http://schemas.microsoft.com/office/drawing/2014/main" id="{32D7F3AE-6748-6B8D-9AF4-B576E7F98874}"/>
              </a:ext>
            </a:extLst>
          </p:cNvPr>
          <p:cNvSpPr>
            <a:spLocks noGrp="1"/>
          </p:cNvSpPr>
          <p:nvPr>
            <p:ph type="sldNum" sz="quarter" idx="12"/>
          </p:nvPr>
        </p:nvSpPr>
        <p:spPr/>
        <p:txBody>
          <a:bodyPr/>
          <a:lstStyle/>
          <a:p>
            <a:fld id="{0BDC6CC0-337C-4DEC-BAED-08CE4EABF7AC}" type="slidenum">
              <a:rPr lang="ja-JP" altLang="en-US" smtClean="0"/>
              <a:pPr/>
              <a:t>7</a:t>
            </a:fld>
            <a:endParaRPr lang="ja-JP" altLang="en-US" dirty="0"/>
          </a:p>
        </p:txBody>
      </p:sp>
      <p:sp>
        <p:nvSpPr>
          <p:cNvPr id="4" name="テキスト ボックス 3">
            <a:extLst>
              <a:ext uri="{FF2B5EF4-FFF2-40B4-BE49-F238E27FC236}">
                <a16:creationId xmlns:a16="http://schemas.microsoft.com/office/drawing/2014/main" id="{010C8FD8-2E00-E219-0EEB-BDC58F2EF9C7}"/>
              </a:ext>
            </a:extLst>
          </p:cNvPr>
          <p:cNvSpPr txBox="1"/>
          <p:nvPr/>
        </p:nvSpPr>
        <p:spPr>
          <a:xfrm>
            <a:off x="112541" y="576001"/>
            <a:ext cx="9636369" cy="307777"/>
          </a:xfrm>
          <a:prstGeom prst="rect">
            <a:avLst/>
          </a:prstGeom>
          <a:noFill/>
        </p:spPr>
        <p:txBody>
          <a:bodyPr wrap="square" rtlCol="0">
            <a:spAutoFit/>
          </a:bodyPr>
          <a:lstStyle/>
          <a:p>
            <a:r>
              <a:rPr lang="en-US" altLang="ja-JP" sz="1400" u="sng" dirty="0">
                <a:latin typeface="メイリオ" panose="020B0604030504040204" pitchFamily="50" charset="-128"/>
                <a:ea typeface="メイリオ" panose="020B0604030504040204" pitchFamily="50" charset="-128"/>
                <a:cs typeface="メイリオ" panose="020B0604030504040204" pitchFamily="50" charset="-128"/>
              </a:rPr>
              <a:t>1-5. </a:t>
            </a:r>
            <a:r>
              <a:rPr lang="ja-JP" altLang="en-US" sz="1400" u="sng" dirty="0">
                <a:latin typeface="メイリオ" panose="020B0604030504040204" pitchFamily="50" charset="-128"/>
                <a:ea typeface="メイリオ" panose="020B0604030504040204" pitchFamily="50" charset="-128"/>
                <a:cs typeface="メイリオ" panose="020B0604030504040204" pitchFamily="50" charset="-128"/>
              </a:rPr>
              <a:t>代表的なリレーショナルデータベース</a:t>
            </a:r>
            <a:endPar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5" name="テキスト ボックス 4">
            <a:extLst>
              <a:ext uri="{FF2B5EF4-FFF2-40B4-BE49-F238E27FC236}">
                <a16:creationId xmlns:a16="http://schemas.microsoft.com/office/drawing/2014/main" id="{8FC09471-9D5D-9230-017D-5CDA70BC05CF}"/>
              </a:ext>
            </a:extLst>
          </p:cNvPr>
          <p:cNvSpPr txBox="1"/>
          <p:nvPr/>
        </p:nvSpPr>
        <p:spPr>
          <a:xfrm>
            <a:off x="112541" y="953339"/>
            <a:ext cx="9636369" cy="2031325"/>
          </a:xfrm>
          <a:prstGeom prst="rect">
            <a:avLst/>
          </a:prstGeom>
          <a:noFill/>
        </p:spPr>
        <p:txBody>
          <a:bodyPr wrap="square" rtlCol="0">
            <a:spAutoFit/>
          </a:bodyPr>
          <a:lstStyle/>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現在、一般的によく使用されているリレーショナルデータベースの製品としては、以下のようなものがある。</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SQL Server</a:t>
            </a: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Oracle Database</a:t>
            </a: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MySQL</a:t>
            </a: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MariaDB</a:t>
            </a: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PostgreSQL</a:t>
            </a: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Microsoft Access</a:t>
            </a: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SQLite</a:t>
            </a:r>
          </a:p>
        </p:txBody>
      </p:sp>
    </p:spTree>
    <p:extLst>
      <p:ext uri="{BB962C8B-B14F-4D97-AF65-F5344CB8AC3E}">
        <p14:creationId xmlns:p14="http://schemas.microsoft.com/office/powerpoint/2010/main" val="5047544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8C3AB3-BC96-6FA4-A14C-85E3F4F049D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F644328-C353-4C54-066F-9687A1BFA539}"/>
              </a:ext>
            </a:extLst>
          </p:cNvPr>
          <p:cNvSpPr>
            <a:spLocks noGrp="1"/>
          </p:cNvSpPr>
          <p:nvPr>
            <p:ph type="title"/>
          </p:nvPr>
        </p:nvSpPr>
        <p:spPr/>
        <p:txBody>
          <a:bodyPr/>
          <a:lstStyle/>
          <a:p>
            <a:r>
              <a:rPr kumimoji="1" lang="en-US" altLang="ja-JP" dirty="0"/>
              <a:t>2. </a:t>
            </a:r>
            <a:r>
              <a:rPr kumimoji="1" lang="ja-JP" altLang="en-US" dirty="0"/>
              <a:t>データベースオブジェクト</a:t>
            </a:r>
          </a:p>
        </p:txBody>
      </p:sp>
      <p:sp>
        <p:nvSpPr>
          <p:cNvPr id="3" name="スライド番号プレースホルダー 2">
            <a:extLst>
              <a:ext uri="{FF2B5EF4-FFF2-40B4-BE49-F238E27FC236}">
                <a16:creationId xmlns:a16="http://schemas.microsoft.com/office/drawing/2014/main" id="{37E134E3-1FF4-C905-8CB6-1E87AAB7E9F5}"/>
              </a:ext>
            </a:extLst>
          </p:cNvPr>
          <p:cNvSpPr>
            <a:spLocks noGrp="1"/>
          </p:cNvSpPr>
          <p:nvPr>
            <p:ph type="sldNum" sz="quarter" idx="12"/>
          </p:nvPr>
        </p:nvSpPr>
        <p:spPr/>
        <p:txBody>
          <a:bodyPr/>
          <a:lstStyle/>
          <a:p>
            <a:fld id="{0BDC6CC0-337C-4DEC-BAED-08CE4EABF7AC}" type="slidenum">
              <a:rPr lang="ja-JP" altLang="en-US" smtClean="0"/>
              <a:pPr/>
              <a:t>8</a:t>
            </a:fld>
            <a:endParaRPr lang="ja-JP" altLang="en-US" dirty="0"/>
          </a:p>
        </p:txBody>
      </p:sp>
      <p:sp>
        <p:nvSpPr>
          <p:cNvPr id="4" name="テキスト ボックス 3">
            <a:extLst>
              <a:ext uri="{FF2B5EF4-FFF2-40B4-BE49-F238E27FC236}">
                <a16:creationId xmlns:a16="http://schemas.microsoft.com/office/drawing/2014/main" id="{B4648EA6-9735-DF40-15CF-732EEDF15C6F}"/>
              </a:ext>
            </a:extLst>
          </p:cNvPr>
          <p:cNvSpPr txBox="1"/>
          <p:nvPr/>
        </p:nvSpPr>
        <p:spPr>
          <a:xfrm>
            <a:off x="112541" y="576001"/>
            <a:ext cx="9636369" cy="307777"/>
          </a:xfrm>
          <a:prstGeom prst="rect">
            <a:avLst/>
          </a:prstGeom>
          <a:noFill/>
        </p:spPr>
        <p:txBody>
          <a:bodyPr wrap="square" rtlCol="0">
            <a:spAutoFit/>
          </a:bodyPr>
          <a:lstStyle/>
          <a:p>
            <a:r>
              <a:rPr lang="en-US" altLang="ja-JP" sz="1400" u="sng" dirty="0">
                <a:latin typeface="メイリオ" panose="020B0604030504040204" pitchFamily="50" charset="-128"/>
                <a:ea typeface="メイリオ" panose="020B0604030504040204" pitchFamily="50" charset="-128"/>
                <a:cs typeface="メイリオ" panose="020B0604030504040204" pitchFamily="50" charset="-128"/>
              </a:rPr>
              <a:t>2-1. </a:t>
            </a:r>
            <a:r>
              <a:rPr lang="ja-JP" altLang="en-US" sz="1400" u="sng" dirty="0">
                <a:latin typeface="メイリオ" panose="020B0604030504040204" pitchFamily="50" charset="-128"/>
                <a:ea typeface="メイリオ" panose="020B0604030504040204" pitchFamily="50" charset="-128"/>
                <a:cs typeface="メイリオ" panose="020B0604030504040204" pitchFamily="50" charset="-128"/>
              </a:rPr>
              <a:t>データベースオブジェクトとは</a:t>
            </a:r>
            <a:endParaRPr lang="ja-JP" altLang="en-US" sz="1400"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5" name="テキスト ボックス 4">
            <a:extLst>
              <a:ext uri="{FF2B5EF4-FFF2-40B4-BE49-F238E27FC236}">
                <a16:creationId xmlns:a16="http://schemas.microsoft.com/office/drawing/2014/main" id="{BA96516F-36E0-F219-51E9-F787DF770B9E}"/>
              </a:ext>
            </a:extLst>
          </p:cNvPr>
          <p:cNvSpPr txBox="1"/>
          <p:nvPr/>
        </p:nvSpPr>
        <p:spPr>
          <a:xfrm>
            <a:off x="112541" y="953339"/>
            <a:ext cx="9636369" cy="523220"/>
          </a:xfrm>
          <a:prstGeom prst="rect">
            <a:avLst/>
          </a:prstGeom>
          <a:noFill/>
        </p:spPr>
        <p:txBody>
          <a:bodyPr wrap="square" rtlCol="0">
            <a:spAutoFit/>
          </a:bodyPr>
          <a:lstStyle/>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データベース内の表などのオブジェクトのこと。扱われるオブジェクトの種類は、データベース製品により異な</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るが、それぞれ類似したものが存在する。</a:t>
            </a:r>
          </a:p>
        </p:txBody>
      </p:sp>
      <p:sp>
        <p:nvSpPr>
          <p:cNvPr id="6" name="テキスト ボックス 5">
            <a:extLst>
              <a:ext uri="{FF2B5EF4-FFF2-40B4-BE49-F238E27FC236}">
                <a16:creationId xmlns:a16="http://schemas.microsoft.com/office/drawing/2014/main" id="{A6B30839-8102-B467-A0EC-E0F32ACA1AAE}"/>
              </a:ext>
            </a:extLst>
          </p:cNvPr>
          <p:cNvSpPr txBox="1"/>
          <p:nvPr/>
        </p:nvSpPr>
        <p:spPr>
          <a:xfrm>
            <a:off x="112541" y="1546120"/>
            <a:ext cx="9636369" cy="307777"/>
          </a:xfrm>
          <a:prstGeom prst="rect">
            <a:avLst/>
          </a:prstGeom>
          <a:noFill/>
        </p:spPr>
        <p:txBody>
          <a:bodyPr wrap="square" rtlCol="0">
            <a:spAutoFit/>
          </a:bodyPr>
          <a:lstStyle/>
          <a:p>
            <a:r>
              <a:rPr lang="en-US" altLang="ja-JP" sz="1400" u="sng" dirty="0">
                <a:latin typeface="メイリオ" panose="020B0604030504040204" pitchFamily="50" charset="-128"/>
                <a:ea typeface="メイリオ" panose="020B0604030504040204" pitchFamily="50" charset="-128"/>
                <a:cs typeface="メイリオ" panose="020B0604030504040204" pitchFamily="50" charset="-128"/>
              </a:rPr>
              <a:t>2-2. </a:t>
            </a:r>
            <a:r>
              <a:rPr lang="ja-JP" altLang="en-US" sz="1400" u="sng" dirty="0">
                <a:latin typeface="メイリオ" panose="020B0604030504040204" pitchFamily="50" charset="-128"/>
                <a:ea typeface="メイリオ" panose="020B0604030504040204" pitchFamily="50" charset="-128"/>
                <a:cs typeface="メイリオ" panose="020B0604030504040204" pitchFamily="50" charset="-128"/>
              </a:rPr>
              <a:t>データベースの構造</a:t>
            </a:r>
            <a:endParaRPr lang="ja-JP" altLang="en-US" sz="1400"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7" name="テキスト ボックス 6">
            <a:extLst>
              <a:ext uri="{FF2B5EF4-FFF2-40B4-BE49-F238E27FC236}">
                <a16:creationId xmlns:a16="http://schemas.microsoft.com/office/drawing/2014/main" id="{32B59C85-6DA1-E408-ED82-CA2EC7458138}"/>
              </a:ext>
            </a:extLst>
          </p:cNvPr>
          <p:cNvSpPr txBox="1"/>
          <p:nvPr/>
        </p:nvSpPr>
        <p:spPr>
          <a:xfrm>
            <a:off x="112541" y="1923459"/>
            <a:ext cx="9636369" cy="738664"/>
          </a:xfrm>
          <a:prstGeom prst="rect">
            <a:avLst/>
          </a:prstGeom>
          <a:noFill/>
        </p:spPr>
        <p:txBody>
          <a:bodyPr wrap="square" rtlCol="0">
            <a:spAutoFit/>
          </a:bodyPr>
          <a:lstStyle/>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データベースは、いわゆるサーバー機に</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RDBMS</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製品をインストールし、その他の端末から接続することで使用</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することができる。</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RDBMS</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はサーバー機本体にのみ存在するため、データの一元化が可能となる。</a:t>
            </a:r>
          </a:p>
        </p:txBody>
      </p:sp>
      <p:pic>
        <p:nvPicPr>
          <p:cNvPr id="9" name="図 8">
            <a:extLst>
              <a:ext uri="{FF2B5EF4-FFF2-40B4-BE49-F238E27FC236}">
                <a16:creationId xmlns:a16="http://schemas.microsoft.com/office/drawing/2014/main" id="{D82E48C1-2FD9-8CDC-DA6B-B4BD2BFDFC72}"/>
              </a:ext>
            </a:extLst>
          </p:cNvPr>
          <p:cNvPicPr>
            <a:picLocks noChangeAspect="1"/>
          </p:cNvPicPr>
          <p:nvPr/>
        </p:nvPicPr>
        <p:blipFill>
          <a:blip r:embed="rId2"/>
          <a:stretch>
            <a:fillRect/>
          </a:stretch>
        </p:blipFill>
        <p:spPr>
          <a:xfrm>
            <a:off x="576000" y="2731685"/>
            <a:ext cx="3553321" cy="1438476"/>
          </a:xfrm>
          <a:prstGeom prst="rect">
            <a:avLst/>
          </a:prstGeom>
          <a:ln w="6350">
            <a:solidFill>
              <a:schemeClr val="bg1">
                <a:lumMod val="50000"/>
              </a:schemeClr>
            </a:solidFill>
          </a:ln>
        </p:spPr>
      </p:pic>
      <p:sp>
        <p:nvSpPr>
          <p:cNvPr id="10" name="正方形/長方形 9">
            <a:extLst>
              <a:ext uri="{FF2B5EF4-FFF2-40B4-BE49-F238E27FC236}">
                <a16:creationId xmlns:a16="http://schemas.microsoft.com/office/drawing/2014/main" id="{18F86415-DDFF-FED4-2EE4-AA7447F7E2C9}"/>
              </a:ext>
            </a:extLst>
          </p:cNvPr>
          <p:cNvSpPr/>
          <p:nvPr/>
        </p:nvSpPr>
        <p:spPr>
          <a:xfrm>
            <a:off x="584709" y="3097730"/>
            <a:ext cx="1800000" cy="1908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11" name="四角形吹き出し 20">
            <a:extLst>
              <a:ext uri="{FF2B5EF4-FFF2-40B4-BE49-F238E27FC236}">
                <a16:creationId xmlns:a16="http://schemas.microsoft.com/office/drawing/2014/main" id="{1D7D5857-C375-E1E1-8382-32E4D2732024}"/>
              </a:ext>
            </a:extLst>
          </p:cNvPr>
          <p:cNvSpPr/>
          <p:nvPr/>
        </p:nvSpPr>
        <p:spPr>
          <a:xfrm>
            <a:off x="2620970" y="2792648"/>
            <a:ext cx="1234277" cy="313790"/>
          </a:xfrm>
          <a:prstGeom prst="wedgeRectCallout">
            <a:avLst>
              <a:gd name="adj1" fmla="val -68703"/>
              <a:gd name="adj2" fmla="val 75950"/>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スキーマ</a:t>
            </a:r>
          </a:p>
        </p:txBody>
      </p:sp>
      <p:sp>
        <p:nvSpPr>
          <p:cNvPr id="12" name="正方形/長方形 11">
            <a:extLst>
              <a:ext uri="{FF2B5EF4-FFF2-40B4-BE49-F238E27FC236}">
                <a16:creationId xmlns:a16="http://schemas.microsoft.com/office/drawing/2014/main" id="{2B4354C8-5C2B-F901-FA55-6A5C40865270}"/>
              </a:ext>
            </a:extLst>
          </p:cNvPr>
          <p:cNvSpPr/>
          <p:nvPr/>
        </p:nvSpPr>
        <p:spPr>
          <a:xfrm>
            <a:off x="584709" y="3292086"/>
            <a:ext cx="1800000" cy="609353"/>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13" name="四角形吹き出し 20">
            <a:extLst>
              <a:ext uri="{FF2B5EF4-FFF2-40B4-BE49-F238E27FC236}">
                <a16:creationId xmlns:a16="http://schemas.microsoft.com/office/drawing/2014/main" id="{0FFD8F11-8369-EB3D-912E-E8F1B88E8126}"/>
              </a:ext>
            </a:extLst>
          </p:cNvPr>
          <p:cNvSpPr/>
          <p:nvPr/>
        </p:nvSpPr>
        <p:spPr>
          <a:xfrm>
            <a:off x="3107479" y="3780753"/>
            <a:ext cx="2412584" cy="313790"/>
          </a:xfrm>
          <a:prstGeom prst="wedgeRectCallout">
            <a:avLst>
              <a:gd name="adj1" fmla="val -79893"/>
              <a:gd name="adj2" fmla="val -101668"/>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データベースオブジェクト</a:t>
            </a:r>
          </a:p>
        </p:txBody>
      </p:sp>
      <p:sp>
        <p:nvSpPr>
          <p:cNvPr id="14" name="テキスト ボックス 13">
            <a:extLst>
              <a:ext uri="{FF2B5EF4-FFF2-40B4-BE49-F238E27FC236}">
                <a16:creationId xmlns:a16="http://schemas.microsoft.com/office/drawing/2014/main" id="{EADDD35B-AD93-87ED-CF34-E430748851B4}"/>
              </a:ext>
            </a:extLst>
          </p:cNvPr>
          <p:cNvSpPr txBox="1"/>
          <p:nvPr/>
        </p:nvSpPr>
        <p:spPr>
          <a:xfrm>
            <a:off x="4754881" y="2731685"/>
            <a:ext cx="4994029" cy="830997"/>
          </a:xfrm>
          <a:prstGeom prst="rect">
            <a:avLst/>
          </a:prstGeom>
          <a:noFill/>
          <a:ln>
            <a:solidFill>
              <a:schemeClr val="bg1">
                <a:lumMod val="50000"/>
              </a:schemeClr>
            </a:solidFill>
          </a:ln>
        </p:spPr>
        <p:txBody>
          <a:bodyPr wrap="square" rtlCol="0">
            <a:spAutoFit/>
          </a:bodyPr>
          <a:lstStyle/>
          <a:p>
            <a:r>
              <a:rPr lang="ja-JP" altLang="en-US" sz="1200" dirty="0">
                <a:latin typeface="メイリオ" panose="020B0604030504040204" pitchFamily="50" charset="-128"/>
                <a:ea typeface="メイリオ" panose="020B0604030504040204" pitchFamily="50" charset="-128"/>
                <a:cs typeface="メイリオ" panose="020B0604030504040204" pitchFamily="50" charset="-128"/>
              </a:rPr>
              <a:t>データベースの構造は、</a:t>
            </a:r>
            <a:r>
              <a:rPr lang="en-US" altLang="ja-JP" sz="1200" dirty="0">
                <a:latin typeface="メイリオ" panose="020B0604030504040204" pitchFamily="50" charset="-128"/>
                <a:ea typeface="メイリオ" panose="020B0604030504040204" pitchFamily="50" charset="-128"/>
                <a:cs typeface="メイリオ" panose="020B0604030504040204" pitchFamily="50" charset="-128"/>
              </a:rPr>
              <a:t>RDBMS</a:t>
            </a:r>
            <a:r>
              <a:rPr lang="ja-JP" altLang="en-US" sz="1200" dirty="0">
                <a:latin typeface="メイリオ" panose="020B0604030504040204" pitchFamily="50" charset="-128"/>
                <a:ea typeface="メイリオ" panose="020B0604030504040204" pitchFamily="50" charset="-128"/>
                <a:cs typeface="メイリオ" panose="020B0604030504040204" pitchFamily="50" charset="-128"/>
              </a:rPr>
              <a:t>製品により若干異なるが大部分は酷似している。</a:t>
            </a:r>
            <a:endParaRPr lang="en-US" altLang="ja-JP" sz="12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200" dirty="0">
                <a:latin typeface="メイリオ" panose="020B0604030504040204" pitchFamily="50" charset="-128"/>
                <a:ea typeface="メイリオ" panose="020B0604030504040204" pitchFamily="50" charset="-128"/>
                <a:cs typeface="メイリオ" panose="020B0604030504040204" pitchFamily="50" charset="-128"/>
              </a:rPr>
              <a:t>左記のように、</a:t>
            </a:r>
            <a:r>
              <a:rPr lang="en-US" altLang="ja-JP" sz="1200" dirty="0">
                <a:latin typeface="メイリオ" panose="020B0604030504040204" pitchFamily="50" charset="-128"/>
                <a:ea typeface="メイリオ" panose="020B0604030504040204" pitchFamily="50" charset="-128"/>
                <a:cs typeface="メイリオ" panose="020B0604030504040204" pitchFamily="50" charset="-128"/>
              </a:rPr>
              <a:t>RDBMS</a:t>
            </a:r>
            <a:r>
              <a:rPr lang="ja-JP" altLang="en-US" sz="1200" dirty="0">
                <a:latin typeface="メイリオ" panose="020B0604030504040204" pitchFamily="50" charset="-128"/>
                <a:ea typeface="メイリオ" panose="020B0604030504040204" pitchFamily="50" charset="-128"/>
                <a:cs typeface="メイリオ" panose="020B0604030504040204" pitchFamily="50" charset="-128"/>
              </a:rPr>
              <a:t>管理ツールで接続した際の見え方や呼び名は異なるが、一般的に以下の通りの構造となる。</a:t>
            </a:r>
            <a:endParaRPr lang="en-US" altLang="ja-JP" sz="1200"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15" name="テキスト ボックス 14">
            <a:extLst>
              <a:ext uri="{FF2B5EF4-FFF2-40B4-BE49-F238E27FC236}">
                <a16:creationId xmlns:a16="http://schemas.microsoft.com/office/drawing/2014/main" id="{AC8236B9-EB26-5A68-F1ED-B0C06C7DEC25}"/>
              </a:ext>
            </a:extLst>
          </p:cNvPr>
          <p:cNvSpPr txBox="1"/>
          <p:nvPr/>
        </p:nvSpPr>
        <p:spPr>
          <a:xfrm>
            <a:off x="112541" y="4240357"/>
            <a:ext cx="9636369" cy="307777"/>
          </a:xfrm>
          <a:prstGeom prst="rect">
            <a:avLst/>
          </a:prstGeom>
          <a:noFill/>
        </p:spPr>
        <p:txBody>
          <a:bodyPr wrap="square" rtlCol="0">
            <a:spAutoFit/>
          </a:bodyPr>
          <a:lstStyle/>
          <a:p>
            <a:r>
              <a:rPr lang="en-US" altLang="ja-JP" sz="1400" u="sng" dirty="0">
                <a:latin typeface="メイリオ" panose="020B0604030504040204" pitchFamily="50" charset="-128"/>
                <a:ea typeface="メイリオ" panose="020B0604030504040204" pitchFamily="50" charset="-128"/>
                <a:cs typeface="メイリオ" panose="020B0604030504040204" pitchFamily="50" charset="-128"/>
              </a:rPr>
              <a:t>2-3. </a:t>
            </a:r>
            <a:r>
              <a:rPr lang="ja-JP" altLang="en-US" sz="1400" u="sng" dirty="0">
                <a:latin typeface="メイリオ" panose="020B0604030504040204" pitchFamily="50" charset="-128"/>
                <a:ea typeface="メイリオ" panose="020B0604030504040204" pitchFamily="50" charset="-128"/>
                <a:cs typeface="メイリオ" panose="020B0604030504040204" pitchFamily="50" charset="-128"/>
              </a:rPr>
              <a:t>データベースオブジェクトの種類</a:t>
            </a:r>
            <a:endParaRPr lang="ja-JP" altLang="en-US" sz="1400"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16" name="テキスト ボックス 15">
            <a:extLst>
              <a:ext uri="{FF2B5EF4-FFF2-40B4-BE49-F238E27FC236}">
                <a16:creationId xmlns:a16="http://schemas.microsoft.com/office/drawing/2014/main" id="{4EFD71CE-9492-8109-AEFF-6F4DEE29FCE0}"/>
              </a:ext>
            </a:extLst>
          </p:cNvPr>
          <p:cNvSpPr txBox="1"/>
          <p:nvPr/>
        </p:nvSpPr>
        <p:spPr>
          <a:xfrm>
            <a:off x="112541" y="4611750"/>
            <a:ext cx="9636369" cy="1815882"/>
          </a:xfrm>
          <a:prstGeom prst="rect">
            <a:avLst/>
          </a:prstGeom>
          <a:noFill/>
        </p:spPr>
        <p:txBody>
          <a:bodyPr wrap="square" rtlCol="0">
            <a:spAutoFit/>
          </a:bodyPr>
          <a:lstStyle/>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よく耳にするデータベースオブジェクトの種類としては、以下のようなものがある。</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・テーブル </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実際にデータが格納される表のこと</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・ビュー </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複数のテーブルを組み合わせて必要なデータを取得するクエリと呼ばれるデータベース操作用</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のスクリプト言語を予め名前付きで保存したオブジェクトのこと</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・ストアド プロシージャ </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データベースに対する操作をプログラミングし、予め登録しておく</a:t>
            </a:r>
            <a:r>
              <a:rPr lang="ja-JP" altLang="en-US" sz="1400" dirty="0" err="1">
                <a:latin typeface="メイリオ" panose="020B0604030504040204" pitchFamily="50" charset="-128"/>
                <a:ea typeface="メイリオ" panose="020B0604030504040204" pitchFamily="50" charset="-128"/>
                <a:cs typeface="メイリオ" panose="020B0604030504040204" pitchFamily="50" charset="-128"/>
              </a:rPr>
              <a:t>戻り値のな</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a:t>
            </a:r>
            <a:r>
              <a:rPr lang="ja-JP" altLang="en-US" sz="1400" dirty="0" err="1">
                <a:latin typeface="メイリオ" panose="020B0604030504040204" pitchFamily="50" charset="-128"/>
                <a:ea typeface="メイリオ" panose="020B0604030504040204" pitchFamily="50" charset="-128"/>
                <a:cs typeface="メイリオ" panose="020B0604030504040204" pitchFamily="50" charset="-128"/>
              </a:rPr>
              <a:t>い</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関数のこと</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プログラムで言う、サブルーチンのようなもの</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24677751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064FFFB-50EA-923E-4817-144FE8F79AF1}"/>
              </a:ext>
            </a:extLst>
          </p:cNvPr>
          <p:cNvSpPr>
            <a:spLocks noGrp="1"/>
          </p:cNvSpPr>
          <p:nvPr>
            <p:ph type="title"/>
          </p:nvPr>
        </p:nvSpPr>
        <p:spPr/>
        <p:txBody>
          <a:bodyPr/>
          <a:lstStyle/>
          <a:p>
            <a:r>
              <a:rPr kumimoji="1" lang="en-US" altLang="ja-JP" dirty="0"/>
              <a:t>2. </a:t>
            </a:r>
            <a:r>
              <a:rPr kumimoji="1" lang="ja-JP" altLang="en-US" dirty="0"/>
              <a:t>データベースオブジェクト</a:t>
            </a:r>
          </a:p>
        </p:txBody>
      </p:sp>
      <p:sp>
        <p:nvSpPr>
          <p:cNvPr id="3" name="スライド番号プレースホルダー 2">
            <a:extLst>
              <a:ext uri="{FF2B5EF4-FFF2-40B4-BE49-F238E27FC236}">
                <a16:creationId xmlns:a16="http://schemas.microsoft.com/office/drawing/2014/main" id="{6A021C9A-9FE4-B867-3FBA-4F58F644D0B8}"/>
              </a:ext>
            </a:extLst>
          </p:cNvPr>
          <p:cNvSpPr>
            <a:spLocks noGrp="1"/>
          </p:cNvSpPr>
          <p:nvPr>
            <p:ph type="sldNum" sz="quarter" idx="12"/>
          </p:nvPr>
        </p:nvSpPr>
        <p:spPr/>
        <p:txBody>
          <a:bodyPr/>
          <a:lstStyle/>
          <a:p>
            <a:fld id="{0BDC6CC0-337C-4DEC-BAED-08CE4EABF7AC}" type="slidenum">
              <a:rPr lang="ja-JP" altLang="en-US" smtClean="0"/>
              <a:pPr/>
              <a:t>9</a:t>
            </a:fld>
            <a:endParaRPr lang="ja-JP" altLang="en-US" dirty="0"/>
          </a:p>
        </p:txBody>
      </p:sp>
      <p:sp>
        <p:nvSpPr>
          <p:cNvPr id="15" name="テキスト ボックス 14">
            <a:extLst>
              <a:ext uri="{FF2B5EF4-FFF2-40B4-BE49-F238E27FC236}">
                <a16:creationId xmlns:a16="http://schemas.microsoft.com/office/drawing/2014/main" id="{0754BADD-2EBF-3E09-B392-11811E9C8B35}"/>
              </a:ext>
            </a:extLst>
          </p:cNvPr>
          <p:cNvSpPr txBox="1"/>
          <p:nvPr/>
        </p:nvSpPr>
        <p:spPr>
          <a:xfrm>
            <a:off x="112541" y="576000"/>
            <a:ext cx="9636369" cy="307777"/>
          </a:xfrm>
          <a:prstGeom prst="rect">
            <a:avLst/>
          </a:prstGeom>
          <a:noFill/>
        </p:spPr>
        <p:txBody>
          <a:bodyPr wrap="square" rtlCol="0">
            <a:spAutoFit/>
          </a:bodyPr>
          <a:lstStyle/>
          <a:p>
            <a:r>
              <a:rPr lang="en-US" altLang="ja-JP" sz="1400" u="sng" dirty="0">
                <a:latin typeface="メイリオ" panose="020B0604030504040204" pitchFamily="50" charset="-128"/>
                <a:ea typeface="メイリオ" panose="020B0604030504040204" pitchFamily="50" charset="-128"/>
                <a:cs typeface="メイリオ" panose="020B0604030504040204" pitchFamily="50" charset="-128"/>
              </a:rPr>
              <a:t>2-3. </a:t>
            </a:r>
            <a:r>
              <a:rPr lang="ja-JP" altLang="en-US" sz="1400" u="sng" dirty="0">
                <a:latin typeface="メイリオ" panose="020B0604030504040204" pitchFamily="50" charset="-128"/>
                <a:ea typeface="メイリオ" panose="020B0604030504040204" pitchFamily="50" charset="-128"/>
                <a:cs typeface="メイリオ" panose="020B0604030504040204" pitchFamily="50" charset="-128"/>
              </a:rPr>
              <a:t>データベースオブジェクトの種類</a:t>
            </a:r>
            <a:endParaRPr lang="ja-JP" altLang="en-US" sz="1400"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16" name="テキスト ボックス 15">
            <a:extLst>
              <a:ext uri="{FF2B5EF4-FFF2-40B4-BE49-F238E27FC236}">
                <a16:creationId xmlns:a16="http://schemas.microsoft.com/office/drawing/2014/main" id="{516841B8-9520-62D5-BD3F-317BB8911EA4}"/>
              </a:ext>
            </a:extLst>
          </p:cNvPr>
          <p:cNvSpPr txBox="1"/>
          <p:nvPr/>
        </p:nvSpPr>
        <p:spPr>
          <a:xfrm>
            <a:off x="112541" y="953338"/>
            <a:ext cx="9636369" cy="2031325"/>
          </a:xfrm>
          <a:prstGeom prst="rect">
            <a:avLst/>
          </a:prstGeom>
          <a:noFill/>
        </p:spPr>
        <p:txBody>
          <a:bodyPr wrap="square" rtlCol="0">
            <a:spAutoFit/>
          </a:bodyPr>
          <a:lstStyle/>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・ストアド ファンクション </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データベースに対する操作をプログラミングし、予め登録しておく戻り値の</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ある関数のこと</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戻り値としては、スカラ値やテーブル値など指定することができる</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プログラムで言う、ファンクションのようなもの</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・トリガー </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特定のテーブルに対する操作を契機として、予め定義された処理を自動的に実行するオブジ</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a:t>
            </a:r>
            <a:r>
              <a:rPr lang="ja-JP" altLang="en-US" sz="1400" dirty="0" err="1">
                <a:latin typeface="メイリオ" panose="020B0604030504040204" pitchFamily="50" charset="-128"/>
                <a:ea typeface="メイリオ" panose="020B0604030504040204" pitchFamily="50" charset="-128"/>
                <a:cs typeface="メイリオ" panose="020B0604030504040204" pitchFamily="50" charset="-128"/>
              </a:rPr>
              <a:t>ェ</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クトのこと</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・データベースリンク </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複数のデータベースを接続し、操作するためのオブジェクトのこと</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       </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上記以外にも、様々なオブジェクトがあり、データベースを構成している。</a:t>
            </a:r>
          </a:p>
        </p:txBody>
      </p:sp>
    </p:spTree>
    <p:extLst>
      <p:ext uri="{BB962C8B-B14F-4D97-AF65-F5344CB8AC3E}">
        <p14:creationId xmlns:p14="http://schemas.microsoft.com/office/powerpoint/2010/main" val="34401503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A177C40-5462-EA7A-B168-31A4191E4815}"/>
              </a:ext>
            </a:extLst>
          </p:cNvPr>
          <p:cNvSpPr>
            <a:spLocks noGrp="1"/>
          </p:cNvSpPr>
          <p:nvPr>
            <p:ph type="title"/>
          </p:nvPr>
        </p:nvSpPr>
        <p:spPr/>
        <p:txBody>
          <a:bodyPr/>
          <a:lstStyle/>
          <a:p>
            <a:r>
              <a:rPr kumimoji="1" lang="en-US" altLang="ja-JP" dirty="0"/>
              <a:t>3. </a:t>
            </a:r>
            <a:r>
              <a:rPr kumimoji="1" lang="ja-JP" altLang="en-US" dirty="0"/>
              <a:t>テーブルについて</a:t>
            </a:r>
          </a:p>
        </p:txBody>
      </p:sp>
      <p:sp>
        <p:nvSpPr>
          <p:cNvPr id="3" name="スライド番号プレースホルダー 2">
            <a:extLst>
              <a:ext uri="{FF2B5EF4-FFF2-40B4-BE49-F238E27FC236}">
                <a16:creationId xmlns:a16="http://schemas.microsoft.com/office/drawing/2014/main" id="{B18CA813-E98B-D7FD-590D-D7F83716E3A8}"/>
              </a:ext>
            </a:extLst>
          </p:cNvPr>
          <p:cNvSpPr>
            <a:spLocks noGrp="1"/>
          </p:cNvSpPr>
          <p:nvPr>
            <p:ph type="sldNum" sz="quarter" idx="12"/>
          </p:nvPr>
        </p:nvSpPr>
        <p:spPr/>
        <p:txBody>
          <a:bodyPr/>
          <a:lstStyle/>
          <a:p>
            <a:fld id="{0BDC6CC0-337C-4DEC-BAED-08CE4EABF7AC}" type="slidenum">
              <a:rPr lang="ja-JP" altLang="en-US" smtClean="0"/>
              <a:pPr/>
              <a:t>10</a:t>
            </a:fld>
            <a:endParaRPr lang="ja-JP" altLang="en-US" dirty="0"/>
          </a:p>
        </p:txBody>
      </p:sp>
      <p:sp>
        <p:nvSpPr>
          <p:cNvPr id="4" name="テキスト ボックス 3">
            <a:extLst>
              <a:ext uri="{FF2B5EF4-FFF2-40B4-BE49-F238E27FC236}">
                <a16:creationId xmlns:a16="http://schemas.microsoft.com/office/drawing/2014/main" id="{C678202F-3CD1-0ECA-6C6F-F9245247B5C1}"/>
              </a:ext>
            </a:extLst>
          </p:cNvPr>
          <p:cNvSpPr txBox="1"/>
          <p:nvPr/>
        </p:nvSpPr>
        <p:spPr>
          <a:xfrm>
            <a:off x="112541" y="576001"/>
            <a:ext cx="9636369" cy="307777"/>
          </a:xfrm>
          <a:prstGeom prst="rect">
            <a:avLst/>
          </a:prstGeom>
          <a:noFill/>
        </p:spPr>
        <p:txBody>
          <a:bodyPr wrap="square" rtlCol="0">
            <a:spAutoFit/>
          </a:bodyPr>
          <a:lstStyle/>
          <a:p>
            <a:r>
              <a:rPr lang="en-US" altLang="ja-JP" sz="1400" u="sng" dirty="0">
                <a:latin typeface="メイリオ" panose="020B0604030504040204" pitchFamily="50" charset="-128"/>
                <a:ea typeface="メイリオ" panose="020B0604030504040204" pitchFamily="50" charset="-128"/>
                <a:cs typeface="メイリオ" panose="020B0604030504040204" pitchFamily="50" charset="-128"/>
              </a:rPr>
              <a:t>3-1. </a:t>
            </a:r>
            <a:r>
              <a:rPr lang="ja-JP" altLang="en-US" sz="1400" u="sng" dirty="0">
                <a:latin typeface="メイリオ" panose="020B0604030504040204" pitchFamily="50" charset="-128"/>
                <a:ea typeface="メイリオ" panose="020B0604030504040204" pitchFamily="50" charset="-128"/>
                <a:cs typeface="メイリオ" panose="020B0604030504040204" pitchFamily="50" charset="-128"/>
              </a:rPr>
              <a:t>テーブルとは</a:t>
            </a:r>
            <a:endParaRPr lang="ja-JP" altLang="en-US" sz="1400"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5" name="テキスト ボックス 4">
            <a:extLst>
              <a:ext uri="{FF2B5EF4-FFF2-40B4-BE49-F238E27FC236}">
                <a16:creationId xmlns:a16="http://schemas.microsoft.com/office/drawing/2014/main" id="{7A1FD34B-F799-5ADD-39FB-677D4A33078B}"/>
              </a:ext>
            </a:extLst>
          </p:cNvPr>
          <p:cNvSpPr txBox="1"/>
          <p:nvPr/>
        </p:nvSpPr>
        <p:spPr>
          <a:xfrm>
            <a:off x="112541" y="953339"/>
            <a:ext cx="9636369" cy="307777"/>
          </a:xfrm>
          <a:prstGeom prst="rect">
            <a:avLst/>
          </a:prstGeom>
          <a:noFill/>
        </p:spPr>
        <p:txBody>
          <a:bodyPr wrap="square" rtlCol="0">
            <a:spAutoFit/>
          </a:bodyPr>
          <a:lstStyle/>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特定の条件に該当するデータを格納するための表形式のオブジェクト。</a:t>
            </a:r>
          </a:p>
        </p:txBody>
      </p:sp>
      <p:pic>
        <p:nvPicPr>
          <p:cNvPr id="7" name="図 6">
            <a:extLst>
              <a:ext uri="{FF2B5EF4-FFF2-40B4-BE49-F238E27FC236}">
                <a16:creationId xmlns:a16="http://schemas.microsoft.com/office/drawing/2014/main" id="{600BFB73-5E59-6A9E-6EBD-93197858BD09}"/>
              </a:ext>
            </a:extLst>
          </p:cNvPr>
          <p:cNvPicPr>
            <a:picLocks noChangeAspect="1"/>
          </p:cNvPicPr>
          <p:nvPr/>
        </p:nvPicPr>
        <p:blipFill>
          <a:blip r:embed="rId2"/>
          <a:stretch>
            <a:fillRect/>
          </a:stretch>
        </p:blipFill>
        <p:spPr>
          <a:xfrm>
            <a:off x="576002" y="1330679"/>
            <a:ext cx="9065255" cy="1839058"/>
          </a:xfrm>
          <a:prstGeom prst="rect">
            <a:avLst/>
          </a:prstGeom>
          <a:ln w="6350">
            <a:solidFill>
              <a:schemeClr val="bg1">
                <a:lumMod val="50000"/>
              </a:schemeClr>
            </a:solidFill>
          </a:ln>
        </p:spPr>
      </p:pic>
      <p:sp>
        <p:nvSpPr>
          <p:cNvPr id="8" name="テキスト ボックス 7">
            <a:extLst>
              <a:ext uri="{FF2B5EF4-FFF2-40B4-BE49-F238E27FC236}">
                <a16:creationId xmlns:a16="http://schemas.microsoft.com/office/drawing/2014/main" id="{5B89A5CC-DA7F-AD63-C51F-F9FDCA6CB1F6}"/>
              </a:ext>
            </a:extLst>
          </p:cNvPr>
          <p:cNvSpPr txBox="1"/>
          <p:nvPr/>
        </p:nvSpPr>
        <p:spPr>
          <a:xfrm>
            <a:off x="112541" y="3239300"/>
            <a:ext cx="9636369" cy="307777"/>
          </a:xfrm>
          <a:prstGeom prst="rect">
            <a:avLst/>
          </a:prstGeom>
          <a:noFill/>
        </p:spPr>
        <p:txBody>
          <a:bodyPr wrap="square" rtlCol="0">
            <a:spAutoFit/>
          </a:bodyPr>
          <a:lstStyle/>
          <a:p>
            <a:r>
              <a:rPr lang="en-US" altLang="ja-JP" sz="1400" u="sng" dirty="0">
                <a:latin typeface="メイリオ" panose="020B0604030504040204" pitchFamily="50" charset="-128"/>
                <a:ea typeface="メイリオ" panose="020B0604030504040204" pitchFamily="50" charset="-128"/>
                <a:cs typeface="メイリオ" panose="020B0604030504040204" pitchFamily="50" charset="-128"/>
              </a:rPr>
              <a:t>3-2. </a:t>
            </a:r>
            <a:r>
              <a:rPr lang="ja-JP" altLang="en-US" sz="1400" u="sng" dirty="0">
                <a:latin typeface="メイリオ" panose="020B0604030504040204" pitchFamily="50" charset="-128"/>
                <a:ea typeface="メイリオ" panose="020B0604030504040204" pitchFamily="50" charset="-128"/>
                <a:cs typeface="メイリオ" panose="020B0604030504040204" pitchFamily="50" charset="-128"/>
              </a:rPr>
              <a:t>テーブルの構造について</a:t>
            </a:r>
            <a:endParaRPr lang="ja-JP" altLang="en-US" sz="1400"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 name="テキスト ボックス 8">
            <a:extLst>
              <a:ext uri="{FF2B5EF4-FFF2-40B4-BE49-F238E27FC236}">
                <a16:creationId xmlns:a16="http://schemas.microsoft.com/office/drawing/2014/main" id="{CC33B3D7-3EAA-B8F7-FCC5-E03928749200}"/>
              </a:ext>
            </a:extLst>
          </p:cNvPr>
          <p:cNvSpPr txBox="1"/>
          <p:nvPr/>
        </p:nvSpPr>
        <p:spPr>
          <a:xfrm>
            <a:off x="112541" y="3616640"/>
            <a:ext cx="9636369" cy="2246769"/>
          </a:xfrm>
          <a:prstGeom prst="rect">
            <a:avLst/>
          </a:prstGeom>
          <a:noFill/>
        </p:spPr>
        <p:txBody>
          <a:bodyPr wrap="square" rtlCol="0">
            <a:spAutoFit/>
          </a:bodyPr>
          <a:lstStyle/>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テーブルは、表の列</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フィールド：</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Field)</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を定義することで、そのテーブルの形式</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レイアウト</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を決定すること</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ができる。</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フィールドを定義する際には、</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　　　・フィールド名</a:t>
            </a:r>
            <a:endPar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　　　・フィールド型</a:t>
            </a:r>
            <a:endPar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　　　・桁数</a:t>
            </a:r>
            <a:endPar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　　　・初期値</a:t>
            </a:r>
            <a:endPar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NULL</a:t>
            </a:r>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許容</a:t>
            </a:r>
            <a:endPar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などの設定値があり、使用する</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RDBMS</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により異なる。</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NULL</a:t>
            </a:r>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とは </a:t>
            </a:r>
            <a:r>
              <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 「何もない」と言う意味。文字通り、空っぽの状態のこと。</a:t>
            </a:r>
            <a:endPar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17210557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65648E0-D154-4AAB-CA53-7535E699E4FA}"/>
              </a:ext>
            </a:extLst>
          </p:cNvPr>
          <p:cNvSpPr>
            <a:spLocks noGrp="1"/>
          </p:cNvSpPr>
          <p:nvPr>
            <p:ph type="title"/>
          </p:nvPr>
        </p:nvSpPr>
        <p:spPr/>
        <p:txBody>
          <a:bodyPr/>
          <a:lstStyle/>
          <a:p>
            <a:r>
              <a:rPr kumimoji="1" lang="en-US" altLang="ja-JP" dirty="0"/>
              <a:t>3. </a:t>
            </a:r>
            <a:r>
              <a:rPr kumimoji="1" lang="ja-JP" altLang="en-US" dirty="0"/>
              <a:t>テーブルについて</a:t>
            </a:r>
          </a:p>
        </p:txBody>
      </p:sp>
      <p:sp>
        <p:nvSpPr>
          <p:cNvPr id="3" name="スライド番号プレースホルダー 2">
            <a:extLst>
              <a:ext uri="{FF2B5EF4-FFF2-40B4-BE49-F238E27FC236}">
                <a16:creationId xmlns:a16="http://schemas.microsoft.com/office/drawing/2014/main" id="{3419ABEE-8027-9E00-B213-6C3001D29269}"/>
              </a:ext>
            </a:extLst>
          </p:cNvPr>
          <p:cNvSpPr>
            <a:spLocks noGrp="1"/>
          </p:cNvSpPr>
          <p:nvPr>
            <p:ph type="sldNum" sz="quarter" idx="12"/>
          </p:nvPr>
        </p:nvSpPr>
        <p:spPr/>
        <p:txBody>
          <a:bodyPr/>
          <a:lstStyle/>
          <a:p>
            <a:fld id="{0BDC6CC0-337C-4DEC-BAED-08CE4EABF7AC}" type="slidenum">
              <a:rPr lang="ja-JP" altLang="en-US" smtClean="0"/>
              <a:pPr/>
              <a:t>11</a:t>
            </a:fld>
            <a:endParaRPr lang="ja-JP" altLang="en-US" dirty="0"/>
          </a:p>
        </p:txBody>
      </p:sp>
      <p:sp>
        <p:nvSpPr>
          <p:cNvPr id="4" name="テキスト ボックス 3">
            <a:extLst>
              <a:ext uri="{FF2B5EF4-FFF2-40B4-BE49-F238E27FC236}">
                <a16:creationId xmlns:a16="http://schemas.microsoft.com/office/drawing/2014/main" id="{63B96A7E-14A3-F632-C596-1BDD5E1E00D2}"/>
              </a:ext>
            </a:extLst>
          </p:cNvPr>
          <p:cNvSpPr txBox="1"/>
          <p:nvPr/>
        </p:nvSpPr>
        <p:spPr>
          <a:xfrm>
            <a:off x="112541" y="576001"/>
            <a:ext cx="9636369" cy="307777"/>
          </a:xfrm>
          <a:prstGeom prst="rect">
            <a:avLst/>
          </a:prstGeom>
          <a:noFill/>
        </p:spPr>
        <p:txBody>
          <a:bodyPr wrap="square" rtlCol="0">
            <a:spAutoFit/>
          </a:bodyPr>
          <a:lstStyle/>
          <a:p>
            <a:r>
              <a:rPr lang="en-US" altLang="ja-JP" sz="1400" u="sng" dirty="0">
                <a:latin typeface="メイリオ" panose="020B0604030504040204" pitchFamily="50" charset="-128"/>
                <a:ea typeface="メイリオ" panose="020B0604030504040204" pitchFamily="50" charset="-128"/>
                <a:cs typeface="メイリオ" panose="020B0604030504040204" pitchFamily="50" charset="-128"/>
              </a:rPr>
              <a:t>3-3. </a:t>
            </a:r>
            <a:r>
              <a:rPr lang="ja-JP" altLang="en-US" sz="1400" u="sng" dirty="0">
                <a:latin typeface="メイリオ" panose="020B0604030504040204" pitchFamily="50" charset="-128"/>
                <a:ea typeface="メイリオ" panose="020B0604030504040204" pitchFamily="50" charset="-128"/>
                <a:cs typeface="メイリオ" panose="020B0604030504040204" pitchFamily="50" charset="-128"/>
              </a:rPr>
              <a:t>フィールドの型について</a:t>
            </a:r>
            <a:endParaRPr lang="ja-JP" altLang="en-US" sz="1400"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5" name="テキスト ボックス 4">
            <a:extLst>
              <a:ext uri="{FF2B5EF4-FFF2-40B4-BE49-F238E27FC236}">
                <a16:creationId xmlns:a16="http://schemas.microsoft.com/office/drawing/2014/main" id="{01301378-3395-259C-62A1-FDCB62B5EE60}"/>
              </a:ext>
            </a:extLst>
          </p:cNvPr>
          <p:cNvSpPr txBox="1"/>
          <p:nvPr/>
        </p:nvSpPr>
        <p:spPr>
          <a:xfrm>
            <a:off x="112541" y="953338"/>
            <a:ext cx="9636369" cy="1384995"/>
          </a:xfrm>
          <a:prstGeom prst="rect">
            <a:avLst/>
          </a:prstGeom>
          <a:noFill/>
        </p:spPr>
        <p:txBody>
          <a:bodyPr wrap="square" rtlCol="0">
            <a:spAutoFit/>
          </a:bodyPr>
          <a:lstStyle/>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テーブルのフィールに定義できるフィールドの型で、代表多岐なものとして以下のものがある。</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　　　・文字列型 </a:t>
            </a:r>
            <a:r>
              <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char, varchar, text, </a:t>
            </a:r>
            <a:r>
              <a:rPr lang="en-US" altLang="ja-JP" sz="1400" b="1" dirty="0" err="1">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nchar</a:t>
            </a:r>
            <a:r>
              <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400" b="1" dirty="0" err="1">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nvarchar</a:t>
            </a:r>
            <a:r>
              <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400" b="1" dirty="0" err="1">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ntext</a:t>
            </a:r>
            <a:r>
              <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 </a:t>
            </a:r>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など</a:t>
            </a:r>
            <a:endPar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　　　・数値型 </a:t>
            </a:r>
            <a:r>
              <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400" b="1" dirty="0" err="1">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int</a:t>
            </a:r>
            <a:r>
              <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 decimal, </a:t>
            </a:r>
            <a:r>
              <a:rPr lang="en-US" altLang="ja-JP" sz="1400" b="1" dirty="0" err="1">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bigint</a:t>
            </a:r>
            <a:r>
              <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 float, real </a:t>
            </a:r>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など</a:t>
            </a:r>
            <a:endPar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　　　・日付型 </a:t>
            </a:r>
            <a:r>
              <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date, </a:t>
            </a:r>
            <a:r>
              <a:rPr lang="en-US" altLang="ja-JP" sz="1400" b="1" dirty="0" err="1">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datetime</a:t>
            </a:r>
            <a:r>
              <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 timespan </a:t>
            </a:r>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など</a:t>
            </a:r>
            <a:endPar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　　　・バイナリー型 </a:t>
            </a:r>
            <a:r>
              <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binary, </a:t>
            </a:r>
            <a:r>
              <a:rPr lang="en-US" altLang="ja-JP" sz="1400" b="1" dirty="0" err="1">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varbinary</a:t>
            </a:r>
            <a:r>
              <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 blob </a:t>
            </a:r>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など</a:t>
            </a:r>
            <a:endPar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endParaRPr>
          </a:p>
          <a:p>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       </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その他にも</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RDBMS</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ごとに様々な型を指定することができる。</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 name="テキスト ボックス 5">
            <a:extLst>
              <a:ext uri="{FF2B5EF4-FFF2-40B4-BE49-F238E27FC236}">
                <a16:creationId xmlns:a16="http://schemas.microsoft.com/office/drawing/2014/main" id="{C5CC3CFC-09EA-748D-58DF-870E389BDE30}"/>
              </a:ext>
            </a:extLst>
          </p:cNvPr>
          <p:cNvSpPr txBox="1"/>
          <p:nvPr/>
        </p:nvSpPr>
        <p:spPr>
          <a:xfrm>
            <a:off x="112541" y="2407895"/>
            <a:ext cx="9636369" cy="307777"/>
          </a:xfrm>
          <a:prstGeom prst="rect">
            <a:avLst/>
          </a:prstGeom>
          <a:noFill/>
        </p:spPr>
        <p:txBody>
          <a:bodyPr wrap="square" rtlCol="0">
            <a:spAutoFit/>
          </a:bodyPr>
          <a:lstStyle/>
          <a:p>
            <a:r>
              <a:rPr lang="en-US" altLang="ja-JP" sz="1400" u="sng" dirty="0">
                <a:latin typeface="メイリオ" panose="020B0604030504040204" pitchFamily="50" charset="-128"/>
                <a:ea typeface="メイリオ" panose="020B0604030504040204" pitchFamily="50" charset="-128"/>
                <a:cs typeface="メイリオ" panose="020B0604030504040204" pitchFamily="50" charset="-128"/>
              </a:rPr>
              <a:t>3-4. </a:t>
            </a:r>
            <a:r>
              <a:rPr lang="ja-JP" altLang="en-US" sz="1400" u="sng" dirty="0">
                <a:latin typeface="メイリオ" panose="020B0604030504040204" pitchFamily="50" charset="-128"/>
                <a:ea typeface="メイリオ" panose="020B0604030504040204" pitchFamily="50" charset="-128"/>
                <a:cs typeface="メイリオ" panose="020B0604030504040204" pitchFamily="50" charset="-128"/>
              </a:rPr>
              <a:t>テーブルのキー項目について</a:t>
            </a:r>
            <a:endParaRPr lang="ja-JP" altLang="en-US" sz="1400"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7" name="テキスト ボックス 6">
            <a:extLst>
              <a:ext uri="{FF2B5EF4-FFF2-40B4-BE49-F238E27FC236}">
                <a16:creationId xmlns:a16="http://schemas.microsoft.com/office/drawing/2014/main" id="{1C5D8CF4-FAC9-FF86-F47E-AEF68C6C4880}"/>
              </a:ext>
            </a:extLst>
          </p:cNvPr>
          <p:cNvSpPr txBox="1"/>
          <p:nvPr/>
        </p:nvSpPr>
        <p:spPr>
          <a:xfrm>
            <a:off x="112541" y="2785232"/>
            <a:ext cx="9636369" cy="2462213"/>
          </a:xfrm>
          <a:prstGeom prst="rect">
            <a:avLst/>
          </a:prstGeom>
          <a:noFill/>
        </p:spPr>
        <p:txBody>
          <a:bodyPr wrap="square" rtlCol="0">
            <a:spAutoFit/>
          </a:bodyPr>
          <a:lstStyle/>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キー項目とは、テーブルでデータを特定する際に鍵となるフィールドのことを言う。</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キー項目の種類としては、以下のようなものがある。</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　　　・主キー</a:t>
            </a:r>
            <a:r>
              <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プライマリキー</a:t>
            </a:r>
            <a:r>
              <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 対象のテーブル内で該当の行</a:t>
            </a:r>
            <a:r>
              <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レコード</a:t>
            </a:r>
            <a:r>
              <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が一意</a:t>
            </a:r>
            <a:r>
              <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ユニーク</a:t>
            </a:r>
            <a:r>
              <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になるためのフィール</a:t>
            </a:r>
            <a:endPar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                                                  ドのこと</a:t>
            </a:r>
            <a:endPar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　　　・外部キー </a:t>
            </a:r>
            <a:r>
              <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 他のテーブルとの紐付けを行うためのフィールドのこと</a:t>
            </a:r>
            <a:endPar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　　　・インデックスキー </a:t>
            </a:r>
            <a:r>
              <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 ある特定の条件の検索を行う際の鍵となるフィールドのこと</a:t>
            </a:r>
            <a:endPar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endParaRPr>
          </a:p>
          <a:p>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主キーには、</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NULL</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を許容しないという制約が必ず付き、主キー＝外部キーとなる場合もある。</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外部キーは、</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ER</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図を作成する際の結合条件となるフィールドとなる。</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通常、データベース設計を行う際には、上記のようなキー項目を考慮しつつ、複数のテーブル同士の関連性</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リ</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レーション</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を考え、正規化された構造を設計していく。</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24938696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D82115B-F6B4-0CC6-33B9-9CEE20907EE1}"/>
              </a:ext>
            </a:extLst>
          </p:cNvPr>
          <p:cNvSpPr>
            <a:spLocks noGrp="1"/>
          </p:cNvSpPr>
          <p:nvPr>
            <p:ph type="title"/>
          </p:nvPr>
        </p:nvSpPr>
        <p:spPr/>
        <p:txBody>
          <a:bodyPr/>
          <a:lstStyle/>
          <a:p>
            <a:r>
              <a:rPr kumimoji="1" lang="en-US" altLang="ja-JP" dirty="0"/>
              <a:t>4. </a:t>
            </a:r>
            <a:r>
              <a:rPr kumimoji="1" lang="ja-JP" altLang="en-US" dirty="0"/>
              <a:t>データベースの操作と管理</a:t>
            </a:r>
          </a:p>
        </p:txBody>
      </p:sp>
      <p:sp>
        <p:nvSpPr>
          <p:cNvPr id="3" name="スライド番号プレースホルダー 2">
            <a:extLst>
              <a:ext uri="{FF2B5EF4-FFF2-40B4-BE49-F238E27FC236}">
                <a16:creationId xmlns:a16="http://schemas.microsoft.com/office/drawing/2014/main" id="{EE8CEABF-F414-82F7-64FF-2B9B0626A457}"/>
              </a:ext>
            </a:extLst>
          </p:cNvPr>
          <p:cNvSpPr>
            <a:spLocks noGrp="1"/>
          </p:cNvSpPr>
          <p:nvPr>
            <p:ph type="sldNum" sz="quarter" idx="12"/>
          </p:nvPr>
        </p:nvSpPr>
        <p:spPr/>
        <p:txBody>
          <a:bodyPr/>
          <a:lstStyle/>
          <a:p>
            <a:fld id="{0BDC6CC0-337C-4DEC-BAED-08CE4EABF7AC}" type="slidenum">
              <a:rPr lang="ja-JP" altLang="en-US" smtClean="0"/>
              <a:pPr/>
              <a:t>12</a:t>
            </a:fld>
            <a:endParaRPr lang="ja-JP" altLang="en-US" dirty="0"/>
          </a:p>
        </p:txBody>
      </p:sp>
      <p:sp>
        <p:nvSpPr>
          <p:cNvPr id="4" name="テキスト ボックス 3">
            <a:extLst>
              <a:ext uri="{FF2B5EF4-FFF2-40B4-BE49-F238E27FC236}">
                <a16:creationId xmlns:a16="http://schemas.microsoft.com/office/drawing/2014/main" id="{3AE4DF02-9835-FC7D-2F44-AFA7CE8FF6E2}"/>
              </a:ext>
            </a:extLst>
          </p:cNvPr>
          <p:cNvSpPr txBox="1"/>
          <p:nvPr/>
        </p:nvSpPr>
        <p:spPr>
          <a:xfrm>
            <a:off x="112541" y="576001"/>
            <a:ext cx="9636369" cy="307777"/>
          </a:xfrm>
          <a:prstGeom prst="rect">
            <a:avLst/>
          </a:prstGeom>
          <a:noFill/>
        </p:spPr>
        <p:txBody>
          <a:bodyPr wrap="square" rtlCol="0">
            <a:spAutoFit/>
          </a:bodyPr>
          <a:lstStyle/>
          <a:p>
            <a:r>
              <a:rPr lang="en-US" altLang="ja-JP" sz="1400" u="sng" dirty="0">
                <a:latin typeface="メイリオ" panose="020B0604030504040204" pitchFamily="50" charset="-128"/>
                <a:ea typeface="メイリオ" panose="020B0604030504040204" pitchFamily="50" charset="-128"/>
                <a:cs typeface="メイリオ" panose="020B0604030504040204" pitchFamily="50" charset="-128"/>
              </a:rPr>
              <a:t>4-1. </a:t>
            </a:r>
            <a:r>
              <a:rPr lang="ja-JP" altLang="en-US" sz="1400" u="sng" dirty="0">
                <a:latin typeface="メイリオ" panose="020B0604030504040204" pitchFamily="50" charset="-128"/>
                <a:ea typeface="メイリオ" panose="020B0604030504040204" pitchFamily="50" charset="-128"/>
                <a:cs typeface="メイリオ" panose="020B0604030504040204" pitchFamily="50" charset="-128"/>
              </a:rPr>
              <a:t>データベースへの接続について</a:t>
            </a:r>
            <a:endParaRPr lang="ja-JP" altLang="en-US" sz="1400"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5" name="テキスト ボックス 4">
            <a:extLst>
              <a:ext uri="{FF2B5EF4-FFF2-40B4-BE49-F238E27FC236}">
                <a16:creationId xmlns:a16="http://schemas.microsoft.com/office/drawing/2014/main" id="{A09BF4CA-EE10-0BCB-9461-AB6B0D260DD9}"/>
              </a:ext>
            </a:extLst>
          </p:cNvPr>
          <p:cNvSpPr txBox="1"/>
          <p:nvPr/>
        </p:nvSpPr>
        <p:spPr>
          <a:xfrm>
            <a:off x="112541" y="953338"/>
            <a:ext cx="9636369" cy="3323987"/>
          </a:xfrm>
          <a:prstGeom prst="rect">
            <a:avLst/>
          </a:prstGeom>
          <a:noFill/>
        </p:spPr>
        <p:txBody>
          <a:bodyPr wrap="square" rtlCol="0">
            <a:spAutoFit/>
          </a:bodyPr>
          <a:lstStyle/>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データベースを操作するには、対象のデータベースに対して接続する必要があり、その際には原則ユーザー認証</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ユーザー名・パスワード</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が必要となります。</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また、同様に接続の際には、接続の宛先情報</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接続するサーバー・接続するスキーマ</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を指定する必要があります。</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上記のような、データベース操作をするためにデータベースに接続するための鍵となる情報を集めた文字列を接</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続文字列</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(Connection String)</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と言う。</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接続文字列で指定するパラメータは様々なものがあり、代表的なものとして以下のようなものがある。</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　　　・インスタンス</a:t>
            </a:r>
            <a:r>
              <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接続するサーバー情報</a:t>
            </a:r>
            <a:r>
              <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Data Source(SQL Server)</a:t>
            </a:r>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a:t>
            </a:r>
            <a:r>
              <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Server(MySQL</a:t>
            </a:r>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a:t>
            </a:r>
            <a:r>
              <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PostgreSQL)</a:t>
            </a:r>
          </a:p>
          <a:p>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　　　・ポート</a:t>
            </a:r>
            <a:r>
              <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接続する際に使用するポート番号</a:t>
            </a:r>
            <a:r>
              <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 … Port(MySQL</a:t>
            </a:r>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a:t>
            </a:r>
            <a:r>
              <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PostgreSQL)</a:t>
            </a:r>
          </a:p>
          <a:p>
            <a:r>
              <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200" b="1" u="sng"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200" b="1" u="sng"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200" b="1" u="sng"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SQL</a:t>
            </a:r>
            <a:r>
              <a:rPr lang="ja-JP" altLang="en-US" sz="1200" b="1" u="sng"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200" b="1" u="sng"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Server</a:t>
            </a:r>
            <a:r>
              <a:rPr lang="ja-JP" altLang="en-US" sz="1200" b="1" u="sng"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の場合には、「インスタンス名 </a:t>
            </a:r>
            <a:r>
              <a:rPr lang="en-US" altLang="ja-JP" sz="1200" b="1" u="sng"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 </a:t>
            </a:r>
            <a:r>
              <a:rPr lang="ja-JP" altLang="en-US" sz="1200" b="1" u="sng"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a:t>
            </a:r>
            <a:r>
              <a:rPr lang="en-US" altLang="ja-JP" sz="1200" b="1" u="sng"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 + </a:t>
            </a:r>
            <a:r>
              <a:rPr lang="ja-JP" altLang="en-US" sz="1200" b="1" u="sng"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ポート番号」の形式で指定する</a:t>
            </a:r>
            <a:endParaRPr lang="en-US" altLang="ja-JP" sz="1200" b="1" u="sng"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　　　・データベース</a:t>
            </a:r>
            <a:r>
              <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対象データベース</a:t>
            </a:r>
            <a:r>
              <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 … Initial Catalog(SQL Server)</a:t>
            </a:r>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a:t>
            </a:r>
            <a:r>
              <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Database(MySQL</a:t>
            </a:r>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a:t>
            </a:r>
            <a:r>
              <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PostgreSQL)</a:t>
            </a:r>
          </a:p>
          <a:p>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　　　・ユーザー名 </a:t>
            </a:r>
            <a:r>
              <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 User ID(SQL Server)</a:t>
            </a:r>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a:t>
            </a:r>
            <a:r>
              <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User(MySQL)</a:t>
            </a:r>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a:t>
            </a:r>
            <a:r>
              <a:rPr lang="en-US" altLang="ja-JP" sz="1400" b="1" dirty="0" err="1">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UserId</a:t>
            </a:r>
            <a:r>
              <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(PostgreSQL)</a:t>
            </a:r>
          </a:p>
          <a:p>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　　　・パスワード </a:t>
            </a:r>
            <a:r>
              <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 Password(SQL Server</a:t>
            </a:r>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a:t>
            </a:r>
            <a:r>
              <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MySQL</a:t>
            </a:r>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a:t>
            </a:r>
            <a:r>
              <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PostgreSQL)</a:t>
            </a:r>
          </a:p>
          <a:p>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      </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その他にも、使用する</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RDBMS</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の種類や設定ごとに様々なパラメータが存在する。</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 name="テキスト ボックス 5">
            <a:extLst>
              <a:ext uri="{FF2B5EF4-FFF2-40B4-BE49-F238E27FC236}">
                <a16:creationId xmlns:a16="http://schemas.microsoft.com/office/drawing/2014/main" id="{32E59DB3-F15C-204F-8EA4-4283096B5A29}"/>
              </a:ext>
            </a:extLst>
          </p:cNvPr>
          <p:cNvSpPr txBox="1"/>
          <p:nvPr/>
        </p:nvSpPr>
        <p:spPr>
          <a:xfrm>
            <a:off x="112541" y="4346885"/>
            <a:ext cx="9636369" cy="307777"/>
          </a:xfrm>
          <a:prstGeom prst="rect">
            <a:avLst/>
          </a:prstGeom>
          <a:noFill/>
        </p:spPr>
        <p:txBody>
          <a:bodyPr wrap="square" rtlCol="0">
            <a:spAutoFit/>
          </a:bodyPr>
          <a:lstStyle/>
          <a:p>
            <a:r>
              <a:rPr lang="en-US" altLang="ja-JP" sz="1400" u="sng" dirty="0">
                <a:latin typeface="メイリオ" panose="020B0604030504040204" pitchFamily="50" charset="-128"/>
                <a:ea typeface="メイリオ" panose="020B0604030504040204" pitchFamily="50" charset="-128"/>
                <a:cs typeface="メイリオ" panose="020B0604030504040204" pitchFamily="50" charset="-128"/>
              </a:rPr>
              <a:t>4-2. </a:t>
            </a:r>
            <a:r>
              <a:rPr lang="ja-JP" altLang="en-US" sz="1400" u="sng" dirty="0">
                <a:latin typeface="メイリオ" panose="020B0604030504040204" pitchFamily="50" charset="-128"/>
                <a:ea typeface="メイリオ" panose="020B0604030504040204" pitchFamily="50" charset="-128"/>
                <a:cs typeface="メイリオ" panose="020B0604030504040204" pitchFamily="50" charset="-128"/>
              </a:rPr>
              <a:t>データベースの操作について</a:t>
            </a:r>
            <a:endParaRPr lang="ja-JP" altLang="en-US" sz="1400"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7" name="テキスト ボックス 6">
            <a:extLst>
              <a:ext uri="{FF2B5EF4-FFF2-40B4-BE49-F238E27FC236}">
                <a16:creationId xmlns:a16="http://schemas.microsoft.com/office/drawing/2014/main" id="{25D68520-545F-051F-18EE-200F12E9A04E}"/>
              </a:ext>
            </a:extLst>
          </p:cNvPr>
          <p:cNvSpPr txBox="1"/>
          <p:nvPr/>
        </p:nvSpPr>
        <p:spPr>
          <a:xfrm>
            <a:off x="112541" y="4717882"/>
            <a:ext cx="9636369" cy="1384995"/>
          </a:xfrm>
          <a:prstGeom prst="rect">
            <a:avLst/>
          </a:prstGeom>
          <a:noFill/>
        </p:spPr>
        <p:txBody>
          <a:bodyPr wrap="square" rtlCol="0">
            <a:spAutoFit/>
          </a:bodyPr>
          <a:lstStyle/>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データベースを操作するに当り、上記のようにユーザー認証を使用して接続し、操作する必要があるが、</a:t>
            </a:r>
            <a:r>
              <a:rPr lang="ja-JP" altLang="en-US" sz="1400" dirty="0" err="1">
                <a:latin typeface="メイリオ" panose="020B0604030504040204" pitchFamily="50" charset="-128"/>
                <a:ea typeface="メイリオ" panose="020B0604030504040204" pitchFamily="50" charset="-128"/>
                <a:cs typeface="メイリオ" panose="020B0604030504040204" pitchFamily="50" charset="-128"/>
              </a:rPr>
              <a:t>接続す</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a:t>
            </a:r>
            <a:r>
              <a:rPr lang="ja-JP" altLang="en-US" sz="1400" dirty="0" err="1">
                <a:latin typeface="メイリオ" panose="020B0604030504040204" pitchFamily="50" charset="-128"/>
                <a:ea typeface="メイリオ" panose="020B0604030504040204" pitchFamily="50" charset="-128"/>
                <a:cs typeface="メイリオ" panose="020B0604030504040204" pitchFamily="50" charset="-128"/>
              </a:rPr>
              <a:t>る</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為のツールが必要となる。</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原則、ほとんどの</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RDBMS</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が</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Windows</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のコマンドプロンプトや</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Linux</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Mac</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のターミナルツールを使用して</a:t>
            </a:r>
            <a:r>
              <a:rPr lang="ja-JP" altLang="en-US" sz="1400" dirty="0" err="1">
                <a:latin typeface="メイリオ" panose="020B0604030504040204" pitchFamily="50" charset="-128"/>
                <a:ea typeface="メイリオ" panose="020B0604030504040204" pitchFamily="50" charset="-128"/>
                <a:cs typeface="メイリオ" panose="020B0604030504040204" pitchFamily="50" charset="-128"/>
              </a:rPr>
              <a:t>操作す</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a:t>
            </a:r>
            <a:r>
              <a:rPr lang="ja-JP" altLang="en-US" sz="1400" dirty="0" err="1">
                <a:latin typeface="メイリオ" panose="020B0604030504040204" pitchFamily="50" charset="-128"/>
                <a:ea typeface="メイリオ" panose="020B0604030504040204" pitchFamily="50" charset="-128"/>
                <a:cs typeface="メイリオ" panose="020B0604030504040204" pitchFamily="50" charset="-128"/>
              </a:rPr>
              <a:t>る</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ことが可能である。</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ただし、このようなツールを使用して操作するためには、様々な操作コマンドを駆使して操作する必要があり、</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高度な知識が必要となる。</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29700992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DF48F5A-501B-1A7A-F647-AACF648582E7}"/>
              </a:ext>
            </a:extLst>
          </p:cNvPr>
          <p:cNvSpPr>
            <a:spLocks noGrp="1"/>
          </p:cNvSpPr>
          <p:nvPr>
            <p:ph type="title"/>
          </p:nvPr>
        </p:nvSpPr>
        <p:spPr/>
        <p:txBody>
          <a:bodyPr/>
          <a:lstStyle/>
          <a:p>
            <a:r>
              <a:rPr kumimoji="1" lang="en-US" altLang="ja-JP" dirty="0"/>
              <a:t>4. </a:t>
            </a:r>
            <a:r>
              <a:rPr kumimoji="1" lang="ja-JP" altLang="en-US" dirty="0"/>
              <a:t>データベースの操作と管理</a:t>
            </a:r>
          </a:p>
        </p:txBody>
      </p:sp>
      <p:sp>
        <p:nvSpPr>
          <p:cNvPr id="3" name="スライド番号プレースホルダー 2">
            <a:extLst>
              <a:ext uri="{FF2B5EF4-FFF2-40B4-BE49-F238E27FC236}">
                <a16:creationId xmlns:a16="http://schemas.microsoft.com/office/drawing/2014/main" id="{5999FD4F-098E-FD7B-CA03-4DA9261434C8}"/>
              </a:ext>
            </a:extLst>
          </p:cNvPr>
          <p:cNvSpPr>
            <a:spLocks noGrp="1"/>
          </p:cNvSpPr>
          <p:nvPr>
            <p:ph type="sldNum" sz="quarter" idx="12"/>
          </p:nvPr>
        </p:nvSpPr>
        <p:spPr/>
        <p:txBody>
          <a:bodyPr/>
          <a:lstStyle/>
          <a:p>
            <a:fld id="{0BDC6CC0-337C-4DEC-BAED-08CE4EABF7AC}" type="slidenum">
              <a:rPr lang="ja-JP" altLang="en-US" smtClean="0"/>
              <a:pPr/>
              <a:t>13</a:t>
            </a:fld>
            <a:endParaRPr lang="ja-JP" altLang="en-US" dirty="0"/>
          </a:p>
        </p:txBody>
      </p:sp>
      <p:pic>
        <p:nvPicPr>
          <p:cNvPr id="5" name="図 4">
            <a:extLst>
              <a:ext uri="{FF2B5EF4-FFF2-40B4-BE49-F238E27FC236}">
                <a16:creationId xmlns:a16="http://schemas.microsoft.com/office/drawing/2014/main" id="{BE57AF2C-17BE-D37D-F194-86DC4EF301E1}"/>
              </a:ext>
            </a:extLst>
          </p:cNvPr>
          <p:cNvPicPr>
            <a:picLocks noChangeAspect="1"/>
          </p:cNvPicPr>
          <p:nvPr/>
        </p:nvPicPr>
        <p:blipFill>
          <a:blip r:embed="rId2"/>
          <a:stretch>
            <a:fillRect/>
          </a:stretch>
        </p:blipFill>
        <p:spPr>
          <a:xfrm>
            <a:off x="576009" y="953351"/>
            <a:ext cx="6373114" cy="3589521"/>
          </a:xfrm>
          <a:prstGeom prst="rect">
            <a:avLst/>
          </a:prstGeom>
        </p:spPr>
      </p:pic>
      <p:sp>
        <p:nvSpPr>
          <p:cNvPr id="6" name="テキスト ボックス 5">
            <a:extLst>
              <a:ext uri="{FF2B5EF4-FFF2-40B4-BE49-F238E27FC236}">
                <a16:creationId xmlns:a16="http://schemas.microsoft.com/office/drawing/2014/main" id="{E9F9A9AA-88F1-FA2D-18E5-9F28589A4106}"/>
              </a:ext>
            </a:extLst>
          </p:cNvPr>
          <p:cNvSpPr txBox="1"/>
          <p:nvPr/>
        </p:nvSpPr>
        <p:spPr>
          <a:xfrm>
            <a:off x="112541" y="576001"/>
            <a:ext cx="9636369" cy="307777"/>
          </a:xfrm>
          <a:prstGeom prst="rect">
            <a:avLst/>
          </a:prstGeom>
          <a:noFill/>
        </p:spPr>
        <p:txBody>
          <a:bodyPr wrap="square" rtlCol="0">
            <a:spAutoFit/>
          </a:bodyPr>
          <a:lstStyle/>
          <a:p>
            <a:r>
              <a:rPr lang="en-US" altLang="ja-JP" sz="1400" u="sng" dirty="0">
                <a:latin typeface="メイリオ" panose="020B0604030504040204" pitchFamily="50" charset="-128"/>
                <a:ea typeface="メイリオ" panose="020B0604030504040204" pitchFamily="50" charset="-128"/>
                <a:cs typeface="メイリオ" panose="020B0604030504040204" pitchFamily="50" charset="-128"/>
              </a:rPr>
              <a:t>4-2. </a:t>
            </a:r>
            <a:r>
              <a:rPr lang="ja-JP" altLang="en-US" sz="1400" u="sng" dirty="0">
                <a:latin typeface="メイリオ" panose="020B0604030504040204" pitchFamily="50" charset="-128"/>
                <a:ea typeface="メイリオ" panose="020B0604030504040204" pitchFamily="50" charset="-128"/>
                <a:cs typeface="メイリオ" panose="020B0604030504040204" pitchFamily="50" charset="-128"/>
              </a:rPr>
              <a:t>データベースの操作について</a:t>
            </a:r>
            <a:endParaRPr lang="ja-JP" altLang="en-US" sz="1400"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7" name="テキスト ボックス 6">
            <a:extLst>
              <a:ext uri="{FF2B5EF4-FFF2-40B4-BE49-F238E27FC236}">
                <a16:creationId xmlns:a16="http://schemas.microsoft.com/office/drawing/2014/main" id="{C1653A44-0F8E-F453-B55F-F94652C14296}"/>
              </a:ext>
            </a:extLst>
          </p:cNvPr>
          <p:cNvSpPr txBox="1"/>
          <p:nvPr/>
        </p:nvSpPr>
        <p:spPr>
          <a:xfrm>
            <a:off x="112541" y="4612445"/>
            <a:ext cx="9636369" cy="1169551"/>
          </a:xfrm>
          <a:prstGeom prst="rect">
            <a:avLst/>
          </a:prstGeom>
          <a:noFill/>
        </p:spPr>
        <p:txBody>
          <a:bodyPr wrap="square" rtlCol="0">
            <a:spAutoFit/>
          </a:bodyPr>
          <a:lstStyle/>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上記のようにコマンドライン上でパラメータを指定してコマンドを実行することにより、データベースに接続で</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き、データベースを操作できる。</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このようなコマンドライン上での操作は、前述の通り高度な知識が必要となり、操作性が悪かったり、誤ったコ</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マンドを実行することで事故が発生したりと不便であるため、各</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RDBMS</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ごとにデータベース管理ツールが準備</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されている。</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29064449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4B9E145-F735-F8B1-E902-1A3F2065C1B6}"/>
              </a:ext>
            </a:extLst>
          </p:cNvPr>
          <p:cNvSpPr>
            <a:spLocks noGrp="1"/>
          </p:cNvSpPr>
          <p:nvPr>
            <p:ph type="title"/>
          </p:nvPr>
        </p:nvSpPr>
        <p:spPr/>
        <p:txBody>
          <a:bodyPr/>
          <a:lstStyle/>
          <a:p>
            <a:r>
              <a:rPr kumimoji="1" lang="en-US" altLang="ja-JP" dirty="0"/>
              <a:t>5. </a:t>
            </a:r>
            <a:r>
              <a:rPr kumimoji="1" lang="ja-JP" altLang="en-US" dirty="0"/>
              <a:t>データベースとプログラミング</a:t>
            </a:r>
          </a:p>
        </p:txBody>
      </p:sp>
      <p:sp>
        <p:nvSpPr>
          <p:cNvPr id="3" name="スライド番号プレースホルダー 2">
            <a:extLst>
              <a:ext uri="{FF2B5EF4-FFF2-40B4-BE49-F238E27FC236}">
                <a16:creationId xmlns:a16="http://schemas.microsoft.com/office/drawing/2014/main" id="{021B804D-7E34-4260-04E0-90726B3F77E8}"/>
              </a:ext>
            </a:extLst>
          </p:cNvPr>
          <p:cNvSpPr>
            <a:spLocks noGrp="1"/>
          </p:cNvSpPr>
          <p:nvPr>
            <p:ph type="sldNum" sz="quarter" idx="12"/>
          </p:nvPr>
        </p:nvSpPr>
        <p:spPr/>
        <p:txBody>
          <a:bodyPr/>
          <a:lstStyle/>
          <a:p>
            <a:fld id="{0BDC6CC0-337C-4DEC-BAED-08CE4EABF7AC}" type="slidenum">
              <a:rPr lang="ja-JP" altLang="en-US" smtClean="0"/>
              <a:pPr/>
              <a:t>14</a:t>
            </a:fld>
            <a:endParaRPr lang="ja-JP" altLang="en-US" dirty="0"/>
          </a:p>
        </p:txBody>
      </p:sp>
      <p:sp>
        <p:nvSpPr>
          <p:cNvPr id="4" name="テキスト ボックス 3">
            <a:extLst>
              <a:ext uri="{FF2B5EF4-FFF2-40B4-BE49-F238E27FC236}">
                <a16:creationId xmlns:a16="http://schemas.microsoft.com/office/drawing/2014/main" id="{B906A99D-06F0-2559-022D-44F21A7C4FCB}"/>
              </a:ext>
            </a:extLst>
          </p:cNvPr>
          <p:cNvSpPr txBox="1"/>
          <p:nvPr/>
        </p:nvSpPr>
        <p:spPr>
          <a:xfrm>
            <a:off x="112541" y="576001"/>
            <a:ext cx="9636369" cy="307777"/>
          </a:xfrm>
          <a:prstGeom prst="rect">
            <a:avLst/>
          </a:prstGeom>
          <a:noFill/>
        </p:spPr>
        <p:txBody>
          <a:bodyPr wrap="square" rtlCol="0">
            <a:spAutoFit/>
          </a:bodyPr>
          <a:lstStyle/>
          <a:p>
            <a:r>
              <a:rPr lang="en-US" altLang="ja-JP" sz="1400" u="sng" dirty="0">
                <a:latin typeface="メイリオ" panose="020B0604030504040204" pitchFamily="50" charset="-128"/>
                <a:ea typeface="メイリオ" panose="020B0604030504040204" pitchFamily="50" charset="-128"/>
                <a:cs typeface="メイリオ" panose="020B0604030504040204" pitchFamily="50" charset="-128"/>
              </a:rPr>
              <a:t>5-1. </a:t>
            </a:r>
            <a:r>
              <a:rPr lang="ja-JP" altLang="en-US" sz="1400" u="sng" dirty="0">
                <a:latin typeface="メイリオ" panose="020B0604030504040204" pitchFamily="50" charset="-128"/>
                <a:ea typeface="メイリオ" panose="020B0604030504040204" pitchFamily="50" charset="-128"/>
                <a:cs typeface="メイリオ" panose="020B0604030504040204" pitchFamily="50" charset="-128"/>
              </a:rPr>
              <a:t>プログラム言語によるデータベースへの接続について</a:t>
            </a:r>
            <a:endParaRPr lang="ja-JP" altLang="en-US" sz="1400"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5" name="テキスト ボックス 4">
            <a:extLst>
              <a:ext uri="{FF2B5EF4-FFF2-40B4-BE49-F238E27FC236}">
                <a16:creationId xmlns:a16="http://schemas.microsoft.com/office/drawing/2014/main" id="{54415005-D849-46C6-E57E-CC101C1AF77D}"/>
              </a:ext>
            </a:extLst>
          </p:cNvPr>
          <p:cNvSpPr txBox="1"/>
          <p:nvPr/>
        </p:nvSpPr>
        <p:spPr>
          <a:xfrm>
            <a:off x="112541" y="953339"/>
            <a:ext cx="9636369" cy="523220"/>
          </a:xfrm>
          <a:prstGeom prst="rect">
            <a:avLst/>
          </a:prstGeom>
          <a:noFill/>
        </p:spPr>
        <p:txBody>
          <a:bodyPr wrap="square" rtlCol="0">
            <a:spAutoFit/>
          </a:bodyPr>
          <a:lstStyle/>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これまで説明してきたように</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PC</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上のツールでは、データベースの操作を容易に行うことができるが、我々が作成</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するプログラム言語ではどのようにデータベースの操作を行っているのだろうか？</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 name="テキスト ボックス 5">
            <a:extLst>
              <a:ext uri="{FF2B5EF4-FFF2-40B4-BE49-F238E27FC236}">
                <a16:creationId xmlns:a16="http://schemas.microsoft.com/office/drawing/2014/main" id="{07BBE45A-25D0-094B-FAF5-7CA1CFF6CDA1}"/>
              </a:ext>
            </a:extLst>
          </p:cNvPr>
          <p:cNvSpPr txBox="1"/>
          <p:nvPr/>
        </p:nvSpPr>
        <p:spPr>
          <a:xfrm>
            <a:off x="112541" y="1476559"/>
            <a:ext cx="9636369" cy="954107"/>
          </a:xfrm>
          <a:prstGeom prst="rect">
            <a:avLst/>
          </a:prstGeom>
          <a:noFill/>
        </p:spPr>
        <p:txBody>
          <a:bodyPr wrap="square" rtlCol="0">
            <a:spAutoFit/>
          </a:bodyPr>
          <a:lstStyle/>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我々が作成するプログラム言語</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a:t>
            </a:r>
            <a:r>
              <a:rPr lang="en-US" altLang="ja-JP" sz="1400" dirty="0" err="1">
                <a:latin typeface="メイリオ" panose="020B0604030504040204" pitchFamily="50" charset="-128"/>
                <a:ea typeface="メイリオ" panose="020B0604030504040204" pitchFamily="50" charset="-128"/>
                <a:cs typeface="メイリオ" panose="020B0604030504040204" pitchFamily="50" charset="-128"/>
              </a:rPr>
              <a:t>VB.Net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a:t>
            </a:r>
            <a:r>
              <a:rPr lang="en-US" altLang="ja-JP" sz="1400" dirty="0" err="1">
                <a:latin typeface="メイリオ" panose="020B0604030504040204" pitchFamily="50" charset="-128"/>
                <a:ea typeface="メイリオ" panose="020B0604030504040204" pitchFamily="50" charset="-128"/>
                <a:cs typeface="メイリオ" panose="020B0604030504040204" pitchFamily="50" charset="-128"/>
              </a:rPr>
              <a:t>C#.Net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PHP</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Java</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など</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では、それ単体ではデータベースの操作</a:t>
            </a:r>
            <a:r>
              <a:rPr lang="ja-JP" altLang="en-US" sz="1400" dirty="0" err="1">
                <a:latin typeface="メイリオ" panose="020B0604030504040204" pitchFamily="50" charset="-128"/>
                <a:ea typeface="メイリオ" panose="020B0604030504040204" pitchFamily="50" charset="-128"/>
                <a:cs typeface="メイリオ" panose="020B0604030504040204" pitchFamily="50" charset="-128"/>
              </a:rPr>
              <a:t>お</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ろか、データベースへの接続すら行うことができない。</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データベースの接続には、数種類の規格があり、それぞれにプログラム言語とデータベースをつなぐミドルウェ</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ア</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データベースプロバイダやデータベースドライバと言われるもの</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が存在する。</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p:txBody>
      </p:sp>
      <p:graphicFrame>
        <p:nvGraphicFramePr>
          <p:cNvPr id="7" name="表 6">
            <a:extLst>
              <a:ext uri="{FF2B5EF4-FFF2-40B4-BE49-F238E27FC236}">
                <a16:creationId xmlns:a16="http://schemas.microsoft.com/office/drawing/2014/main" id="{B769C1B7-06DC-14F0-12E0-64D0539132B2}"/>
              </a:ext>
            </a:extLst>
          </p:cNvPr>
          <p:cNvGraphicFramePr>
            <a:graphicFrameLocks noGrp="1"/>
          </p:cNvGraphicFramePr>
          <p:nvPr>
            <p:extLst>
              <p:ext uri="{D42A27DB-BD31-4B8C-83A1-F6EECF244321}">
                <p14:modId xmlns:p14="http://schemas.microsoft.com/office/powerpoint/2010/main" val="86795972"/>
              </p:ext>
            </p:extLst>
          </p:nvPr>
        </p:nvGraphicFramePr>
        <p:xfrm>
          <a:off x="622799" y="2846787"/>
          <a:ext cx="8927600" cy="2209800"/>
        </p:xfrm>
        <a:graphic>
          <a:graphicData uri="http://schemas.openxmlformats.org/drawingml/2006/table">
            <a:tbl>
              <a:tblPr bandRow="1">
                <a:tableStyleId>{5C22544A-7EE6-4342-B048-85BDC9FD1C3A}</a:tableStyleId>
              </a:tblPr>
              <a:tblGrid>
                <a:gridCol w="2679200">
                  <a:extLst>
                    <a:ext uri="{9D8B030D-6E8A-4147-A177-3AD203B41FA5}">
                      <a16:colId xmlns:a16="http://schemas.microsoft.com/office/drawing/2014/main" val="20000"/>
                    </a:ext>
                  </a:extLst>
                </a:gridCol>
                <a:gridCol w="6248400">
                  <a:extLst>
                    <a:ext uri="{9D8B030D-6E8A-4147-A177-3AD203B41FA5}">
                      <a16:colId xmlns:a16="http://schemas.microsoft.com/office/drawing/2014/main" val="20001"/>
                    </a:ext>
                  </a:extLst>
                </a:gridCol>
              </a:tblGrid>
              <a:tr h="426720">
                <a:tc>
                  <a:txBody>
                    <a:bodyPr/>
                    <a:lstStyle/>
                    <a:p>
                      <a:r>
                        <a:rPr kumimoji="1" lang="en-US" altLang="ja-JP" sz="1100" dirty="0">
                          <a:latin typeface="メイリオ" panose="020B0604030504040204" pitchFamily="50" charset="-128"/>
                          <a:ea typeface="メイリオ" panose="020B0604030504040204" pitchFamily="50" charset="-128"/>
                          <a:cs typeface="メイリオ" panose="020B0604030504040204" pitchFamily="50" charset="-128"/>
                        </a:rPr>
                        <a:t>Jet(</a:t>
                      </a:r>
                      <a:r>
                        <a:rPr kumimoji="1" lang="ja-JP" altLang="en-US" sz="1100" dirty="0">
                          <a:latin typeface="メイリオ" panose="020B0604030504040204" pitchFamily="50" charset="-128"/>
                          <a:ea typeface="メイリオ" panose="020B0604030504040204" pitchFamily="50" charset="-128"/>
                          <a:cs typeface="メイリオ" panose="020B0604030504040204" pitchFamily="50" charset="-128"/>
                        </a:rPr>
                        <a:t>ジェット</a:t>
                      </a:r>
                      <a:r>
                        <a:rPr kumimoji="1" lang="en-US" altLang="ja-JP" sz="1100" dirty="0">
                          <a:latin typeface="メイリオ" panose="020B0604030504040204" pitchFamily="50" charset="-128"/>
                          <a:ea typeface="メイリオ" panose="020B0604030504040204" pitchFamily="50" charset="-128"/>
                          <a:cs typeface="メイリオ" panose="020B0604030504040204" pitchFamily="50" charset="-128"/>
                        </a:rPr>
                        <a:t>)</a:t>
                      </a:r>
                      <a:endParaRPr kumimoji="1" lang="ja-JP" altLang="en-US" sz="11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en-US" altLang="ja-JP" sz="1100" dirty="0">
                          <a:latin typeface="メイリオ" panose="020B0604030504040204" pitchFamily="50" charset="-128"/>
                          <a:ea typeface="メイリオ" panose="020B0604030504040204" pitchFamily="50" charset="-128"/>
                          <a:cs typeface="メイリオ" panose="020B0604030504040204" pitchFamily="50" charset="-128"/>
                        </a:rPr>
                        <a:t>Microsoft Access</a:t>
                      </a:r>
                      <a:r>
                        <a:rPr kumimoji="1" lang="ja-JP" altLang="en-US" sz="1100" dirty="0" err="1">
                          <a:latin typeface="メイリオ" panose="020B0604030504040204" pitchFamily="50" charset="-128"/>
                          <a:ea typeface="メイリオ" panose="020B0604030504040204" pitchFamily="50" charset="-128"/>
                          <a:cs typeface="メイリオ" panose="020B0604030504040204" pitchFamily="50" charset="-128"/>
                        </a:rPr>
                        <a:t>が提</a:t>
                      </a:r>
                      <a:r>
                        <a:rPr kumimoji="1" lang="ja-JP" altLang="en-US" sz="1100" dirty="0">
                          <a:latin typeface="メイリオ" panose="020B0604030504040204" pitchFamily="50" charset="-128"/>
                          <a:ea typeface="メイリオ" panose="020B0604030504040204" pitchFamily="50" charset="-128"/>
                          <a:cs typeface="メイリオ" panose="020B0604030504040204" pitchFamily="50" charset="-128"/>
                        </a:rPr>
                        <a:t>供するデータベース接続規格</a:t>
                      </a:r>
                      <a:endParaRPr kumimoji="1" lang="en-US" altLang="ja-JP" sz="1100" dirty="0">
                        <a:latin typeface="メイリオ" panose="020B0604030504040204" pitchFamily="50" charset="-128"/>
                        <a:ea typeface="メイリオ" panose="020B0604030504040204" pitchFamily="50" charset="-128"/>
                        <a:cs typeface="メイリオ" panose="020B0604030504040204" pitchFamily="50" charset="-128"/>
                      </a:endParaRPr>
                    </a:p>
                    <a:p>
                      <a:r>
                        <a:rPr kumimoji="1" lang="en-US" altLang="ja-JP" sz="1100" dirty="0">
                          <a:latin typeface="メイリオ" panose="020B0604030504040204" pitchFamily="50" charset="-128"/>
                          <a:ea typeface="メイリオ" panose="020B0604030504040204" pitchFamily="50" charset="-128"/>
                          <a:cs typeface="メイリオ" panose="020B0604030504040204" pitchFamily="50" charset="-128"/>
                        </a:rPr>
                        <a:t>MDB</a:t>
                      </a:r>
                      <a:r>
                        <a:rPr kumimoji="1" lang="ja-JP" altLang="en-US" sz="1100" dirty="0">
                          <a:latin typeface="メイリオ" panose="020B0604030504040204" pitchFamily="50" charset="-128"/>
                          <a:ea typeface="メイリオ" panose="020B0604030504040204" pitchFamily="50" charset="-128"/>
                          <a:cs typeface="メイリオ" panose="020B0604030504040204" pitchFamily="50" charset="-128"/>
                        </a:rPr>
                        <a:t>ファイルを操作するための機能を提供している</a:t>
                      </a:r>
                    </a:p>
                  </a:txBody>
                  <a:tcPr/>
                </a:tc>
                <a:extLst>
                  <a:ext uri="{0D108BD9-81ED-4DB2-BD59-A6C34878D82A}">
                    <a16:rowId xmlns:a16="http://schemas.microsoft.com/office/drawing/2014/main" val="10000"/>
                  </a:ext>
                </a:extLst>
              </a:tr>
              <a:tr h="594360">
                <a:tc>
                  <a:txBody>
                    <a:bodyPr/>
                    <a:lstStyle/>
                    <a:p>
                      <a:r>
                        <a:rPr kumimoji="1" lang="en-US" altLang="ja-JP" sz="1100" dirty="0">
                          <a:latin typeface="メイリオ" panose="020B0604030504040204" pitchFamily="50" charset="-128"/>
                          <a:ea typeface="メイリオ" panose="020B0604030504040204" pitchFamily="50" charset="-128"/>
                          <a:cs typeface="メイリオ" panose="020B0604030504040204" pitchFamily="50" charset="-128"/>
                        </a:rPr>
                        <a:t>ODBC(Open </a:t>
                      </a:r>
                      <a:r>
                        <a:rPr kumimoji="1" lang="en-US" altLang="ja-JP" sz="1100" dirty="0" err="1">
                          <a:latin typeface="メイリオ" panose="020B0604030504040204" pitchFamily="50" charset="-128"/>
                          <a:ea typeface="メイリオ" panose="020B0604030504040204" pitchFamily="50" charset="-128"/>
                          <a:cs typeface="メイリオ" panose="020B0604030504040204" pitchFamily="50" charset="-128"/>
                        </a:rPr>
                        <a:t>DataBase</a:t>
                      </a:r>
                      <a:r>
                        <a:rPr kumimoji="1" lang="en-US" altLang="ja-JP" sz="1100" baseline="0" dirty="0">
                          <a:latin typeface="メイリオ" panose="020B0604030504040204" pitchFamily="50" charset="-128"/>
                          <a:ea typeface="メイリオ" panose="020B0604030504040204" pitchFamily="50" charset="-128"/>
                          <a:cs typeface="メイリオ" panose="020B0604030504040204" pitchFamily="50" charset="-128"/>
                        </a:rPr>
                        <a:t> Connectivity)</a:t>
                      </a:r>
                      <a:endParaRPr kumimoji="1" lang="ja-JP" altLang="en-US" sz="11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en-US" altLang="ja-JP" sz="1100" dirty="0">
                          <a:latin typeface="メイリオ" panose="020B0604030504040204" pitchFamily="50" charset="-128"/>
                          <a:ea typeface="メイリオ" panose="020B0604030504040204" pitchFamily="50" charset="-128"/>
                          <a:cs typeface="メイリオ" panose="020B0604030504040204" pitchFamily="50" charset="-128"/>
                        </a:rPr>
                        <a:t>Microsoft</a:t>
                      </a:r>
                      <a:r>
                        <a:rPr kumimoji="1" lang="ja-JP" altLang="en-US" sz="1100" dirty="0" err="1">
                          <a:latin typeface="メイリオ" panose="020B0604030504040204" pitchFamily="50" charset="-128"/>
                          <a:ea typeface="メイリオ" panose="020B0604030504040204" pitchFamily="50" charset="-128"/>
                          <a:cs typeface="メイリオ" panose="020B0604030504040204" pitchFamily="50" charset="-128"/>
                        </a:rPr>
                        <a:t>が提</a:t>
                      </a:r>
                      <a:r>
                        <a:rPr kumimoji="1" lang="ja-JP" altLang="en-US" sz="1100" dirty="0">
                          <a:latin typeface="メイリオ" panose="020B0604030504040204" pitchFamily="50" charset="-128"/>
                          <a:ea typeface="メイリオ" panose="020B0604030504040204" pitchFamily="50" charset="-128"/>
                          <a:cs typeface="メイリオ" panose="020B0604030504040204" pitchFamily="50" charset="-128"/>
                        </a:rPr>
                        <a:t>供するデータベースへの接続規格</a:t>
                      </a:r>
                      <a:endParaRPr kumimoji="1" lang="en-US" altLang="ja-JP" sz="1100" dirty="0">
                        <a:latin typeface="メイリオ" panose="020B0604030504040204" pitchFamily="50" charset="-128"/>
                        <a:ea typeface="メイリオ" panose="020B0604030504040204" pitchFamily="50" charset="-128"/>
                        <a:cs typeface="メイリオ" panose="020B0604030504040204" pitchFamily="50" charset="-128"/>
                      </a:endParaRPr>
                    </a:p>
                    <a:p>
                      <a:r>
                        <a:rPr kumimoji="1" lang="ja-JP" altLang="en-US" sz="1100" dirty="0">
                          <a:latin typeface="メイリオ" panose="020B0604030504040204" pitchFamily="50" charset="-128"/>
                          <a:ea typeface="メイリオ" panose="020B0604030504040204" pitchFamily="50" charset="-128"/>
                          <a:cs typeface="メイリオ" panose="020B0604030504040204" pitchFamily="50" charset="-128"/>
                        </a:rPr>
                        <a:t>データベースメーカーが、データベースに応じた</a:t>
                      </a:r>
                      <a:r>
                        <a:rPr kumimoji="1" lang="en-US" altLang="ja-JP" sz="1100" dirty="0">
                          <a:latin typeface="メイリオ" panose="020B0604030504040204" pitchFamily="50" charset="-128"/>
                          <a:ea typeface="メイリオ" panose="020B0604030504040204" pitchFamily="50" charset="-128"/>
                          <a:cs typeface="メイリオ" panose="020B0604030504040204" pitchFamily="50" charset="-128"/>
                        </a:rPr>
                        <a:t>ODBC</a:t>
                      </a:r>
                      <a:r>
                        <a:rPr kumimoji="1" lang="ja-JP" altLang="en-US" sz="1100" dirty="0">
                          <a:latin typeface="メイリオ" panose="020B0604030504040204" pitchFamily="50" charset="-128"/>
                          <a:ea typeface="メイリオ" panose="020B0604030504040204" pitchFamily="50" charset="-128"/>
                          <a:cs typeface="メイリオ" panose="020B0604030504040204" pitchFamily="50" charset="-128"/>
                        </a:rPr>
                        <a:t>ドライバを提供しており、アプリケーションから統一した方法でデータベースへの接続と操作が可能となっている</a:t>
                      </a:r>
                    </a:p>
                  </a:txBody>
                  <a:tcPr/>
                </a:tc>
                <a:extLst>
                  <a:ext uri="{0D108BD9-81ED-4DB2-BD59-A6C34878D82A}">
                    <a16:rowId xmlns:a16="http://schemas.microsoft.com/office/drawing/2014/main" val="10001"/>
                  </a:ext>
                </a:extLst>
              </a:tr>
              <a:tr h="594360">
                <a:tc>
                  <a:txBody>
                    <a:bodyPr/>
                    <a:lstStyle/>
                    <a:p>
                      <a:r>
                        <a:rPr kumimoji="1" lang="en-US" altLang="ja-JP" sz="1100" dirty="0">
                          <a:latin typeface="メイリオ" panose="020B0604030504040204" pitchFamily="50" charset="-128"/>
                          <a:ea typeface="メイリオ" panose="020B0604030504040204" pitchFamily="50" charset="-128"/>
                          <a:cs typeface="メイリオ" panose="020B0604030504040204" pitchFamily="50" charset="-128"/>
                        </a:rPr>
                        <a:t>OLE DB(</a:t>
                      </a:r>
                      <a:r>
                        <a:rPr kumimoji="1" lang="ja-JP" altLang="en-US" sz="1100" dirty="0">
                          <a:latin typeface="メイリオ" panose="020B0604030504040204" pitchFamily="50" charset="-128"/>
                          <a:ea typeface="メイリオ" panose="020B0604030504040204" pitchFamily="50" charset="-128"/>
                          <a:cs typeface="メイリオ" panose="020B0604030504040204" pitchFamily="50" charset="-128"/>
                        </a:rPr>
                        <a:t>オーレ・デービー</a:t>
                      </a:r>
                      <a:r>
                        <a:rPr kumimoji="1" lang="en-US" altLang="ja-JP" sz="1100" dirty="0">
                          <a:latin typeface="メイリオ" panose="020B0604030504040204" pitchFamily="50" charset="-128"/>
                          <a:ea typeface="メイリオ" panose="020B0604030504040204" pitchFamily="50" charset="-128"/>
                          <a:cs typeface="メイリオ" panose="020B0604030504040204" pitchFamily="50" charset="-128"/>
                        </a:rPr>
                        <a:t>)</a:t>
                      </a:r>
                      <a:endParaRPr kumimoji="1" lang="ja-JP" altLang="en-US" sz="11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en-US" altLang="ja-JP" sz="1100" dirty="0">
                          <a:latin typeface="メイリオ" panose="020B0604030504040204" pitchFamily="50" charset="-128"/>
                          <a:ea typeface="メイリオ" panose="020B0604030504040204" pitchFamily="50" charset="-128"/>
                          <a:cs typeface="メイリオ" panose="020B0604030504040204" pitchFamily="50" charset="-128"/>
                        </a:rPr>
                        <a:t>Microsoft</a:t>
                      </a:r>
                      <a:r>
                        <a:rPr kumimoji="1" lang="ja-JP" altLang="en-US" sz="1100" dirty="0" err="1">
                          <a:latin typeface="メイリオ" panose="020B0604030504040204" pitchFamily="50" charset="-128"/>
                          <a:ea typeface="メイリオ" panose="020B0604030504040204" pitchFamily="50" charset="-128"/>
                          <a:cs typeface="メイリオ" panose="020B0604030504040204" pitchFamily="50" charset="-128"/>
                        </a:rPr>
                        <a:t>が提</a:t>
                      </a:r>
                      <a:r>
                        <a:rPr kumimoji="1" lang="ja-JP" altLang="en-US" sz="1100" dirty="0">
                          <a:latin typeface="メイリオ" panose="020B0604030504040204" pitchFamily="50" charset="-128"/>
                          <a:ea typeface="メイリオ" panose="020B0604030504040204" pitchFamily="50" charset="-128"/>
                          <a:cs typeface="メイリオ" panose="020B0604030504040204" pitchFamily="50" charset="-128"/>
                        </a:rPr>
                        <a:t>供するデータベースへの接続規格</a:t>
                      </a:r>
                      <a:endParaRPr kumimoji="1" lang="en-US" altLang="ja-JP" sz="1100" dirty="0">
                        <a:latin typeface="メイリオ" panose="020B0604030504040204" pitchFamily="50" charset="-128"/>
                        <a:ea typeface="メイリオ" panose="020B0604030504040204" pitchFamily="50" charset="-128"/>
                        <a:cs typeface="メイリオ" panose="020B0604030504040204" pitchFamily="50" charset="-128"/>
                      </a:endParaRPr>
                    </a:p>
                    <a:p>
                      <a:r>
                        <a:rPr kumimoji="1" lang="ja-JP" altLang="en-US" sz="1100" dirty="0">
                          <a:latin typeface="メイリオ" panose="020B0604030504040204" pitchFamily="50" charset="-128"/>
                          <a:ea typeface="メイリオ" panose="020B0604030504040204" pitchFamily="50" charset="-128"/>
                          <a:cs typeface="メイリオ" panose="020B0604030504040204" pitchFamily="50" charset="-128"/>
                        </a:rPr>
                        <a:t>データベースメーカーが、データベースに応じた</a:t>
                      </a:r>
                      <a:r>
                        <a:rPr kumimoji="1" lang="en-US" altLang="ja-JP" sz="1100" dirty="0">
                          <a:latin typeface="メイリオ" panose="020B0604030504040204" pitchFamily="50" charset="-128"/>
                          <a:ea typeface="メイリオ" panose="020B0604030504040204" pitchFamily="50" charset="-128"/>
                          <a:cs typeface="メイリオ" panose="020B0604030504040204" pitchFamily="50" charset="-128"/>
                        </a:rPr>
                        <a:t>OLE DB</a:t>
                      </a:r>
                      <a:r>
                        <a:rPr kumimoji="1" lang="ja-JP" altLang="en-US" sz="1100" dirty="0">
                          <a:latin typeface="メイリオ" panose="020B0604030504040204" pitchFamily="50" charset="-128"/>
                          <a:ea typeface="メイリオ" panose="020B0604030504040204" pitchFamily="50" charset="-128"/>
                          <a:cs typeface="メイリオ" panose="020B0604030504040204" pitchFamily="50" charset="-128"/>
                        </a:rPr>
                        <a:t>プロバイダと言うプログラムを提供しており、アプリケーションから統一した方法でデータベースへの接続と操作が可能となる</a:t>
                      </a:r>
                    </a:p>
                  </a:txBody>
                  <a:tcPr/>
                </a:tc>
                <a:extLst>
                  <a:ext uri="{0D108BD9-81ED-4DB2-BD59-A6C34878D82A}">
                    <a16:rowId xmlns:a16="http://schemas.microsoft.com/office/drawing/2014/main" val="10002"/>
                  </a:ext>
                </a:extLst>
              </a:tr>
              <a:tr h="594360">
                <a:tc>
                  <a:txBody>
                    <a:bodyPr/>
                    <a:lstStyle/>
                    <a:p>
                      <a:r>
                        <a:rPr kumimoji="1" lang="en-US" altLang="ja-JP" sz="1100" dirty="0">
                          <a:latin typeface="メイリオ" panose="020B0604030504040204" pitchFamily="50" charset="-128"/>
                          <a:ea typeface="メイリオ" panose="020B0604030504040204" pitchFamily="50" charset="-128"/>
                          <a:cs typeface="メイリオ" panose="020B0604030504040204" pitchFamily="50" charset="-128"/>
                        </a:rPr>
                        <a:t>JDBC(Java Database Connectivity)</a:t>
                      </a:r>
                      <a:endParaRPr kumimoji="1" lang="ja-JP" altLang="en-US" sz="11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en-US" altLang="ja-JP" sz="1100" dirty="0">
                          <a:latin typeface="メイリオ" panose="020B0604030504040204" pitchFamily="50" charset="-128"/>
                          <a:ea typeface="メイリオ" panose="020B0604030504040204" pitchFamily="50" charset="-128"/>
                          <a:cs typeface="メイリオ" panose="020B0604030504040204" pitchFamily="50" charset="-128"/>
                        </a:rPr>
                        <a:t>Java</a:t>
                      </a:r>
                      <a:r>
                        <a:rPr kumimoji="1" lang="ja-JP" altLang="en-US" sz="1100" dirty="0">
                          <a:latin typeface="メイリオ" panose="020B0604030504040204" pitchFamily="50" charset="-128"/>
                          <a:ea typeface="メイリオ" panose="020B0604030504040204" pitchFamily="50" charset="-128"/>
                          <a:cs typeface="メイリオ" panose="020B0604030504040204" pitchFamily="50" charset="-128"/>
                        </a:rPr>
                        <a:t>のプログラムからデータベースに接続するための規格</a:t>
                      </a:r>
                      <a:endParaRPr kumimoji="1" lang="en-US" altLang="ja-JP" sz="1100" dirty="0">
                        <a:latin typeface="メイリオ" panose="020B0604030504040204" pitchFamily="50" charset="-128"/>
                        <a:ea typeface="メイリオ" panose="020B0604030504040204" pitchFamily="50" charset="-128"/>
                        <a:cs typeface="メイリオ" panose="020B0604030504040204" pitchFamily="50" charset="-128"/>
                      </a:endParaRPr>
                    </a:p>
                    <a:p>
                      <a:r>
                        <a:rPr kumimoji="1" lang="ja-JP" altLang="en-US" sz="1100" dirty="0">
                          <a:latin typeface="メイリオ" panose="020B0604030504040204" pitchFamily="50" charset="-128"/>
                          <a:ea typeface="メイリオ" panose="020B0604030504040204" pitchFamily="50" charset="-128"/>
                          <a:cs typeface="メイリオ" panose="020B0604030504040204" pitchFamily="50" charset="-128"/>
                        </a:rPr>
                        <a:t>データベースメーカーが、データベースに応じた</a:t>
                      </a:r>
                      <a:r>
                        <a:rPr kumimoji="1" lang="en-US" altLang="ja-JP" sz="1100" dirty="0">
                          <a:latin typeface="メイリオ" panose="020B0604030504040204" pitchFamily="50" charset="-128"/>
                          <a:ea typeface="メイリオ" panose="020B0604030504040204" pitchFamily="50" charset="-128"/>
                          <a:cs typeface="メイリオ" panose="020B0604030504040204" pitchFamily="50" charset="-128"/>
                        </a:rPr>
                        <a:t>JDBC</a:t>
                      </a:r>
                      <a:r>
                        <a:rPr kumimoji="1" lang="ja-JP" altLang="en-US" sz="1100" dirty="0">
                          <a:latin typeface="メイリオ" panose="020B0604030504040204" pitchFamily="50" charset="-128"/>
                          <a:ea typeface="メイリオ" panose="020B0604030504040204" pitchFamily="50" charset="-128"/>
                          <a:cs typeface="メイリオ" panose="020B0604030504040204" pitchFamily="50" charset="-128"/>
                        </a:rPr>
                        <a:t>ドライバと言うプログラムを提供しており、</a:t>
                      </a:r>
                      <a:r>
                        <a:rPr kumimoji="1" lang="en-US" altLang="ja-JP" sz="1100" dirty="0">
                          <a:latin typeface="メイリオ" panose="020B0604030504040204" pitchFamily="50" charset="-128"/>
                          <a:ea typeface="メイリオ" panose="020B0604030504040204" pitchFamily="50" charset="-128"/>
                          <a:cs typeface="メイリオ" panose="020B0604030504040204" pitchFamily="50" charset="-128"/>
                        </a:rPr>
                        <a:t>Java</a:t>
                      </a:r>
                      <a:r>
                        <a:rPr kumimoji="1" lang="ja-JP" altLang="en-US" sz="1100" dirty="0">
                          <a:latin typeface="メイリオ" panose="020B0604030504040204" pitchFamily="50" charset="-128"/>
                          <a:ea typeface="メイリオ" panose="020B0604030504040204" pitchFamily="50" charset="-128"/>
                          <a:cs typeface="メイリオ" panose="020B0604030504040204" pitchFamily="50" charset="-128"/>
                        </a:rPr>
                        <a:t>のプログラムから統一した方法でデータベースへの接続と操作が可能となっている</a:t>
                      </a:r>
                    </a:p>
                  </a:txBody>
                  <a:tcPr/>
                </a:tc>
                <a:extLst>
                  <a:ext uri="{0D108BD9-81ED-4DB2-BD59-A6C34878D82A}">
                    <a16:rowId xmlns:a16="http://schemas.microsoft.com/office/drawing/2014/main" val="10003"/>
                  </a:ext>
                </a:extLst>
              </a:tr>
            </a:tbl>
          </a:graphicData>
        </a:graphic>
      </p:graphicFrame>
      <p:sp>
        <p:nvSpPr>
          <p:cNvPr id="8" name="テキスト ボックス 7">
            <a:extLst>
              <a:ext uri="{FF2B5EF4-FFF2-40B4-BE49-F238E27FC236}">
                <a16:creationId xmlns:a16="http://schemas.microsoft.com/office/drawing/2014/main" id="{78E90567-610F-44B7-276B-BC2AE0E65FC0}"/>
              </a:ext>
            </a:extLst>
          </p:cNvPr>
          <p:cNvSpPr txBox="1"/>
          <p:nvPr/>
        </p:nvSpPr>
        <p:spPr>
          <a:xfrm>
            <a:off x="623398" y="2500228"/>
            <a:ext cx="2709082" cy="276999"/>
          </a:xfrm>
          <a:prstGeom prst="rect">
            <a:avLst/>
          </a:prstGeom>
          <a:noFill/>
        </p:spPr>
        <p:txBody>
          <a:bodyPr wrap="square" rtlCol="0">
            <a:spAutoFit/>
          </a:bodyPr>
          <a:lstStyle/>
          <a:p>
            <a:r>
              <a:rPr lang="ja-JP" altLang="en-US" sz="1200" dirty="0">
                <a:latin typeface="メイリオ" panose="020B0604030504040204" pitchFamily="50" charset="-128"/>
                <a:ea typeface="メイリオ" panose="020B0604030504040204" pitchFamily="50" charset="-128"/>
                <a:cs typeface="メイリオ" panose="020B0604030504040204" pitchFamily="50" charset="-128"/>
              </a:rPr>
              <a:t>・代表的なデータベースの接続規格</a:t>
            </a:r>
          </a:p>
        </p:txBody>
      </p:sp>
      <p:sp>
        <p:nvSpPr>
          <p:cNvPr id="9" name="テキスト ボックス 8">
            <a:extLst>
              <a:ext uri="{FF2B5EF4-FFF2-40B4-BE49-F238E27FC236}">
                <a16:creationId xmlns:a16="http://schemas.microsoft.com/office/drawing/2014/main" id="{BD37AF6E-2DF2-64CB-AA5A-10B9C22D520F}"/>
              </a:ext>
            </a:extLst>
          </p:cNvPr>
          <p:cNvSpPr txBox="1"/>
          <p:nvPr/>
        </p:nvSpPr>
        <p:spPr>
          <a:xfrm>
            <a:off x="112541" y="5126148"/>
            <a:ext cx="9636369" cy="738664"/>
          </a:xfrm>
          <a:prstGeom prst="rect">
            <a:avLst/>
          </a:prstGeom>
          <a:noFill/>
        </p:spPr>
        <p:txBody>
          <a:bodyPr wrap="square" rtlCol="0">
            <a:spAutoFit/>
          </a:bodyPr>
          <a:lstStyle/>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また、上記のデータベースの接続規格に応じて、データベースの接続・操作するためのデータオブジェクトと言</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われるオブジェクトが存在し、使用する接続規格に合わせたオブジェクトをプログラム内で使用することにより、</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データベースへの接続と操作が可能となる。</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14089879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5. </a:t>
            </a:r>
            <a:r>
              <a:rPr lang="ja-JP" altLang="en-US" dirty="0"/>
              <a:t>データベースとプログラミング</a:t>
            </a:r>
            <a:endParaRPr kumimoji="1" lang="ja-JP" altLang="en-US" dirty="0"/>
          </a:p>
        </p:txBody>
      </p:sp>
      <p:sp>
        <p:nvSpPr>
          <p:cNvPr id="3" name="スライド番号プレースホルダー 2"/>
          <p:cNvSpPr>
            <a:spLocks noGrp="1"/>
          </p:cNvSpPr>
          <p:nvPr>
            <p:ph type="sldNum" sz="quarter" idx="12"/>
          </p:nvPr>
        </p:nvSpPr>
        <p:spPr/>
        <p:txBody>
          <a:bodyPr/>
          <a:lstStyle/>
          <a:p>
            <a:fld id="{0BDC6CC0-337C-4DEC-BAED-08CE4EABF7AC}" type="slidenum">
              <a:rPr lang="ja-JP" altLang="en-US" smtClean="0"/>
              <a:pPr/>
              <a:t>15</a:t>
            </a:fld>
            <a:endParaRPr lang="ja-JP" altLang="en-US" dirty="0"/>
          </a:p>
        </p:txBody>
      </p:sp>
      <p:sp>
        <p:nvSpPr>
          <p:cNvPr id="4" name="テキスト ボックス 3"/>
          <p:cNvSpPr txBox="1"/>
          <p:nvPr/>
        </p:nvSpPr>
        <p:spPr>
          <a:xfrm>
            <a:off x="112541" y="576001"/>
            <a:ext cx="9636369" cy="307777"/>
          </a:xfrm>
          <a:prstGeom prst="rect">
            <a:avLst/>
          </a:prstGeom>
          <a:noFill/>
        </p:spPr>
        <p:txBody>
          <a:bodyPr wrap="square" rtlCol="0">
            <a:spAutoFit/>
          </a:bodyPr>
          <a:lstStyle/>
          <a:p>
            <a:r>
              <a:rPr lang="en-US" altLang="ja-JP" sz="1400" u="sng" dirty="0">
                <a:latin typeface="メイリオ" panose="020B0604030504040204" pitchFamily="50" charset="-128"/>
                <a:ea typeface="メイリオ" panose="020B0604030504040204" pitchFamily="50" charset="-128"/>
                <a:cs typeface="メイリオ" panose="020B0604030504040204" pitchFamily="50" charset="-128"/>
              </a:rPr>
              <a:t>5-1. </a:t>
            </a:r>
            <a:r>
              <a:rPr lang="ja-JP" altLang="en-US" sz="1400" u="sng" dirty="0">
                <a:latin typeface="メイリオ" panose="020B0604030504040204" pitchFamily="50" charset="-128"/>
                <a:ea typeface="メイリオ" panose="020B0604030504040204" pitchFamily="50" charset="-128"/>
                <a:cs typeface="メイリオ" panose="020B0604030504040204" pitchFamily="50" charset="-128"/>
              </a:rPr>
              <a:t>プログラム言語によるデータベースへの接続について</a:t>
            </a:r>
            <a:endParaRPr lang="ja-JP" altLang="en-US" sz="1400" dirty="0">
              <a:latin typeface="メイリオ" panose="020B0604030504040204" pitchFamily="50" charset="-128"/>
              <a:ea typeface="メイリオ" panose="020B0604030504040204" pitchFamily="50" charset="-128"/>
              <a:cs typeface="メイリオ" panose="020B0604030504040204" pitchFamily="50" charset="-128"/>
            </a:endParaRPr>
          </a:p>
        </p:txBody>
      </p:sp>
      <p:graphicFrame>
        <p:nvGraphicFramePr>
          <p:cNvPr id="5" name="表 4"/>
          <p:cNvGraphicFramePr>
            <a:graphicFrameLocks noGrp="1"/>
          </p:cNvGraphicFramePr>
          <p:nvPr/>
        </p:nvGraphicFramePr>
        <p:xfrm>
          <a:off x="622799" y="1299898"/>
          <a:ext cx="8927600" cy="1112520"/>
        </p:xfrm>
        <a:graphic>
          <a:graphicData uri="http://schemas.openxmlformats.org/drawingml/2006/table">
            <a:tbl>
              <a:tblPr bandRow="1">
                <a:tableStyleId>{5C22544A-7EE6-4342-B048-85BDC9FD1C3A}</a:tableStyleId>
              </a:tblPr>
              <a:tblGrid>
                <a:gridCol w="2534196">
                  <a:extLst>
                    <a:ext uri="{9D8B030D-6E8A-4147-A177-3AD203B41FA5}">
                      <a16:colId xmlns:a16="http://schemas.microsoft.com/office/drawing/2014/main" val="20000"/>
                    </a:ext>
                  </a:extLst>
                </a:gridCol>
                <a:gridCol w="6393404">
                  <a:extLst>
                    <a:ext uri="{9D8B030D-6E8A-4147-A177-3AD203B41FA5}">
                      <a16:colId xmlns:a16="http://schemas.microsoft.com/office/drawing/2014/main" val="20001"/>
                    </a:ext>
                  </a:extLst>
                </a:gridCol>
              </a:tblGrid>
              <a:tr h="370840">
                <a:tc>
                  <a:txBody>
                    <a:bodyPr/>
                    <a:lstStyle/>
                    <a:p>
                      <a:r>
                        <a:rPr kumimoji="1" lang="en-US" altLang="ja-JP" sz="1100" dirty="0">
                          <a:latin typeface="メイリオ" panose="020B0604030504040204" pitchFamily="50" charset="-128"/>
                          <a:ea typeface="メイリオ" panose="020B0604030504040204" pitchFamily="50" charset="-128"/>
                          <a:cs typeface="メイリオ" panose="020B0604030504040204" pitchFamily="50" charset="-128"/>
                        </a:rPr>
                        <a:t>DAO(Data</a:t>
                      </a:r>
                      <a:r>
                        <a:rPr kumimoji="1" lang="en-US" altLang="ja-JP" sz="1100" baseline="0" dirty="0">
                          <a:latin typeface="メイリオ" panose="020B0604030504040204" pitchFamily="50" charset="-128"/>
                          <a:ea typeface="メイリオ" panose="020B0604030504040204" pitchFamily="50" charset="-128"/>
                          <a:cs typeface="メイリオ" panose="020B0604030504040204" pitchFamily="50" charset="-128"/>
                        </a:rPr>
                        <a:t> Access Objects)</a:t>
                      </a:r>
                      <a:endParaRPr kumimoji="1" lang="ja-JP" altLang="en-US" sz="11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en-US" altLang="ja-JP" sz="1100" dirty="0">
                          <a:latin typeface="メイリオ" panose="020B0604030504040204" pitchFamily="50" charset="-128"/>
                          <a:ea typeface="メイリオ" panose="020B0604030504040204" pitchFamily="50" charset="-128"/>
                          <a:cs typeface="メイリオ" panose="020B0604030504040204" pitchFamily="50" charset="-128"/>
                        </a:rPr>
                        <a:t>Jet</a:t>
                      </a:r>
                      <a:r>
                        <a:rPr kumimoji="1" lang="ja-JP" altLang="en-US" sz="1100" dirty="0">
                          <a:latin typeface="メイリオ" panose="020B0604030504040204" pitchFamily="50" charset="-128"/>
                          <a:ea typeface="メイリオ" panose="020B0604030504040204" pitchFamily="50" charset="-128"/>
                          <a:cs typeface="メイリオ" panose="020B0604030504040204" pitchFamily="50" charset="-128"/>
                        </a:rPr>
                        <a:t>を操作するためのデータオブジェクト</a:t>
                      </a:r>
                    </a:p>
                  </a:txBody>
                  <a:tcPr/>
                </a:tc>
                <a:extLst>
                  <a:ext uri="{0D108BD9-81ED-4DB2-BD59-A6C34878D82A}">
                    <a16:rowId xmlns:a16="http://schemas.microsoft.com/office/drawing/2014/main" val="10000"/>
                  </a:ext>
                </a:extLst>
              </a:tr>
              <a:tr h="370840">
                <a:tc>
                  <a:txBody>
                    <a:bodyPr/>
                    <a:lstStyle/>
                    <a:p>
                      <a:r>
                        <a:rPr kumimoji="1" lang="en-US" altLang="ja-JP" sz="1100" dirty="0">
                          <a:latin typeface="メイリオ" panose="020B0604030504040204" pitchFamily="50" charset="-128"/>
                          <a:ea typeface="メイリオ" panose="020B0604030504040204" pitchFamily="50" charset="-128"/>
                          <a:cs typeface="メイリオ" panose="020B0604030504040204" pitchFamily="50" charset="-128"/>
                        </a:rPr>
                        <a:t>RDO(Remote Data Objects)</a:t>
                      </a:r>
                      <a:endParaRPr kumimoji="1" lang="ja-JP" altLang="en-US" sz="11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en-US" altLang="ja-JP" sz="1100" dirty="0">
                          <a:latin typeface="メイリオ" panose="020B0604030504040204" pitchFamily="50" charset="-128"/>
                          <a:ea typeface="メイリオ" panose="020B0604030504040204" pitchFamily="50" charset="-128"/>
                          <a:cs typeface="メイリオ" panose="020B0604030504040204" pitchFamily="50" charset="-128"/>
                        </a:rPr>
                        <a:t>ODBC</a:t>
                      </a:r>
                      <a:r>
                        <a:rPr kumimoji="1" lang="ja-JP" altLang="en-US" sz="1100" dirty="0">
                          <a:latin typeface="メイリオ" panose="020B0604030504040204" pitchFamily="50" charset="-128"/>
                          <a:ea typeface="メイリオ" panose="020B0604030504040204" pitchFamily="50" charset="-128"/>
                          <a:cs typeface="メイリオ" panose="020B0604030504040204" pitchFamily="50" charset="-128"/>
                        </a:rPr>
                        <a:t>ドライバを操作するためのデータオブジェクト</a:t>
                      </a:r>
                    </a:p>
                  </a:txBody>
                  <a:tcPr/>
                </a:tc>
                <a:extLst>
                  <a:ext uri="{0D108BD9-81ED-4DB2-BD59-A6C34878D82A}">
                    <a16:rowId xmlns:a16="http://schemas.microsoft.com/office/drawing/2014/main" val="10001"/>
                  </a:ext>
                </a:extLst>
              </a:tr>
              <a:tr h="370840">
                <a:tc>
                  <a:txBody>
                    <a:bodyPr/>
                    <a:lstStyle/>
                    <a:p>
                      <a:r>
                        <a:rPr kumimoji="1" lang="en-US" altLang="ja-JP" sz="1100" dirty="0">
                          <a:latin typeface="メイリオ" panose="020B0604030504040204" pitchFamily="50" charset="-128"/>
                          <a:ea typeface="メイリオ" panose="020B0604030504040204" pitchFamily="50" charset="-128"/>
                          <a:cs typeface="メイリオ" panose="020B0604030504040204" pitchFamily="50" charset="-128"/>
                        </a:rPr>
                        <a:t>ADO(ActiveX Data Objects)</a:t>
                      </a:r>
                      <a:endParaRPr kumimoji="1" lang="ja-JP" altLang="en-US" sz="11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en-US" altLang="ja-JP" sz="1100" dirty="0">
                          <a:latin typeface="メイリオ" panose="020B0604030504040204" pitchFamily="50" charset="-128"/>
                          <a:ea typeface="メイリオ" panose="020B0604030504040204" pitchFamily="50" charset="-128"/>
                          <a:cs typeface="メイリオ" panose="020B0604030504040204" pitchFamily="50" charset="-128"/>
                        </a:rPr>
                        <a:t>OLE DB</a:t>
                      </a:r>
                      <a:r>
                        <a:rPr kumimoji="1" lang="ja-JP" altLang="en-US" sz="1100" dirty="0">
                          <a:latin typeface="メイリオ" panose="020B0604030504040204" pitchFamily="50" charset="-128"/>
                          <a:ea typeface="メイリオ" panose="020B0604030504040204" pitchFamily="50" charset="-128"/>
                          <a:cs typeface="メイリオ" panose="020B0604030504040204" pitchFamily="50" charset="-128"/>
                        </a:rPr>
                        <a:t>プロバイダを操作するためのデータオブジェクト</a:t>
                      </a:r>
                    </a:p>
                  </a:txBody>
                  <a:tcPr/>
                </a:tc>
                <a:extLst>
                  <a:ext uri="{0D108BD9-81ED-4DB2-BD59-A6C34878D82A}">
                    <a16:rowId xmlns:a16="http://schemas.microsoft.com/office/drawing/2014/main" val="10002"/>
                  </a:ext>
                </a:extLst>
              </a:tr>
            </a:tbl>
          </a:graphicData>
        </a:graphic>
      </p:graphicFrame>
      <p:sp>
        <p:nvSpPr>
          <p:cNvPr id="6" name="テキスト ボックス 5"/>
          <p:cNvSpPr txBox="1"/>
          <p:nvPr/>
        </p:nvSpPr>
        <p:spPr>
          <a:xfrm>
            <a:off x="623398" y="953339"/>
            <a:ext cx="2912282" cy="276999"/>
          </a:xfrm>
          <a:prstGeom prst="rect">
            <a:avLst/>
          </a:prstGeom>
          <a:noFill/>
        </p:spPr>
        <p:txBody>
          <a:bodyPr wrap="square" rtlCol="0">
            <a:spAutoFit/>
          </a:bodyPr>
          <a:lstStyle/>
          <a:p>
            <a:r>
              <a:rPr lang="ja-JP" altLang="en-US" sz="1200" dirty="0">
                <a:latin typeface="メイリオ" panose="020B0604030504040204" pitchFamily="50" charset="-128"/>
                <a:ea typeface="メイリオ" panose="020B0604030504040204" pitchFamily="50" charset="-128"/>
                <a:cs typeface="メイリオ" panose="020B0604030504040204" pitchFamily="50" charset="-128"/>
              </a:rPr>
              <a:t>・代表的なデータベースオブジェクト</a:t>
            </a:r>
          </a:p>
        </p:txBody>
      </p:sp>
      <p:sp>
        <p:nvSpPr>
          <p:cNvPr id="7" name="テキスト ボックス 6"/>
          <p:cNvSpPr txBox="1"/>
          <p:nvPr/>
        </p:nvSpPr>
        <p:spPr>
          <a:xfrm>
            <a:off x="112541" y="4556442"/>
            <a:ext cx="9636369" cy="1815882"/>
          </a:xfrm>
          <a:prstGeom prst="rect">
            <a:avLst/>
          </a:prstGeom>
          <a:noFill/>
        </p:spPr>
        <p:txBody>
          <a:bodyPr wrap="square" rtlCol="0">
            <a:spAutoFit/>
          </a:bodyPr>
          <a:lstStyle/>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我々が使用している、</a:t>
            </a:r>
            <a:r>
              <a:rPr lang="en-US" altLang="ja-JP" sz="1400" dirty="0" err="1">
                <a:latin typeface="メイリオ" panose="020B0604030504040204" pitchFamily="50" charset="-128"/>
                <a:ea typeface="メイリオ" panose="020B0604030504040204" pitchFamily="50" charset="-128"/>
                <a:cs typeface="メイリオ" panose="020B0604030504040204" pitchFamily="50" charset="-128"/>
              </a:rPr>
              <a:t>BLib</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では</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Microsoft </a:t>
            </a:r>
            <a:r>
              <a:rPr lang="en-US" altLang="ja-JP" sz="1400" dirty="0" err="1">
                <a:latin typeface="メイリオ" panose="020B0604030504040204" pitchFamily="50" charset="-128"/>
                <a:ea typeface="メイリオ" panose="020B0604030504040204" pitchFamily="50" charset="-128"/>
                <a:cs typeface="メイリオ" panose="020B0604030504040204" pitchFamily="50" charset="-128"/>
              </a:rPr>
              <a:t>.Net</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 Framework</a:t>
            </a:r>
            <a:r>
              <a:rPr lang="ja-JP" altLang="en-US" sz="1400" dirty="0" err="1">
                <a:latin typeface="メイリオ" panose="020B0604030504040204" pitchFamily="50" charset="-128"/>
                <a:ea typeface="メイリオ" panose="020B0604030504040204" pitchFamily="50" charset="-128"/>
                <a:cs typeface="メイリオ" panose="020B0604030504040204" pitchFamily="50" charset="-128"/>
              </a:rPr>
              <a:t>が提</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供する、</a:t>
            </a:r>
            <a:r>
              <a:rPr lang="en-US" altLang="ja-JP" sz="1400" dirty="0" err="1">
                <a:latin typeface="メイリオ" panose="020B0604030504040204" pitchFamily="50" charset="-128"/>
                <a:ea typeface="メイリオ" panose="020B0604030504040204" pitchFamily="50" charset="-128"/>
                <a:cs typeface="メイリオ" panose="020B0604030504040204" pitchFamily="50" charset="-128"/>
              </a:rPr>
              <a:t>ADO.Net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データプロバイダーを使用し</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て、データベースの接続・操作を行っている。</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また、</a:t>
            </a:r>
            <a:r>
              <a:rPr lang="en-US" altLang="ja-JP" sz="1400" dirty="0" err="1">
                <a:latin typeface="メイリオ" panose="020B0604030504040204" pitchFamily="50" charset="-128"/>
                <a:ea typeface="メイリオ" panose="020B0604030504040204" pitchFamily="50" charset="-128"/>
                <a:cs typeface="メイリオ" panose="020B0604030504040204" pitchFamily="50" charset="-128"/>
              </a:rPr>
              <a:t>ADO.Net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データプロバイダーには、データベースの操作をするに当たっての様々なオブジェクトが用意さ</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れているが、原則それらのオブジェクトのみではデータベース内の検索や編集・削除等のデータ操作を行うこと</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はできない。</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データベースに接続し、具体的なデータ操作を行うためには、</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SQL(</a:t>
            </a:r>
            <a:r>
              <a:rPr lang="en-US" altLang="ja-JP" sz="1400" dirty="0" err="1">
                <a:latin typeface="メイリオ" panose="020B0604030504040204" pitchFamily="50" charset="-128"/>
                <a:ea typeface="メイリオ" panose="020B0604030504040204" pitchFamily="50" charset="-128"/>
                <a:cs typeface="メイリオ" panose="020B0604030504040204" pitchFamily="50" charset="-128"/>
              </a:rPr>
              <a:t>Structuered</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 Query Language)</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と呼ばれる</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データベース操作用のスクリプト言語でデータベースに対して操作要求を行う必要がある。</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       </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データオブジェクトは、</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SQL</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をパラメータとしてデータベース操作を行うこととなる。</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p:txBody>
      </p:sp>
      <p:pic>
        <p:nvPicPr>
          <p:cNvPr id="9" name="図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08321" y="2581575"/>
            <a:ext cx="1581920" cy="1581920"/>
          </a:xfrm>
          <a:prstGeom prst="rect">
            <a:avLst/>
          </a:prstGeom>
        </p:spPr>
      </p:pic>
      <p:pic>
        <p:nvPicPr>
          <p:cNvPr id="10" name="図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19342" y="2582336"/>
            <a:ext cx="1580400" cy="1580400"/>
          </a:xfrm>
          <a:prstGeom prst="rect">
            <a:avLst/>
          </a:prstGeom>
        </p:spPr>
      </p:pic>
      <p:sp>
        <p:nvSpPr>
          <p:cNvPr id="12" name="正方形/長方形 11"/>
          <p:cNvSpPr/>
          <p:nvPr/>
        </p:nvSpPr>
        <p:spPr>
          <a:xfrm>
            <a:off x="3968777" y="2915334"/>
            <a:ext cx="1872031" cy="914401"/>
          </a:xfrm>
          <a:prstGeom prst="rect">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dirty="0">
                <a:latin typeface="メイリオ" panose="020B0604030504040204" pitchFamily="50" charset="-128"/>
                <a:ea typeface="メイリオ" panose="020B0604030504040204" pitchFamily="50" charset="-128"/>
                <a:cs typeface="メイリオ" panose="020B0604030504040204" pitchFamily="50" charset="-128"/>
              </a:rPr>
              <a:t>接続規格に合わせた</a:t>
            </a:r>
            <a:endParaRPr lang="en-US" altLang="ja-JP" sz="1100" dirty="0">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1100" dirty="0">
                <a:latin typeface="メイリオ" panose="020B0604030504040204" pitchFamily="50" charset="-128"/>
                <a:ea typeface="メイリオ" panose="020B0604030504040204" pitchFamily="50" charset="-128"/>
                <a:cs typeface="メイリオ" panose="020B0604030504040204" pitchFamily="50" charset="-128"/>
              </a:rPr>
              <a:t>データベースオブジェクト</a:t>
            </a:r>
          </a:p>
        </p:txBody>
      </p:sp>
      <p:cxnSp>
        <p:nvCxnSpPr>
          <p:cNvPr id="15" name="直線矢印コネクタ 14"/>
          <p:cNvCxnSpPr/>
          <p:nvPr/>
        </p:nvCxnSpPr>
        <p:spPr>
          <a:xfrm>
            <a:off x="3218817" y="3152775"/>
            <a:ext cx="720000" cy="0"/>
          </a:xfrm>
          <a:prstGeom prst="straightConnector1">
            <a:avLst/>
          </a:prstGeom>
          <a:ln w="57150">
            <a:tailEnd type="triangle"/>
          </a:ln>
        </p:spPr>
        <p:style>
          <a:lnRef idx="3">
            <a:schemeClr val="accent2"/>
          </a:lnRef>
          <a:fillRef idx="0">
            <a:schemeClr val="accent2"/>
          </a:fillRef>
          <a:effectRef idx="2">
            <a:schemeClr val="accent2"/>
          </a:effectRef>
          <a:fontRef idx="minor">
            <a:schemeClr val="tx1"/>
          </a:fontRef>
        </p:style>
      </p:cxnSp>
      <p:cxnSp>
        <p:nvCxnSpPr>
          <p:cNvPr id="16" name="直線矢印コネクタ 15"/>
          <p:cNvCxnSpPr/>
          <p:nvPr/>
        </p:nvCxnSpPr>
        <p:spPr>
          <a:xfrm>
            <a:off x="5880291" y="3152775"/>
            <a:ext cx="720000" cy="0"/>
          </a:xfrm>
          <a:prstGeom prst="straightConnector1">
            <a:avLst/>
          </a:prstGeom>
          <a:ln w="57150">
            <a:tailEnd type="triangle"/>
          </a:ln>
        </p:spPr>
        <p:style>
          <a:lnRef idx="3">
            <a:schemeClr val="accent2"/>
          </a:lnRef>
          <a:fillRef idx="0">
            <a:schemeClr val="accent2"/>
          </a:fillRef>
          <a:effectRef idx="2">
            <a:schemeClr val="accent2"/>
          </a:effectRef>
          <a:fontRef idx="minor">
            <a:schemeClr val="tx1"/>
          </a:fontRef>
        </p:style>
      </p:cxnSp>
      <p:cxnSp>
        <p:nvCxnSpPr>
          <p:cNvPr id="17" name="直線矢印コネクタ 16"/>
          <p:cNvCxnSpPr/>
          <p:nvPr/>
        </p:nvCxnSpPr>
        <p:spPr>
          <a:xfrm flipH="1">
            <a:off x="3218817" y="3581400"/>
            <a:ext cx="720000" cy="0"/>
          </a:xfrm>
          <a:prstGeom prst="straightConnector1">
            <a:avLst/>
          </a:prstGeom>
          <a:ln w="57150">
            <a:tailEnd type="triangle"/>
          </a:ln>
        </p:spPr>
        <p:style>
          <a:lnRef idx="3">
            <a:schemeClr val="accent2"/>
          </a:lnRef>
          <a:fillRef idx="0">
            <a:schemeClr val="accent2"/>
          </a:fillRef>
          <a:effectRef idx="2">
            <a:schemeClr val="accent2"/>
          </a:effectRef>
          <a:fontRef idx="minor">
            <a:schemeClr val="tx1"/>
          </a:fontRef>
        </p:style>
      </p:cxnSp>
      <p:cxnSp>
        <p:nvCxnSpPr>
          <p:cNvPr id="18" name="直線矢印コネクタ 17"/>
          <p:cNvCxnSpPr/>
          <p:nvPr/>
        </p:nvCxnSpPr>
        <p:spPr>
          <a:xfrm flipH="1">
            <a:off x="5880291" y="3581400"/>
            <a:ext cx="720000" cy="0"/>
          </a:xfrm>
          <a:prstGeom prst="straightConnector1">
            <a:avLst/>
          </a:prstGeom>
          <a:ln w="57150">
            <a:tailEnd type="triangle"/>
          </a:ln>
        </p:spPr>
        <p:style>
          <a:lnRef idx="3">
            <a:schemeClr val="accent2"/>
          </a:lnRef>
          <a:fillRef idx="0">
            <a:schemeClr val="accent2"/>
          </a:fillRef>
          <a:effectRef idx="2">
            <a:schemeClr val="accent2"/>
          </a:effectRef>
          <a:fontRef idx="minor">
            <a:schemeClr val="tx1"/>
          </a:fontRef>
        </p:style>
      </p:cxnSp>
      <p:sp>
        <p:nvSpPr>
          <p:cNvPr id="19" name="テキスト ボックス 18"/>
          <p:cNvSpPr txBox="1"/>
          <p:nvPr/>
        </p:nvSpPr>
        <p:spPr>
          <a:xfrm>
            <a:off x="1608321" y="4208055"/>
            <a:ext cx="1581921" cy="276999"/>
          </a:xfrm>
          <a:prstGeom prst="rect">
            <a:avLst/>
          </a:prstGeom>
          <a:noFill/>
        </p:spPr>
        <p:txBody>
          <a:bodyPr wrap="square" rtlCol="0">
            <a:spAutoFit/>
          </a:bodyPr>
          <a:lstStyle/>
          <a:p>
            <a:pPr algn="ctr"/>
            <a:r>
              <a:rPr lang="ja-JP" altLang="en-US" sz="1200" dirty="0">
                <a:latin typeface="メイリオ" panose="020B0604030504040204" pitchFamily="50" charset="-128"/>
                <a:ea typeface="メイリオ" panose="020B0604030504040204" pitchFamily="50" charset="-128"/>
                <a:cs typeface="メイリオ" panose="020B0604030504040204" pitchFamily="50" charset="-128"/>
              </a:rPr>
              <a:t>プログラム言語</a:t>
            </a:r>
          </a:p>
        </p:txBody>
      </p:sp>
      <p:sp>
        <p:nvSpPr>
          <p:cNvPr id="20" name="テキスト ボックス 19"/>
          <p:cNvSpPr txBox="1"/>
          <p:nvPr/>
        </p:nvSpPr>
        <p:spPr>
          <a:xfrm>
            <a:off x="6619343" y="4208055"/>
            <a:ext cx="1580400" cy="276999"/>
          </a:xfrm>
          <a:prstGeom prst="rect">
            <a:avLst/>
          </a:prstGeom>
          <a:noFill/>
        </p:spPr>
        <p:txBody>
          <a:bodyPr wrap="square" rtlCol="0">
            <a:spAutoFit/>
          </a:bodyPr>
          <a:lstStyle/>
          <a:p>
            <a:pPr algn="ctr"/>
            <a:r>
              <a:rPr lang="ja-JP" altLang="en-US" sz="1200" dirty="0">
                <a:latin typeface="メイリオ" panose="020B0604030504040204" pitchFamily="50" charset="-128"/>
                <a:ea typeface="メイリオ" panose="020B0604030504040204" pitchFamily="50" charset="-128"/>
                <a:cs typeface="メイリオ" panose="020B0604030504040204" pitchFamily="50" charset="-128"/>
              </a:rPr>
              <a:t>データベース</a:t>
            </a:r>
          </a:p>
        </p:txBody>
      </p:sp>
    </p:spTree>
    <p:extLst>
      <p:ext uri="{BB962C8B-B14F-4D97-AF65-F5344CB8AC3E}">
        <p14:creationId xmlns:p14="http://schemas.microsoft.com/office/powerpoint/2010/main" val="2792886959"/>
      </p:ext>
    </p:extLst>
  </p:cSld>
  <p:clrMapOvr>
    <a:masterClrMapping/>
  </p:clrMapOvr>
</p:sld>
</file>

<file path=ppt/theme/theme1.xml><?xml version="1.0" encoding="utf-8"?>
<a:theme xmlns:a="http://schemas.openxmlformats.org/drawingml/2006/main" name="Office テーマ">
  <a:themeElements>
    <a:clrScheme name="Office テーマ">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テーマ">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4353</TotalTime>
  <Words>2821</Words>
  <Application>Microsoft Office PowerPoint</Application>
  <PresentationFormat>A4 210 x 297 mm</PresentationFormat>
  <Paragraphs>387</Paragraphs>
  <Slides>15</Slides>
  <Notes>1</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15</vt:i4>
      </vt:variant>
    </vt:vector>
  </HeadingPairs>
  <TitlesOfParts>
    <vt:vector size="19" baseType="lpstr">
      <vt:lpstr>メイリオ</vt:lpstr>
      <vt:lpstr>Arial</vt:lpstr>
      <vt:lpstr>Calibri</vt:lpstr>
      <vt:lpstr>Office テーマ</vt:lpstr>
      <vt:lpstr>【第1回】データベースの基礎知識</vt:lpstr>
      <vt:lpstr>1. データベースとは？</vt:lpstr>
      <vt:lpstr>1. データベースとは？</vt:lpstr>
      <vt:lpstr>1. データベースとは？</vt:lpstr>
      <vt:lpstr>1. データベースとは？</vt:lpstr>
      <vt:lpstr>1. データベースとは？</vt:lpstr>
      <vt:lpstr>1. データベースとは？</vt:lpstr>
      <vt:lpstr>2. データベースオブジェクト</vt:lpstr>
      <vt:lpstr>2. データベースオブジェクト</vt:lpstr>
      <vt:lpstr>3. テーブルについて</vt:lpstr>
      <vt:lpstr>3. テーブルについて</vt:lpstr>
      <vt:lpstr>4. データベースの操作と管理</vt:lpstr>
      <vt:lpstr>4. データベースの操作と管理</vt:lpstr>
      <vt:lpstr>5. データベースとプログラミング</vt:lpstr>
      <vt:lpstr>5. データベースとプログラミング</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nagano</dc:creator>
  <cp:lastModifiedBy>ibcl177</cp:lastModifiedBy>
  <cp:revision>428</cp:revision>
  <cp:lastPrinted>2025-06-19T22:39:45Z</cp:lastPrinted>
  <dcterms:created xsi:type="dcterms:W3CDTF">2018-12-05T10:12:33Z</dcterms:created>
  <dcterms:modified xsi:type="dcterms:W3CDTF">2025-11-17T10:59:46Z</dcterms:modified>
</cp:coreProperties>
</file>