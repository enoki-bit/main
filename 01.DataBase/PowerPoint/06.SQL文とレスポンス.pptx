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
  </p:notesMasterIdLst>
  <p:handoutMasterIdLst>
    <p:handoutMasterId r:id="rId9"/>
  </p:handoutMasterIdLst>
  <p:sldIdLst>
    <p:sldId id="256" r:id="rId2"/>
    <p:sldId id="275" r:id="rId3"/>
    <p:sldId id="276" r:id="rId4"/>
    <p:sldId id="277" r:id="rId5"/>
    <p:sldId id="278" r:id="rId6"/>
    <p:sldId id="279" r:id="rId7"/>
  </p:sldIdLst>
  <p:sldSz cx="9906000" cy="6858000" type="A4"/>
  <p:notesSz cx="9926638" cy="679767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B548F347-E632-4B36-A0C2-9CCD7ED3F5B1}">
          <p14:sldIdLst>
            <p14:sldId id="256"/>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719C"/>
    <a:srgbClr val="4171D5"/>
    <a:srgbClr val="419BD5"/>
    <a:srgbClr val="898989"/>
    <a:srgbClr val="55AC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6242" autoAdjust="0"/>
  </p:normalViewPr>
  <p:slideViewPr>
    <p:cSldViewPr snapToGrid="0">
      <p:cViewPr varScale="1">
        <p:scale>
          <a:sx n="106" d="100"/>
          <a:sy n="106" d="100"/>
        </p:scale>
        <p:origin x="126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301650" cy="340410"/>
          </a:xfrm>
          <a:prstGeom prst="rect">
            <a:avLst/>
          </a:prstGeom>
        </p:spPr>
        <p:txBody>
          <a:bodyPr vert="horz" lIns="62944" tIns="31473" rIns="62944" bIns="31473" rtlCol="0"/>
          <a:lstStyle>
            <a:lvl1pPr algn="l">
              <a:defRPr sz="800"/>
            </a:lvl1pPr>
          </a:lstStyle>
          <a:p>
            <a:endParaRPr kumimoji="1" lang="ja-JP" altLang="en-US"/>
          </a:p>
        </p:txBody>
      </p:sp>
      <p:sp>
        <p:nvSpPr>
          <p:cNvPr id="3" name="日付プレースホルダー 2"/>
          <p:cNvSpPr>
            <a:spLocks noGrp="1"/>
          </p:cNvSpPr>
          <p:nvPr>
            <p:ph type="dt" sz="quarter" idx="1"/>
          </p:nvPr>
        </p:nvSpPr>
        <p:spPr>
          <a:xfrm>
            <a:off x="5623402" y="0"/>
            <a:ext cx="4301650" cy="340410"/>
          </a:xfrm>
          <a:prstGeom prst="rect">
            <a:avLst/>
          </a:prstGeom>
        </p:spPr>
        <p:txBody>
          <a:bodyPr vert="horz" lIns="62944" tIns="31473" rIns="62944" bIns="31473" rtlCol="0"/>
          <a:lstStyle>
            <a:lvl1pPr algn="r">
              <a:defRPr sz="800"/>
            </a:lvl1pPr>
          </a:lstStyle>
          <a:p>
            <a:fld id="{E2576A4B-778B-4444-AC61-1986328B18B1}" type="datetimeFigureOut">
              <a:rPr kumimoji="1" lang="ja-JP" altLang="en-US" smtClean="0"/>
              <a:t>2025/12/15</a:t>
            </a:fld>
            <a:endParaRPr kumimoji="1" lang="ja-JP" altLang="en-US"/>
          </a:p>
        </p:txBody>
      </p:sp>
      <p:sp>
        <p:nvSpPr>
          <p:cNvPr id="4" name="フッター プレースホルダー 3"/>
          <p:cNvSpPr>
            <a:spLocks noGrp="1"/>
          </p:cNvSpPr>
          <p:nvPr>
            <p:ph type="ftr" sz="quarter" idx="2"/>
          </p:nvPr>
        </p:nvSpPr>
        <p:spPr>
          <a:xfrm>
            <a:off x="1" y="6457265"/>
            <a:ext cx="4301650" cy="340410"/>
          </a:xfrm>
          <a:prstGeom prst="rect">
            <a:avLst/>
          </a:prstGeom>
        </p:spPr>
        <p:txBody>
          <a:bodyPr vert="horz" lIns="62944" tIns="31473" rIns="62944" bIns="31473" rtlCol="0" anchor="b"/>
          <a:lstStyle>
            <a:lvl1pPr algn="l">
              <a:defRPr sz="800"/>
            </a:lvl1pPr>
          </a:lstStyle>
          <a:p>
            <a:endParaRPr kumimoji="1" lang="ja-JP" altLang="en-US"/>
          </a:p>
        </p:txBody>
      </p:sp>
      <p:sp>
        <p:nvSpPr>
          <p:cNvPr id="5" name="スライド番号プレースホルダー 4"/>
          <p:cNvSpPr>
            <a:spLocks noGrp="1"/>
          </p:cNvSpPr>
          <p:nvPr>
            <p:ph type="sldNum" sz="quarter" idx="3"/>
          </p:nvPr>
        </p:nvSpPr>
        <p:spPr>
          <a:xfrm>
            <a:off x="5623402" y="6457265"/>
            <a:ext cx="4301650" cy="340410"/>
          </a:xfrm>
          <a:prstGeom prst="rect">
            <a:avLst/>
          </a:prstGeom>
        </p:spPr>
        <p:txBody>
          <a:bodyPr vert="horz" lIns="62944" tIns="31473" rIns="62944" bIns="31473" rtlCol="0" anchor="b"/>
          <a:lstStyle>
            <a:lvl1pPr algn="r">
              <a:defRPr sz="800"/>
            </a:lvl1pPr>
          </a:lstStyle>
          <a:p>
            <a:fld id="{0FADC253-00B3-415C-B4FD-22E7CAD8C242}" type="slidenum">
              <a:rPr kumimoji="1" lang="ja-JP" altLang="en-US" smtClean="0"/>
              <a:t>‹#›</a:t>
            </a:fld>
            <a:endParaRPr kumimoji="1" lang="ja-JP" altLang="en-US"/>
          </a:p>
        </p:txBody>
      </p:sp>
    </p:spTree>
    <p:extLst>
      <p:ext uri="{BB962C8B-B14F-4D97-AF65-F5344CB8AC3E}">
        <p14:creationId xmlns:p14="http://schemas.microsoft.com/office/powerpoint/2010/main" val="4030714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301544" cy="341064"/>
          </a:xfrm>
          <a:prstGeom prst="rect">
            <a:avLst/>
          </a:prstGeom>
        </p:spPr>
        <p:txBody>
          <a:bodyPr vert="horz" lIns="95550" tIns="47775" rIns="95550" bIns="47775"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2798" y="0"/>
            <a:ext cx="4301544" cy="341064"/>
          </a:xfrm>
          <a:prstGeom prst="rect">
            <a:avLst/>
          </a:prstGeom>
        </p:spPr>
        <p:txBody>
          <a:bodyPr vert="horz" lIns="95550" tIns="47775" rIns="95550" bIns="47775" rtlCol="0"/>
          <a:lstStyle>
            <a:lvl1pPr algn="r">
              <a:defRPr sz="1200"/>
            </a:lvl1pPr>
          </a:lstStyle>
          <a:p>
            <a:fld id="{77BB2CB4-990A-49C4-AADC-9B2CA19E50BC}" type="datetimeFigureOut">
              <a:rPr kumimoji="1" lang="ja-JP" altLang="en-US" smtClean="0"/>
              <a:t>2025/12/15</a:t>
            </a:fld>
            <a:endParaRPr kumimoji="1" lang="ja-JP" altLang="en-US"/>
          </a:p>
        </p:txBody>
      </p:sp>
      <p:sp>
        <p:nvSpPr>
          <p:cNvPr id="4" name="スライド イメージ プレースホルダー 3"/>
          <p:cNvSpPr>
            <a:spLocks noGrp="1" noRot="1" noChangeAspect="1"/>
          </p:cNvSpPr>
          <p:nvPr>
            <p:ph type="sldImg" idx="2"/>
          </p:nvPr>
        </p:nvSpPr>
        <p:spPr>
          <a:xfrm>
            <a:off x="3306763" y="849313"/>
            <a:ext cx="3313112" cy="2293937"/>
          </a:xfrm>
          <a:prstGeom prst="rect">
            <a:avLst/>
          </a:prstGeom>
          <a:noFill/>
          <a:ln w="12700">
            <a:solidFill>
              <a:prstClr val="black"/>
            </a:solidFill>
          </a:ln>
        </p:spPr>
        <p:txBody>
          <a:bodyPr vert="horz" lIns="95550" tIns="47775" rIns="95550" bIns="47775" rtlCol="0" anchor="ctr"/>
          <a:lstStyle/>
          <a:p>
            <a:endParaRPr lang="ja-JP" altLang="en-US"/>
          </a:p>
        </p:txBody>
      </p:sp>
      <p:sp>
        <p:nvSpPr>
          <p:cNvPr id="5" name="ノート プレースホルダー 4"/>
          <p:cNvSpPr>
            <a:spLocks noGrp="1"/>
          </p:cNvSpPr>
          <p:nvPr>
            <p:ph type="body" sz="quarter" idx="3"/>
          </p:nvPr>
        </p:nvSpPr>
        <p:spPr>
          <a:xfrm>
            <a:off x="992665" y="3271383"/>
            <a:ext cx="7941310" cy="2676584"/>
          </a:xfrm>
          <a:prstGeom prst="rect">
            <a:avLst/>
          </a:prstGeom>
        </p:spPr>
        <p:txBody>
          <a:bodyPr vert="horz" lIns="95550" tIns="47775" rIns="95550" bIns="4777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6456613"/>
            <a:ext cx="4301544" cy="341063"/>
          </a:xfrm>
          <a:prstGeom prst="rect">
            <a:avLst/>
          </a:prstGeom>
        </p:spPr>
        <p:txBody>
          <a:bodyPr vert="horz" lIns="95550" tIns="47775" rIns="95550" bIns="4777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2798" y="6456613"/>
            <a:ext cx="4301544" cy="341063"/>
          </a:xfrm>
          <a:prstGeom prst="rect">
            <a:avLst/>
          </a:prstGeom>
        </p:spPr>
        <p:txBody>
          <a:bodyPr vert="horz" lIns="95550" tIns="47775" rIns="95550" bIns="47775" rtlCol="0" anchor="b"/>
          <a:lstStyle>
            <a:lvl1pPr algn="r">
              <a:defRPr sz="1200"/>
            </a:lvl1pPr>
          </a:lstStyle>
          <a:p>
            <a:fld id="{30F9B3CF-BB5E-499C-96DD-F47E22CF7B26}" type="slidenum">
              <a:rPr kumimoji="1" lang="ja-JP" altLang="en-US" smtClean="0"/>
              <a:t>‹#›</a:t>
            </a:fld>
            <a:endParaRPr kumimoji="1" lang="ja-JP" altLang="en-US"/>
          </a:p>
        </p:txBody>
      </p:sp>
    </p:spTree>
    <p:extLst>
      <p:ext uri="{BB962C8B-B14F-4D97-AF65-F5344CB8AC3E}">
        <p14:creationId xmlns:p14="http://schemas.microsoft.com/office/powerpoint/2010/main" val="39008399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306763" y="849313"/>
            <a:ext cx="3313112" cy="2293937"/>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30F9B3CF-BB5E-499C-96DD-F47E22CF7B26}" type="slidenum">
              <a:rPr kumimoji="1" lang="ja-JP" altLang="en-US" smtClean="0"/>
              <a:t>1</a:t>
            </a:fld>
            <a:endParaRPr kumimoji="1" lang="ja-JP" altLang="en-US"/>
          </a:p>
        </p:txBody>
      </p:sp>
    </p:spTree>
    <p:extLst>
      <p:ext uri="{BB962C8B-B14F-4D97-AF65-F5344CB8AC3E}">
        <p14:creationId xmlns:p14="http://schemas.microsoft.com/office/powerpoint/2010/main" val="1922228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例題</a:t>
            </a:r>
            <a:r>
              <a:rPr kumimoji="1" lang="en-US" altLang="ja-JP" dirty="0"/>
              <a:t>1】</a:t>
            </a:r>
          </a:p>
          <a:p>
            <a:r>
              <a:rPr kumimoji="1" lang="en-US" altLang="ja-JP" dirty="0"/>
              <a:t>SELECT</a:t>
            </a:r>
          </a:p>
          <a:p>
            <a:r>
              <a:rPr kumimoji="1" lang="en-US" altLang="ja-JP" dirty="0"/>
              <a:t>    *</a:t>
            </a:r>
          </a:p>
          <a:p>
            <a:r>
              <a:rPr kumimoji="1" lang="en-US" altLang="ja-JP" dirty="0"/>
              <a:t>FROM t_</a:t>
            </a:r>
            <a:r>
              <a:rPr kumimoji="1" lang="ja-JP" altLang="en-US" dirty="0"/>
              <a:t>売上</a:t>
            </a:r>
          </a:p>
          <a:p>
            <a:r>
              <a:rPr kumimoji="1" lang="en-US" altLang="ja-JP" dirty="0"/>
              <a:t>WHERE </a:t>
            </a:r>
            <a:r>
              <a:rPr kumimoji="1" lang="ja-JP" altLang="en-US" dirty="0"/>
              <a:t>売上日 </a:t>
            </a:r>
            <a:r>
              <a:rPr kumimoji="1" lang="en-US" altLang="ja-JP" dirty="0"/>
              <a:t>= '2025/04/01';</a:t>
            </a:r>
          </a:p>
          <a:p>
            <a:endParaRPr kumimoji="1" lang="en-US" altLang="ja-JP" dirty="0"/>
          </a:p>
          <a:p>
            <a:r>
              <a:rPr kumimoji="1" lang="en-US" altLang="ja-JP" dirty="0"/>
              <a:t>SELECT</a:t>
            </a:r>
          </a:p>
          <a:p>
            <a:r>
              <a:rPr kumimoji="1" lang="en-US" altLang="ja-JP" dirty="0"/>
              <a:t>    </a:t>
            </a:r>
            <a:r>
              <a:rPr kumimoji="1" lang="ja-JP" altLang="en-US" dirty="0"/>
              <a:t>売上伝票番号</a:t>
            </a:r>
          </a:p>
          <a:p>
            <a:r>
              <a:rPr kumimoji="1" lang="en-US" altLang="ja-JP" dirty="0"/>
              <a:t>FROM t_</a:t>
            </a:r>
            <a:r>
              <a:rPr kumimoji="1" lang="ja-JP" altLang="en-US" dirty="0"/>
              <a:t>売上</a:t>
            </a:r>
          </a:p>
          <a:p>
            <a:r>
              <a:rPr kumimoji="1" lang="en-US" altLang="ja-JP" dirty="0"/>
              <a:t>WHERE </a:t>
            </a:r>
            <a:r>
              <a:rPr kumimoji="1" lang="ja-JP" altLang="en-US" dirty="0"/>
              <a:t>売上日 </a:t>
            </a:r>
            <a:r>
              <a:rPr kumimoji="1" lang="en-US" altLang="ja-JP" dirty="0"/>
              <a:t>= '2025/04/01';</a:t>
            </a:r>
          </a:p>
          <a:p>
            <a:endParaRPr kumimoji="1" lang="ja-JP" altLang="en-US" dirty="0"/>
          </a:p>
        </p:txBody>
      </p:sp>
      <p:sp>
        <p:nvSpPr>
          <p:cNvPr id="4" name="スライド番号プレースホルダー 3"/>
          <p:cNvSpPr>
            <a:spLocks noGrp="1"/>
          </p:cNvSpPr>
          <p:nvPr>
            <p:ph type="sldNum" sz="quarter" idx="5"/>
          </p:nvPr>
        </p:nvSpPr>
        <p:spPr/>
        <p:txBody>
          <a:bodyPr/>
          <a:lstStyle/>
          <a:p>
            <a:fld id="{30F9B3CF-BB5E-499C-96DD-F47E22CF7B26}" type="slidenum">
              <a:rPr kumimoji="1" lang="ja-JP" altLang="en-US" smtClean="0"/>
              <a:t>2</a:t>
            </a:fld>
            <a:endParaRPr kumimoji="1" lang="ja-JP" altLang="en-US"/>
          </a:p>
        </p:txBody>
      </p:sp>
    </p:spTree>
    <p:extLst>
      <p:ext uri="{BB962C8B-B14F-4D97-AF65-F5344CB8AC3E}">
        <p14:creationId xmlns:p14="http://schemas.microsoft.com/office/powerpoint/2010/main" val="13472590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906396"/>
            <a:ext cx="8420100" cy="721361"/>
          </a:xfrm>
          <a:prstGeom prst="rect">
            <a:avLst/>
          </a:prstGeom>
        </p:spPr>
        <p:txBody>
          <a:bodyPr anchor="ctr">
            <a:normAutofit/>
          </a:bodyPr>
          <a:lstStyle>
            <a:lvl1pPr algn="ctr">
              <a:defRPr sz="3600">
                <a:latin typeface="メイリオ" panose="020B0604030504040204" pitchFamily="50" charset="-128"/>
                <a:ea typeface="メイリオ" panose="020B0604030504040204" pitchFamily="50" charset="-128"/>
                <a:cs typeface="メイリオ" panose="020B0604030504040204" pitchFamily="50" charset="-128"/>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238250" y="2820795"/>
            <a:ext cx="7429500" cy="726440"/>
          </a:xfrm>
          <a:prstGeom prst="rect">
            <a:avLst/>
          </a:prstGeom>
        </p:spPr>
        <p:txBody>
          <a:bodyPr anchor="ctr">
            <a:normAutofit/>
          </a:bodyPr>
          <a:lstStyle>
            <a:lvl1pPr marL="0" indent="0" algn="ctr">
              <a:buNone/>
              <a:defRPr sz="1600">
                <a:latin typeface="メイリオ" panose="020B0604030504040204" pitchFamily="50" charset="-128"/>
                <a:ea typeface="メイリオ" panose="020B0604030504040204" pitchFamily="50" charset="-128"/>
                <a:cs typeface="メイリオ" panose="020B0604030504040204" pitchFamily="50" charset="-128"/>
              </a:defRPr>
            </a:lvl1pPr>
            <a:lvl2pPr marL="457197"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4" indent="0" algn="ctr">
              <a:buNone/>
              <a:defRPr sz="1600"/>
            </a:lvl7pPr>
            <a:lvl8pPr marL="3200381" indent="0" algn="ctr">
              <a:buNone/>
              <a:defRPr sz="1600"/>
            </a:lvl8pPr>
            <a:lvl9pPr marL="3657579" indent="0" algn="ctr">
              <a:buNone/>
              <a:defRPr sz="1600"/>
            </a:lvl9pPr>
          </a:lstStyle>
          <a:p>
            <a:r>
              <a:rPr lang="ja-JP" altLang="en-US"/>
              <a:t>マスター サブタイトルの書式設定</a:t>
            </a:r>
            <a:endParaRPr lang="en-US" dirty="0"/>
          </a:p>
        </p:txBody>
      </p:sp>
      <p:sp>
        <p:nvSpPr>
          <p:cNvPr id="6" name="Slide Number Placeholder 5"/>
          <p:cNvSpPr>
            <a:spLocks noGrp="1"/>
          </p:cNvSpPr>
          <p:nvPr>
            <p:ph type="sldNum" sz="quarter" idx="12"/>
          </p:nvPr>
        </p:nvSpPr>
        <p:spPr>
          <a:xfrm>
            <a:off x="7668260" y="6519600"/>
            <a:ext cx="2228850" cy="324000"/>
          </a:xfrm>
        </p:spPr>
        <p:txBody>
          <a:bodyPr/>
          <a:lstStyle>
            <a:lvl1pPr>
              <a:defRPr sz="1100">
                <a:latin typeface="メイリオ" panose="020B0604030504040204" pitchFamily="50" charset="-128"/>
                <a:ea typeface="メイリオ" panose="020B0604030504040204" pitchFamily="50" charset="-128"/>
                <a:cs typeface="メイリオ" panose="020B0604030504040204" pitchFamily="50" charset="-128"/>
              </a:defRPr>
            </a:lvl1pPr>
          </a:lstStyle>
          <a:p>
            <a:fld id="{0BDC6CC0-337C-4DEC-BAED-08CE4EABF7AC}" type="slidenum">
              <a:rPr lang="ja-JP" altLang="en-US" smtClean="0"/>
              <a:pPr/>
              <a:t>‹#›</a:t>
            </a:fld>
            <a:endParaRPr lang="ja-JP" altLang="en-US" dirty="0"/>
          </a:p>
        </p:txBody>
      </p:sp>
      <p:pic>
        <p:nvPicPr>
          <p:cNvPr id="10" name="図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03440" y="37797"/>
            <a:ext cx="2672018" cy="464406"/>
          </a:xfrm>
          <a:prstGeom prst="rect">
            <a:avLst/>
          </a:prstGeom>
        </p:spPr>
      </p:pic>
    </p:spTree>
    <p:extLst>
      <p:ext uri="{BB962C8B-B14F-4D97-AF65-F5344CB8AC3E}">
        <p14:creationId xmlns:p14="http://schemas.microsoft.com/office/powerpoint/2010/main" val="478828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112543" y="62073"/>
            <a:ext cx="9784308" cy="444366"/>
          </a:xfrm>
          <a:prstGeom prst="rect">
            <a:avLst/>
          </a:prstGeom>
        </p:spPr>
        <p:txBody>
          <a:bodyPr vert="horz" anchor="ctr">
            <a:noAutofit/>
          </a:bodyPr>
          <a:lstStyle>
            <a:lvl1pPr>
              <a:lnSpc>
                <a:spcPts val="3360"/>
              </a:lnSpc>
              <a:defRPr sz="2800">
                <a:solidFill>
                  <a:schemeClr val="bg1"/>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kumimoji="1" lang="ja-JP" altLang="en-US" dirty="0"/>
              <a:t>マスター タイトルの書式設定</a:t>
            </a:r>
          </a:p>
        </p:txBody>
      </p:sp>
      <p:sp>
        <p:nvSpPr>
          <p:cNvPr id="5" name="スライド番号プレースホルダー 4"/>
          <p:cNvSpPr>
            <a:spLocks noGrp="1"/>
          </p:cNvSpPr>
          <p:nvPr>
            <p:ph type="sldNum" sz="quarter" idx="12"/>
          </p:nvPr>
        </p:nvSpPr>
        <p:spPr>
          <a:xfrm>
            <a:off x="7668000" y="6543434"/>
            <a:ext cx="2228850" cy="276999"/>
          </a:xfrm>
        </p:spPr>
        <p:txBody>
          <a:bodyPr vert="horz">
            <a:noAutofit/>
          </a:bodyPr>
          <a:lstStyle>
            <a:lvl1pPr>
              <a:defRPr>
                <a:solidFill>
                  <a:srgbClr val="898989"/>
                </a:solidFill>
              </a:defRPr>
            </a:lvl1pPr>
          </a:lstStyle>
          <a:p>
            <a:fld id="{0BDC6CC0-337C-4DEC-BAED-08CE4EABF7AC}" type="slidenum">
              <a:rPr lang="ja-JP" altLang="en-US" smtClean="0"/>
              <a:pPr/>
              <a:t>‹#›</a:t>
            </a:fld>
            <a:endParaRPr lang="ja-JP" altLang="en-US" dirty="0"/>
          </a:p>
        </p:txBody>
      </p:sp>
    </p:spTree>
    <p:extLst>
      <p:ext uri="{BB962C8B-B14F-4D97-AF65-F5344CB8AC3E}">
        <p14:creationId xmlns:p14="http://schemas.microsoft.com/office/powerpoint/2010/main" val="12655400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正方形/長方形 6"/>
          <p:cNvSpPr/>
          <p:nvPr userDrawn="1"/>
        </p:nvSpPr>
        <p:spPr>
          <a:xfrm>
            <a:off x="0" y="0"/>
            <a:ext cx="9906000" cy="540000"/>
          </a:xfrm>
          <a:prstGeom prst="rect">
            <a:avLst/>
          </a:prstGeom>
          <a:solidFill>
            <a:srgbClr val="55A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6" name="Slide Number Placeholder 5"/>
          <p:cNvSpPr>
            <a:spLocks noGrp="1"/>
          </p:cNvSpPr>
          <p:nvPr>
            <p:ph type="sldNum" sz="quarter" idx="4"/>
          </p:nvPr>
        </p:nvSpPr>
        <p:spPr>
          <a:xfrm>
            <a:off x="7668000" y="6519932"/>
            <a:ext cx="2228850" cy="324000"/>
          </a:xfrm>
          <a:prstGeom prst="rect">
            <a:avLst/>
          </a:prstGeom>
        </p:spPr>
        <p:txBody>
          <a:bodyPr vert="horz" lIns="91440" tIns="45720" rIns="91440" bIns="45720" rtlCol="0" anchor="ctr"/>
          <a:lstStyle>
            <a:lvl1pPr algn="r">
              <a:defRPr sz="1200">
                <a:solidFill>
                  <a:schemeClr val="tx1">
                    <a:tint val="75000"/>
                  </a:schemeClr>
                </a:solidFill>
              </a:defRPr>
            </a:lvl1pPr>
          </a:lstStyle>
          <a:p>
            <a:fld id="{0BDC6CC0-337C-4DEC-BAED-08CE4EABF7AC}" type="slidenum">
              <a:rPr kumimoji="1" lang="ja-JP" altLang="en-US" smtClean="0"/>
              <a:t>‹#›</a:t>
            </a:fld>
            <a:endParaRPr kumimoji="1" lang="ja-JP" altLang="en-US"/>
          </a:p>
        </p:txBody>
      </p:sp>
      <p:cxnSp>
        <p:nvCxnSpPr>
          <p:cNvPr id="8" name="直線コネクタ 7"/>
          <p:cNvCxnSpPr/>
          <p:nvPr userDrawn="1"/>
        </p:nvCxnSpPr>
        <p:spPr>
          <a:xfrm>
            <a:off x="0" y="6478807"/>
            <a:ext cx="9906000" cy="0"/>
          </a:xfrm>
          <a:prstGeom prst="line">
            <a:avLst/>
          </a:prstGeom>
          <a:ln w="38100">
            <a:solidFill>
              <a:srgbClr val="55ACE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037557"/>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ftr="0" dt="0"/>
  <p:txStyles>
    <p:titleStyle>
      <a:lvl1pPr algn="l" defTabSz="914395"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99" indent="-228599" algn="l" defTabSz="914395"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96" indent="-228599" algn="l" defTabSz="914395"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93" indent="-228599" algn="l" defTabSz="914395"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91"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88"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85"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83"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80"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77"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395" rtl="0" eaLnBrk="1" latinLnBrk="0" hangingPunct="1">
        <a:defRPr kumimoji="1" sz="1800" kern="1200">
          <a:solidFill>
            <a:schemeClr val="tx1"/>
          </a:solidFill>
          <a:latin typeface="+mn-lt"/>
          <a:ea typeface="+mn-ea"/>
          <a:cs typeface="+mn-cs"/>
        </a:defRPr>
      </a:lvl1pPr>
      <a:lvl2pPr marL="457197" algn="l" defTabSz="914395" rtl="0" eaLnBrk="1" latinLnBrk="0" hangingPunct="1">
        <a:defRPr kumimoji="1" sz="1800" kern="1200">
          <a:solidFill>
            <a:schemeClr val="tx1"/>
          </a:solidFill>
          <a:latin typeface="+mn-lt"/>
          <a:ea typeface="+mn-ea"/>
          <a:cs typeface="+mn-cs"/>
        </a:defRPr>
      </a:lvl2pPr>
      <a:lvl3pPr marL="914395" algn="l" defTabSz="914395" rtl="0" eaLnBrk="1" latinLnBrk="0" hangingPunct="1">
        <a:defRPr kumimoji="1" sz="1800" kern="1200">
          <a:solidFill>
            <a:schemeClr val="tx1"/>
          </a:solidFill>
          <a:latin typeface="+mn-lt"/>
          <a:ea typeface="+mn-ea"/>
          <a:cs typeface="+mn-cs"/>
        </a:defRPr>
      </a:lvl3pPr>
      <a:lvl4pPr marL="1371592" algn="l" defTabSz="914395" rtl="0" eaLnBrk="1" latinLnBrk="0" hangingPunct="1">
        <a:defRPr kumimoji="1" sz="1800" kern="1200">
          <a:solidFill>
            <a:schemeClr val="tx1"/>
          </a:solidFill>
          <a:latin typeface="+mn-lt"/>
          <a:ea typeface="+mn-ea"/>
          <a:cs typeface="+mn-cs"/>
        </a:defRPr>
      </a:lvl4pPr>
      <a:lvl5pPr marL="1828789" algn="l" defTabSz="914395" rtl="0" eaLnBrk="1" latinLnBrk="0" hangingPunct="1">
        <a:defRPr kumimoji="1" sz="1800" kern="1200">
          <a:solidFill>
            <a:schemeClr val="tx1"/>
          </a:solidFill>
          <a:latin typeface="+mn-lt"/>
          <a:ea typeface="+mn-ea"/>
          <a:cs typeface="+mn-cs"/>
        </a:defRPr>
      </a:lvl5pPr>
      <a:lvl6pPr marL="2285987" algn="l" defTabSz="914395" rtl="0" eaLnBrk="1" latinLnBrk="0" hangingPunct="1">
        <a:defRPr kumimoji="1" sz="1800" kern="1200">
          <a:solidFill>
            <a:schemeClr val="tx1"/>
          </a:solidFill>
          <a:latin typeface="+mn-lt"/>
          <a:ea typeface="+mn-ea"/>
          <a:cs typeface="+mn-cs"/>
        </a:defRPr>
      </a:lvl6pPr>
      <a:lvl7pPr marL="2743184" algn="l" defTabSz="914395" rtl="0" eaLnBrk="1" latinLnBrk="0" hangingPunct="1">
        <a:defRPr kumimoji="1" sz="1800" kern="1200">
          <a:solidFill>
            <a:schemeClr val="tx1"/>
          </a:solidFill>
          <a:latin typeface="+mn-lt"/>
          <a:ea typeface="+mn-ea"/>
          <a:cs typeface="+mn-cs"/>
        </a:defRPr>
      </a:lvl7pPr>
      <a:lvl8pPr marL="3200381" algn="l" defTabSz="914395" rtl="0" eaLnBrk="1" latinLnBrk="0" hangingPunct="1">
        <a:defRPr kumimoji="1" sz="1800" kern="1200">
          <a:solidFill>
            <a:schemeClr val="tx1"/>
          </a:solidFill>
          <a:latin typeface="+mn-lt"/>
          <a:ea typeface="+mn-ea"/>
          <a:cs typeface="+mn-cs"/>
        </a:defRPr>
      </a:lvl8pPr>
      <a:lvl9pPr marL="3657579" algn="l" defTabSz="914395"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70555"/>
            <a:ext cx="8420100" cy="721361"/>
          </a:xfrm>
        </p:spPr>
        <p:txBody>
          <a:bodyPr>
            <a:normAutofit/>
          </a:bodyPr>
          <a:lstStyle/>
          <a:p>
            <a:r>
              <a:rPr lang="en-US" altLang="ja-JP" sz="2800" dirty="0"/>
              <a:t>【</a:t>
            </a:r>
            <a:r>
              <a:rPr lang="ja-JP" altLang="en-US" sz="2800" dirty="0"/>
              <a:t>第</a:t>
            </a:r>
            <a:r>
              <a:rPr lang="en-US" altLang="ja-JP" sz="2800" dirty="0"/>
              <a:t>6</a:t>
            </a:r>
            <a:r>
              <a:rPr lang="ja-JP" altLang="en-US" sz="2800" dirty="0"/>
              <a:t>回</a:t>
            </a:r>
            <a:r>
              <a:rPr lang="en-US" altLang="ja-JP" sz="2800" dirty="0"/>
              <a:t>】SQL</a:t>
            </a:r>
            <a:r>
              <a:rPr lang="ja-JP" altLang="en-US" sz="2800" dirty="0"/>
              <a:t>文とレスポンス</a:t>
            </a:r>
            <a:endParaRPr kumimoji="1" lang="ja-JP" altLang="en-US" sz="2800" dirty="0"/>
          </a:p>
        </p:txBody>
      </p:sp>
      <p:sp>
        <p:nvSpPr>
          <p:cNvPr id="5" name="スライド番号プレースホルダー 4"/>
          <p:cNvSpPr>
            <a:spLocks noGrp="1"/>
          </p:cNvSpPr>
          <p:nvPr>
            <p:ph type="sldNum" sz="quarter" idx="12"/>
          </p:nvPr>
        </p:nvSpPr>
        <p:spPr/>
        <p:txBody>
          <a:bodyPr/>
          <a:lstStyle/>
          <a:p>
            <a:fld id="{0BDC6CC0-337C-4DEC-BAED-08CE4EABF7AC}" type="slidenum">
              <a:rPr lang="ja-JP" altLang="en-US" smtClean="0"/>
              <a:pPr/>
              <a:t>1</a:t>
            </a:fld>
            <a:endParaRPr lang="ja-JP" altLang="en-US"/>
          </a:p>
        </p:txBody>
      </p:sp>
      <p:sp>
        <p:nvSpPr>
          <p:cNvPr id="6" name="字幕 5">
            <a:extLst>
              <a:ext uri="{FF2B5EF4-FFF2-40B4-BE49-F238E27FC236}">
                <a16:creationId xmlns:a16="http://schemas.microsoft.com/office/drawing/2014/main" id="{965CA2C2-7036-4887-B651-FDDDA96932CB}"/>
              </a:ext>
            </a:extLst>
          </p:cNvPr>
          <p:cNvSpPr>
            <a:spLocks noGrp="1"/>
          </p:cNvSpPr>
          <p:nvPr>
            <p:ph type="subTitle" idx="1"/>
          </p:nvPr>
        </p:nvSpPr>
        <p:spPr/>
        <p:txBody>
          <a:bodyPr/>
          <a:lstStyle/>
          <a:p>
            <a:endParaRPr lang="ja-JP" altLang="en-US" dirty="0"/>
          </a:p>
        </p:txBody>
      </p:sp>
    </p:spTree>
    <p:extLst>
      <p:ext uri="{BB962C8B-B14F-4D97-AF65-F5344CB8AC3E}">
        <p14:creationId xmlns:p14="http://schemas.microsoft.com/office/powerpoint/2010/main" val="7776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913AF-F2E1-A629-2C17-5C110C4571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699320-D74D-882C-EBEE-FF3BDE423CF1}"/>
              </a:ext>
            </a:extLst>
          </p:cNvPr>
          <p:cNvSpPr>
            <a:spLocks noGrp="1"/>
          </p:cNvSpPr>
          <p:nvPr>
            <p:ph type="title"/>
          </p:nvPr>
        </p:nvSpPr>
        <p:spPr/>
        <p:txBody>
          <a:bodyPr/>
          <a:lstStyle/>
          <a:p>
            <a:r>
              <a:rPr kumimoji="1" lang="en-US" altLang="ja-JP" dirty="0"/>
              <a:t>1. SQL</a:t>
            </a:r>
            <a:r>
              <a:rPr kumimoji="1" lang="ja-JP" altLang="en-US" dirty="0"/>
              <a:t>文のレスポンスについて</a:t>
            </a:r>
          </a:p>
        </p:txBody>
      </p:sp>
      <p:sp>
        <p:nvSpPr>
          <p:cNvPr id="3" name="スライド番号プレースホルダー 2">
            <a:extLst>
              <a:ext uri="{FF2B5EF4-FFF2-40B4-BE49-F238E27FC236}">
                <a16:creationId xmlns:a16="http://schemas.microsoft.com/office/drawing/2014/main" id="{C827DD05-5EE0-B4A9-B42C-8FF924C3925C}"/>
              </a:ext>
            </a:extLst>
          </p:cNvPr>
          <p:cNvSpPr>
            <a:spLocks noGrp="1"/>
          </p:cNvSpPr>
          <p:nvPr>
            <p:ph type="sldNum" sz="quarter" idx="12"/>
          </p:nvPr>
        </p:nvSpPr>
        <p:spPr/>
        <p:txBody>
          <a:bodyPr/>
          <a:lstStyle/>
          <a:p>
            <a:fld id="{0BDC6CC0-337C-4DEC-BAED-08CE4EABF7AC}" type="slidenum">
              <a:rPr lang="ja-JP" altLang="en-US" smtClean="0"/>
              <a:pPr/>
              <a:t>2</a:t>
            </a:fld>
            <a:endParaRPr lang="ja-JP" altLang="en-US" dirty="0"/>
          </a:p>
        </p:txBody>
      </p:sp>
      <p:sp>
        <p:nvSpPr>
          <p:cNvPr id="4" name="テキスト ボックス 3">
            <a:extLst>
              <a:ext uri="{FF2B5EF4-FFF2-40B4-BE49-F238E27FC236}">
                <a16:creationId xmlns:a16="http://schemas.microsoft.com/office/drawing/2014/main" id="{576D68BD-3D6C-119E-DD30-2083D16758ED}"/>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レスポンスとは？</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6D7A0E13-44CA-76AD-6861-E943BFBA23A8}"/>
              </a:ext>
            </a:extLst>
          </p:cNvPr>
          <p:cNvSpPr txBox="1"/>
          <p:nvPr/>
        </p:nvSpPr>
        <p:spPr>
          <a:xfrm>
            <a:off x="112541" y="953339"/>
            <a:ext cx="9636369" cy="178510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レスポンスとは、</a:t>
            </a:r>
            <a:r>
              <a:rPr lang="ja-JP" altLang="en-US"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実行した</a:t>
            </a:r>
            <a:r>
              <a:rPr lang="en-US" altLang="ja-JP"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文の応答速度</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のことをいう。</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レスポンスは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文の書き方やデータベースのチューニングなどに依存し、特にクライアントサーバーシステム</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(CSS)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などに利用される複数のユーザーがアクセスするデータベースに対しては、レスポンスの良い</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文を作成</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することはシステムそのものの処理速度に大きく依存するものとなる。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文のレスポンスは、</a:t>
            </a:r>
            <a:r>
              <a:rPr lang="ja-JP" altLang="en-US"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実行時間</a:t>
            </a:r>
            <a:r>
              <a:rPr lang="en-US" altLang="ja-JP"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(Duration)</a:t>
            </a:r>
            <a:r>
              <a:rPr lang="ja-JP" altLang="en-US"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と取得データの返却にかかる時間</a:t>
            </a:r>
            <a:r>
              <a:rPr lang="en-US" altLang="ja-JP"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(Fetch)</a:t>
            </a:r>
            <a:r>
              <a:rPr lang="ja-JP" altLang="en-US"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の合</a:t>
            </a:r>
            <a:endParaRPr lang="en-US" altLang="ja-JP"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計</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で評価することができ、この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つを向上させることにより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文のレスポンスをよくすることができる。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A9A93143-1A46-5C1D-56C5-A51AEC947AB7}"/>
              </a:ext>
            </a:extLst>
          </p:cNvPr>
          <p:cNvSpPr txBox="1"/>
          <p:nvPr/>
        </p:nvSpPr>
        <p:spPr>
          <a:xfrm>
            <a:off x="112541" y="2808004"/>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1-2.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効率の良い</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レスポンスの良い</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文の記述方法</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CAD405CB-AA79-28DB-A078-0044FE178C0D}"/>
              </a:ext>
            </a:extLst>
          </p:cNvPr>
          <p:cNvSpPr txBox="1"/>
          <p:nvPr/>
        </p:nvSpPr>
        <p:spPr>
          <a:xfrm>
            <a:off x="112541" y="3185342"/>
            <a:ext cx="9636369" cy="1600438"/>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①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句では、</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アスタリスク</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の使用は避け、必要なフィールドのみを取得する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句を指定することにより、取得対象のフィールドが限定されるため、</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Fetch</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にかかる時間を短縮</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ことが可能となり、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文のレスポンス向上に期待ができる。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1】</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の売上日</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[2025/04/01]</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のレコードを取得する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文で、</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句を</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で指定したものと売上伝票番号のみを指定したものを作成し、レスポンスの比較をしなさい。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919186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6BB18-5F78-D7DC-BF37-E81348FF2776}"/>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00AF3086-136D-595B-DDC3-0820BACFD847}"/>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1-2.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効率の良い</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レスポンスの良い</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文の記述方法</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タイトル 1">
            <a:extLst>
              <a:ext uri="{FF2B5EF4-FFF2-40B4-BE49-F238E27FC236}">
                <a16:creationId xmlns:a16="http://schemas.microsoft.com/office/drawing/2014/main" id="{9F670AAC-E5B8-A693-AAC5-F24B269DDF2C}"/>
              </a:ext>
            </a:extLst>
          </p:cNvPr>
          <p:cNvSpPr>
            <a:spLocks noGrp="1"/>
          </p:cNvSpPr>
          <p:nvPr>
            <p:ph type="title"/>
          </p:nvPr>
        </p:nvSpPr>
        <p:spPr/>
        <p:txBody>
          <a:bodyPr/>
          <a:lstStyle/>
          <a:p>
            <a:r>
              <a:rPr kumimoji="1" lang="en-US" altLang="ja-JP" dirty="0"/>
              <a:t>1. SQL</a:t>
            </a:r>
            <a:r>
              <a:rPr kumimoji="1" lang="ja-JP" altLang="en-US" dirty="0"/>
              <a:t>文のレスポンスについて</a:t>
            </a:r>
          </a:p>
        </p:txBody>
      </p:sp>
      <p:sp>
        <p:nvSpPr>
          <p:cNvPr id="3" name="スライド番号プレースホルダー 2">
            <a:extLst>
              <a:ext uri="{FF2B5EF4-FFF2-40B4-BE49-F238E27FC236}">
                <a16:creationId xmlns:a16="http://schemas.microsoft.com/office/drawing/2014/main" id="{AC14C096-3FD1-0C83-3F62-D93BBB954DA0}"/>
              </a:ext>
            </a:extLst>
          </p:cNvPr>
          <p:cNvSpPr>
            <a:spLocks noGrp="1"/>
          </p:cNvSpPr>
          <p:nvPr>
            <p:ph type="sldNum" sz="quarter" idx="12"/>
          </p:nvPr>
        </p:nvSpPr>
        <p:spPr/>
        <p:txBody>
          <a:bodyPr/>
          <a:lstStyle/>
          <a:p>
            <a:fld id="{0BDC6CC0-337C-4DEC-BAED-08CE4EABF7AC}" type="slidenum">
              <a:rPr lang="ja-JP" altLang="en-US" smtClean="0"/>
              <a:pPr/>
              <a:t>3</a:t>
            </a:fld>
            <a:endParaRPr lang="ja-JP" altLang="en-US" dirty="0"/>
          </a:p>
        </p:txBody>
      </p:sp>
      <p:sp>
        <p:nvSpPr>
          <p:cNvPr id="7" name="テキスト ボックス 6">
            <a:extLst>
              <a:ext uri="{FF2B5EF4-FFF2-40B4-BE49-F238E27FC236}">
                <a16:creationId xmlns:a16="http://schemas.microsoft.com/office/drawing/2014/main" id="{830A4F0E-0016-8B61-7CF3-774874C05B54}"/>
              </a:ext>
            </a:extLst>
          </p:cNvPr>
          <p:cNvSpPr txBox="1"/>
          <p:nvPr/>
        </p:nvSpPr>
        <p:spPr>
          <a:xfrm>
            <a:off x="112541" y="953340"/>
            <a:ext cx="9636369" cy="5693866"/>
          </a:xfrm>
          <a:prstGeom prst="rect">
            <a:avLst/>
          </a:prstGeom>
          <a:noFill/>
        </p:spPr>
        <p:txBody>
          <a:bodyPr wrap="square" rtlCol="0">
            <a:spAutoFit/>
          </a:bodyPr>
          <a:lstStyle/>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② 条件指定・結合条件に暗黙の型変換が発生しないようにする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・暗黙の型変換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フィールド値やパラメータの値の変換をデータベースに委ね、自動変換させること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多くのデータベースでは、構文上条件指定や結合条件では左右の型の不一致ではエラーになることがなく、</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データベース自身が自動で型変換を実施するが、</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型変換にコストがかかってしまう</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ため、</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文のレスポ</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ンス低下につながる。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③ パーティションやインデックスを活用する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・パーティション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巨大な一つのテーブルを、特定のフィールドの値に基づいて内部的に複数の小さなパー</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ティションに分割して管理すること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上記テーブルで</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性別</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ID]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に対してパーティションを貼った場合、</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句で</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性別</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ID]</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を指定した</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場合には、</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指定されたパーティションのレコードのみが検索対象</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となり、レスポンス向上につながる。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ただし、パーティションを使用する場合には、パーティションを貼るフィールドをプライマリーキーに含める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必要がある。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8" name="表 7">
            <a:extLst>
              <a:ext uri="{FF2B5EF4-FFF2-40B4-BE49-F238E27FC236}">
                <a16:creationId xmlns:a16="http://schemas.microsoft.com/office/drawing/2014/main" id="{D2EB8AB3-9582-75D2-34F1-271E85112D07}"/>
              </a:ext>
            </a:extLst>
          </p:cNvPr>
          <p:cNvGraphicFramePr>
            <a:graphicFrameLocks noGrp="1"/>
          </p:cNvGraphicFramePr>
          <p:nvPr>
            <p:extLst>
              <p:ext uri="{D42A27DB-BD31-4B8C-83A1-F6EECF244321}">
                <p14:modId xmlns:p14="http://schemas.microsoft.com/office/powerpoint/2010/main" val="312106357"/>
              </p:ext>
            </p:extLst>
          </p:nvPr>
        </p:nvGraphicFramePr>
        <p:xfrm>
          <a:off x="535407" y="3270203"/>
          <a:ext cx="8251797" cy="1645920"/>
        </p:xfrm>
        <a:graphic>
          <a:graphicData uri="http://schemas.openxmlformats.org/drawingml/2006/table">
            <a:tbl>
              <a:tblPr firstRow="1" bandRow="1">
                <a:tableStyleId>{5C22544A-7EE6-4342-B048-85BDC9FD1C3A}</a:tableStyleId>
              </a:tblPr>
              <a:tblGrid>
                <a:gridCol w="1064022">
                  <a:extLst>
                    <a:ext uri="{9D8B030D-6E8A-4147-A177-3AD203B41FA5}">
                      <a16:colId xmlns:a16="http://schemas.microsoft.com/office/drawing/2014/main" val="20000"/>
                    </a:ext>
                  </a:extLst>
                </a:gridCol>
                <a:gridCol w="1642905">
                  <a:extLst>
                    <a:ext uri="{9D8B030D-6E8A-4147-A177-3AD203B41FA5}">
                      <a16:colId xmlns:a16="http://schemas.microsoft.com/office/drawing/2014/main" val="20001"/>
                    </a:ext>
                  </a:extLst>
                </a:gridCol>
                <a:gridCol w="1835198">
                  <a:extLst>
                    <a:ext uri="{9D8B030D-6E8A-4147-A177-3AD203B41FA5}">
                      <a16:colId xmlns:a16="http://schemas.microsoft.com/office/drawing/2014/main" val="20002"/>
                    </a:ext>
                  </a:extLst>
                </a:gridCol>
                <a:gridCol w="736918">
                  <a:extLst>
                    <a:ext uri="{9D8B030D-6E8A-4147-A177-3AD203B41FA5}">
                      <a16:colId xmlns:a16="http://schemas.microsoft.com/office/drawing/2014/main" val="20003"/>
                    </a:ext>
                  </a:extLst>
                </a:gridCol>
                <a:gridCol w="889318">
                  <a:extLst>
                    <a:ext uri="{9D8B030D-6E8A-4147-A177-3AD203B41FA5}">
                      <a16:colId xmlns:a16="http://schemas.microsoft.com/office/drawing/2014/main" val="20004"/>
                    </a:ext>
                  </a:extLst>
                </a:gridCol>
                <a:gridCol w="1346518">
                  <a:extLst>
                    <a:ext uri="{9D8B030D-6E8A-4147-A177-3AD203B41FA5}">
                      <a16:colId xmlns:a16="http://schemas.microsoft.com/office/drawing/2014/main" val="20005"/>
                    </a:ext>
                  </a:extLst>
                </a:gridCol>
                <a:gridCol w="736918">
                  <a:extLst>
                    <a:ext uri="{9D8B030D-6E8A-4147-A177-3AD203B41FA5}">
                      <a16:colId xmlns:a16="http://schemas.microsoft.com/office/drawing/2014/main" val="20006"/>
                    </a:ext>
                  </a:extLst>
                </a:gridCol>
              </a:tblGrid>
              <a:tr h="274320">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学生番号</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生徒名</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生年月日</a:t>
                      </a: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性別</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accent6"/>
                    </a:solidFill>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委員会</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本籍都道府県</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担任</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ID</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0"/>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太郎</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accent6">
                        <a:lumMod val="20000"/>
                        <a:lumOff val="80000"/>
                      </a:schemeClr>
                    </a:solidFill>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46</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1"/>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次郎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9</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accent6">
                        <a:lumMod val="20000"/>
                        <a:lumOff val="80000"/>
                      </a:schemeClr>
                    </a:solidFill>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47</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三郎</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accent6">
                        <a:lumMod val="20000"/>
                        <a:lumOff val="80000"/>
                      </a:schemeClr>
                    </a:solidFill>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4"/>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花子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accent6">
                        <a:lumMod val="20000"/>
                        <a:lumOff val="80000"/>
                      </a:schemeClr>
                    </a:solidFill>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13</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3673906493"/>
                  </a:ext>
                </a:extLst>
              </a:tr>
              <a:tr h="274320">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10105</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ブレイド　智子</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1980</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5</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月</a:t>
                      </a:r>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r>
                        <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rPr>
                        <a:t>日</a:t>
                      </a: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accent6">
                        <a:lumMod val="20000"/>
                        <a:lumOff val="80000"/>
                      </a:schemeClr>
                    </a:solidFill>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2</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1</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200" dirty="0">
                          <a:latin typeface="メイリオ" panose="020B0604030504040204" pitchFamily="50" charset="-128"/>
                          <a:ea typeface="メイリオ" panose="020B0604030504040204" pitchFamily="50" charset="-128"/>
                          <a:cs typeface="メイリオ" panose="020B0604030504040204" pitchFamily="50" charset="-128"/>
                        </a:rPr>
                        <a:t>4</a:t>
                      </a:r>
                      <a:endParaRPr kumimoji="1"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a:txBody>
                  <a:tcPr/>
                </a:tc>
                <a:extLst>
                  <a:ext uri="{0D108BD9-81ED-4DB2-BD59-A6C34878D82A}">
                    <a16:rowId xmlns:a16="http://schemas.microsoft.com/office/drawing/2014/main" val="10005"/>
                  </a:ext>
                </a:extLst>
              </a:tr>
            </a:tbl>
          </a:graphicData>
        </a:graphic>
      </p:graphicFrame>
      <p:sp>
        <p:nvSpPr>
          <p:cNvPr id="9" name="正方形/長方形 8">
            <a:extLst>
              <a:ext uri="{FF2B5EF4-FFF2-40B4-BE49-F238E27FC236}">
                <a16:creationId xmlns:a16="http://schemas.microsoft.com/office/drawing/2014/main" id="{5E37DBFC-ADCC-1B9F-0551-59729352F65F}"/>
              </a:ext>
            </a:extLst>
          </p:cNvPr>
          <p:cNvSpPr/>
          <p:nvPr/>
        </p:nvSpPr>
        <p:spPr>
          <a:xfrm>
            <a:off x="535406" y="3536950"/>
            <a:ext cx="8251797" cy="81914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CBEE87F-002F-609C-F038-0D41A5ED06FA}"/>
              </a:ext>
            </a:extLst>
          </p:cNvPr>
          <p:cNvSpPr/>
          <p:nvPr/>
        </p:nvSpPr>
        <p:spPr>
          <a:xfrm>
            <a:off x="535406" y="4355708"/>
            <a:ext cx="8251797" cy="56041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四角形 10">
            <a:extLst>
              <a:ext uri="{FF2B5EF4-FFF2-40B4-BE49-F238E27FC236}">
                <a16:creationId xmlns:a16="http://schemas.microsoft.com/office/drawing/2014/main" id="{F8883C18-5AD1-F880-F46D-8501D378ED8D}"/>
              </a:ext>
            </a:extLst>
          </p:cNvPr>
          <p:cNvSpPr/>
          <p:nvPr/>
        </p:nvSpPr>
        <p:spPr>
          <a:xfrm>
            <a:off x="7724270" y="2985058"/>
            <a:ext cx="1996440" cy="612648"/>
          </a:xfrm>
          <a:prstGeom prst="wedgeRectCallout">
            <a:avLst>
              <a:gd name="adj1" fmla="val -47551"/>
              <a:gd name="adj2" fmla="val 74938"/>
            </a:avLst>
          </a:prstGeom>
          <a:solidFill>
            <a:schemeClr val="bg1"/>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メイリオ" panose="020B0604030504040204" pitchFamily="50" charset="-128"/>
                <a:ea typeface="メイリオ" panose="020B0604030504040204" pitchFamily="50" charset="-128"/>
              </a:rPr>
              <a:t>パーティション</a:t>
            </a:r>
            <a:r>
              <a:rPr kumimoji="1" lang="en-US" altLang="ja-JP" sz="1200" dirty="0">
                <a:solidFill>
                  <a:schemeClr val="tx1"/>
                </a:solidFill>
                <a:latin typeface="メイリオ" panose="020B0604030504040204" pitchFamily="50" charset="-128"/>
                <a:ea typeface="メイリオ" panose="020B0604030504040204" pitchFamily="50" charset="-128"/>
              </a:rPr>
              <a:t>1</a:t>
            </a:r>
          </a:p>
          <a:p>
            <a:pPr algn="ct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性別</a:t>
            </a:r>
            <a:r>
              <a:rPr lang="en-US" altLang="ja-JP" sz="1200" dirty="0">
                <a:solidFill>
                  <a:schemeClr val="tx1"/>
                </a:solidFill>
                <a:latin typeface="メイリオ" panose="020B0604030504040204" pitchFamily="50" charset="-128"/>
                <a:ea typeface="メイリオ" panose="020B0604030504040204" pitchFamily="50" charset="-128"/>
              </a:rPr>
              <a:t>ID] = 1</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2" name="吹き出し: 四角形 11">
            <a:extLst>
              <a:ext uri="{FF2B5EF4-FFF2-40B4-BE49-F238E27FC236}">
                <a16:creationId xmlns:a16="http://schemas.microsoft.com/office/drawing/2014/main" id="{30EC1B35-E326-E20E-28C8-EFBCBDDFFEA1}"/>
              </a:ext>
            </a:extLst>
          </p:cNvPr>
          <p:cNvSpPr/>
          <p:nvPr/>
        </p:nvSpPr>
        <p:spPr>
          <a:xfrm>
            <a:off x="7724270" y="4635915"/>
            <a:ext cx="1996440" cy="612648"/>
          </a:xfrm>
          <a:prstGeom prst="wedgeRectCallout">
            <a:avLst>
              <a:gd name="adj1" fmla="val -47551"/>
              <a:gd name="adj2" fmla="val -78047"/>
            </a:avLst>
          </a:prstGeom>
          <a:solidFill>
            <a:schemeClr val="bg1"/>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メイリオ" panose="020B0604030504040204" pitchFamily="50" charset="-128"/>
                <a:ea typeface="メイリオ" panose="020B0604030504040204" pitchFamily="50" charset="-128"/>
              </a:rPr>
              <a:t>パーティション</a:t>
            </a:r>
            <a:r>
              <a:rPr kumimoji="1" lang="en-US" altLang="ja-JP" sz="1200" dirty="0">
                <a:solidFill>
                  <a:schemeClr val="tx1"/>
                </a:solidFill>
                <a:latin typeface="メイリオ" panose="020B0604030504040204" pitchFamily="50" charset="-128"/>
                <a:ea typeface="メイリオ" panose="020B0604030504040204" pitchFamily="50" charset="-128"/>
              </a:rPr>
              <a:t>2</a:t>
            </a:r>
          </a:p>
          <a:p>
            <a:pPr algn="ct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性別</a:t>
            </a:r>
            <a:r>
              <a:rPr lang="en-US" altLang="ja-JP" sz="1200" dirty="0">
                <a:solidFill>
                  <a:schemeClr val="tx1"/>
                </a:solidFill>
                <a:latin typeface="メイリオ" panose="020B0604030504040204" pitchFamily="50" charset="-128"/>
                <a:ea typeface="メイリオ" panose="020B0604030504040204" pitchFamily="50" charset="-128"/>
              </a:rPr>
              <a:t>ID] = 2</a:t>
            </a:r>
            <a:endParaRPr lang="ja-JP" altLang="en-US" sz="12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42616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22419-5151-B316-8C6C-D8C4884686D4}"/>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C9C91FFE-3DBD-9C98-4B04-A2E89BCF9895}"/>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1-2.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効率の良い</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レスポンスの良い</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文の記述方法</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タイトル 1">
            <a:extLst>
              <a:ext uri="{FF2B5EF4-FFF2-40B4-BE49-F238E27FC236}">
                <a16:creationId xmlns:a16="http://schemas.microsoft.com/office/drawing/2014/main" id="{5F012BA6-EBB8-3FF7-6BBE-1DEC42930B42}"/>
              </a:ext>
            </a:extLst>
          </p:cNvPr>
          <p:cNvSpPr>
            <a:spLocks noGrp="1"/>
          </p:cNvSpPr>
          <p:nvPr>
            <p:ph type="title"/>
          </p:nvPr>
        </p:nvSpPr>
        <p:spPr/>
        <p:txBody>
          <a:bodyPr/>
          <a:lstStyle/>
          <a:p>
            <a:r>
              <a:rPr kumimoji="1" lang="en-US" altLang="ja-JP" dirty="0"/>
              <a:t>1. SQL</a:t>
            </a:r>
            <a:r>
              <a:rPr kumimoji="1" lang="ja-JP" altLang="en-US" dirty="0"/>
              <a:t>文のレスポンスについて</a:t>
            </a:r>
          </a:p>
        </p:txBody>
      </p:sp>
      <p:sp>
        <p:nvSpPr>
          <p:cNvPr id="3" name="スライド番号プレースホルダー 2">
            <a:extLst>
              <a:ext uri="{FF2B5EF4-FFF2-40B4-BE49-F238E27FC236}">
                <a16:creationId xmlns:a16="http://schemas.microsoft.com/office/drawing/2014/main" id="{1B8F982A-CF2A-F24B-3A86-DCF6FCBA228C}"/>
              </a:ext>
            </a:extLst>
          </p:cNvPr>
          <p:cNvSpPr>
            <a:spLocks noGrp="1"/>
          </p:cNvSpPr>
          <p:nvPr>
            <p:ph type="sldNum" sz="quarter" idx="12"/>
          </p:nvPr>
        </p:nvSpPr>
        <p:spPr/>
        <p:txBody>
          <a:bodyPr/>
          <a:lstStyle/>
          <a:p>
            <a:fld id="{0BDC6CC0-337C-4DEC-BAED-08CE4EABF7AC}" type="slidenum">
              <a:rPr lang="ja-JP" altLang="en-US" smtClean="0"/>
              <a:pPr/>
              <a:t>4</a:t>
            </a:fld>
            <a:endParaRPr lang="ja-JP" altLang="en-US" dirty="0"/>
          </a:p>
        </p:txBody>
      </p:sp>
      <p:sp>
        <p:nvSpPr>
          <p:cNvPr id="7" name="テキスト ボックス 6">
            <a:extLst>
              <a:ext uri="{FF2B5EF4-FFF2-40B4-BE49-F238E27FC236}">
                <a16:creationId xmlns:a16="http://schemas.microsoft.com/office/drawing/2014/main" id="{6B186443-CA9F-4DFC-99C0-DA07DD95E956}"/>
              </a:ext>
            </a:extLst>
          </p:cNvPr>
          <p:cNvSpPr txBox="1"/>
          <p:nvPr/>
        </p:nvSpPr>
        <p:spPr>
          <a:xfrm>
            <a:off x="112541" y="953340"/>
            <a:ext cx="9636369" cy="5262979"/>
          </a:xfrm>
          <a:prstGeom prst="rect">
            <a:avLst/>
          </a:prstGeom>
          <a:noFill/>
        </p:spPr>
        <p:txBody>
          <a:bodyPr wrap="square" rtlCol="0">
            <a:spAutoFit/>
          </a:bodyPr>
          <a:lstStyle/>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③ パーティションやインデックスを活用する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・インデックス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特定のフィールドの値をすばやく見つけるために使用される機能のこと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インデックスを使用すると、プライマリーキーやパーティションに関係なく、複数のフィールドの組み合わせ</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の値に対して、直接検索速度を向上させることができるため、レスポンス向上につながる。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2】</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 [t_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_1] [t_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売上</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_2]</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それぞれの売上日</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[2025/04/01]</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のレコードを</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文を作成しなさい。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④ インデックスの順序に従った</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句や結合条件を指定する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作成されたインデックスの順序に従った</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句を指定することで、</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文の実行時に使用したいイン</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デックスが適用されやすく、レスポンス向上につながる。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インデックスが作成されていても、インデックスの順序に従っていない場合には、データベースの内部的にイ</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ンデックスが適用されなくなる可能性があるため、注意すること。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⑤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句や結合条件の左辺・右辺に算術演算子や関数を使用しないようにする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句や結合条件の左辺・右辺に算術演算子や関数を使用すると、作成されているインデックスが適用さ</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れなくなる可能性があるため、レスポンス低下につながる。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⑥ 複数のテーブルを使用した複雑な</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文の場合、フィールドだけでなく、レコードも極力減らした状態で</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文の中で使用するようにする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複数のテーブルを使用した複雑な文の場合、サブクエリを有効活用し、サブクエリ内でレコード数を減らした</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状態で</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FROM</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句や</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JOIN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句などに使用することにより、レスポンス向上につながる。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381118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43343-831D-D6C2-C4DA-E2DEA5FF992D}"/>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25895826-8FD2-5888-C029-0A9B350A0E7F}"/>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1-2.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効率の良い</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レスポンスの良い</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文の記述方法</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タイトル 1">
            <a:extLst>
              <a:ext uri="{FF2B5EF4-FFF2-40B4-BE49-F238E27FC236}">
                <a16:creationId xmlns:a16="http://schemas.microsoft.com/office/drawing/2014/main" id="{C144B251-E844-0034-972E-5905DBB3D456}"/>
              </a:ext>
            </a:extLst>
          </p:cNvPr>
          <p:cNvSpPr>
            <a:spLocks noGrp="1"/>
          </p:cNvSpPr>
          <p:nvPr>
            <p:ph type="title"/>
          </p:nvPr>
        </p:nvSpPr>
        <p:spPr/>
        <p:txBody>
          <a:bodyPr/>
          <a:lstStyle/>
          <a:p>
            <a:r>
              <a:rPr kumimoji="1" lang="en-US" altLang="ja-JP" dirty="0"/>
              <a:t>1. SQL</a:t>
            </a:r>
            <a:r>
              <a:rPr kumimoji="1" lang="ja-JP" altLang="en-US" dirty="0"/>
              <a:t>文のレスポンスについて</a:t>
            </a:r>
          </a:p>
        </p:txBody>
      </p:sp>
      <p:sp>
        <p:nvSpPr>
          <p:cNvPr id="3" name="スライド番号プレースホルダー 2">
            <a:extLst>
              <a:ext uri="{FF2B5EF4-FFF2-40B4-BE49-F238E27FC236}">
                <a16:creationId xmlns:a16="http://schemas.microsoft.com/office/drawing/2014/main" id="{58A08B2B-99EB-8AEE-C4E9-4FF4D93B562D}"/>
              </a:ext>
            </a:extLst>
          </p:cNvPr>
          <p:cNvSpPr>
            <a:spLocks noGrp="1"/>
          </p:cNvSpPr>
          <p:nvPr>
            <p:ph type="sldNum" sz="quarter" idx="12"/>
          </p:nvPr>
        </p:nvSpPr>
        <p:spPr/>
        <p:txBody>
          <a:bodyPr/>
          <a:lstStyle/>
          <a:p>
            <a:fld id="{0BDC6CC0-337C-4DEC-BAED-08CE4EABF7AC}" type="slidenum">
              <a:rPr lang="ja-JP" altLang="en-US" smtClean="0"/>
              <a:pPr/>
              <a:t>5</a:t>
            </a:fld>
            <a:endParaRPr lang="ja-JP" altLang="en-US" dirty="0"/>
          </a:p>
        </p:txBody>
      </p:sp>
      <p:sp>
        <p:nvSpPr>
          <p:cNvPr id="7" name="テキスト ボックス 6">
            <a:extLst>
              <a:ext uri="{FF2B5EF4-FFF2-40B4-BE49-F238E27FC236}">
                <a16:creationId xmlns:a16="http://schemas.microsoft.com/office/drawing/2014/main" id="{FB74735D-E7D8-8EE5-9A86-A342BB0A4324}"/>
              </a:ext>
            </a:extLst>
          </p:cNvPr>
          <p:cNvSpPr txBox="1"/>
          <p:nvPr/>
        </p:nvSpPr>
        <p:spPr>
          <a:xfrm>
            <a:off x="112541" y="953340"/>
            <a:ext cx="9636369" cy="1384995"/>
          </a:xfrm>
          <a:prstGeom prst="rect">
            <a:avLst/>
          </a:prstGeom>
          <a:noFill/>
        </p:spPr>
        <p:txBody>
          <a:bodyPr wrap="square" rtlCol="0">
            <a:spAutoFit/>
          </a:bodyPr>
          <a:lstStyle/>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⑦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句を作成する際には、極力レコード数が少なくなる条件から優先して記述する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句は記述した上から順番に絞り込みが実施されるため、より早い段階で絞り込みの結果を少ないレ</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コードとなるように記述することによりレスポンスが向上しやすくなる。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その他にも</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文のレスポンスを向上させるコツは多々あるが、原則①～⑦を守って記述することにより、</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効率よくコストのかからない</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文を作成することができる。</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テキスト ボックス 3">
            <a:extLst>
              <a:ext uri="{FF2B5EF4-FFF2-40B4-BE49-F238E27FC236}">
                <a16:creationId xmlns:a16="http://schemas.microsoft.com/office/drawing/2014/main" id="{B228702B-FF4D-3FBA-DF16-E65EE05F9A0C}"/>
              </a:ext>
            </a:extLst>
          </p:cNvPr>
          <p:cNvSpPr txBox="1"/>
          <p:nvPr/>
        </p:nvSpPr>
        <p:spPr>
          <a:xfrm>
            <a:off x="112541" y="2407897"/>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1-3.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実行プランの確認</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7F4B5258-B902-D32B-8941-7A915F370803}"/>
              </a:ext>
            </a:extLst>
          </p:cNvPr>
          <p:cNvSpPr txBox="1"/>
          <p:nvPr/>
        </p:nvSpPr>
        <p:spPr>
          <a:xfrm>
            <a:off x="112541" y="2785236"/>
            <a:ext cx="9636369" cy="1169551"/>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文を作成する際に、作成した</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文のコスト計算の結果を</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Workbench</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上で確認し、不足している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INDEX</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作成の参考とすることができる。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Workbench</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でコスト計算の結果を確認したい</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文を実行し、実行結果の一覧表示部分右側のメニューから</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[Execution Plan]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ボタンをクリックするとコスト計算の結果を確認することができる。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0" name="図 9" descr="テーブル&#10;&#10;AI 生成コンテンツは誤りを含む可能性があります。">
            <a:extLst>
              <a:ext uri="{FF2B5EF4-FFF2-40B4-BE49-F238E27FC236}">
                <a16:creationId xmlns:a16="http://schemas.microsoft.com/office/drawing/2014/main" id="{E15C6687-B7DD-D80C-8A53-53C11088287F}"/>
              </a:ext>
            </a:extLst>
          </p:cNvPr>
          <p:cNvPicPr>
            <a:picLocks noChangeAspect="1"/>
          </p:cNvPicPr>
          <p:nvPr/>
        </p:nvPicPr>
        <p:blipFill>
          <a:blip r:embed="rId2"/>
          <a:stretch>
            <a:fillRect/>
          </a:stretch>
        </p:blipFill>
        <p:spPr>
          <a:xfrm>
            <a:off x="696386" y="4050118"/>
            <a:ext cx="4766404" cy="2321185"/>
          </a:xfrm>
          <a:prstGeom prst="rect">
            <a:avLst/>
          </a:prstGeom>
          <a:ln w="6350">
            <a:solidFill>
              <a:schemeClr val="bg1">
                <a:lumMod val="50000"/>
              </a:schemeClr>
            </a:solidFill>
          </a:ln>
        </p:spPr>
      </p:pic>
      <p:sp>
        <p:nvSpPr>
          <p:cNvPr id="11" name="正方形/長方形 10">
            <a:extLst>
              <a:ext uri="{FF2B5EF4-FFF2-40B4-BE49-F238E27FC236}">
                <a16:creationId xmlns:a16="http://schemas.microsoft.com/office/drawing/2014/main" id="{D6E3BC0E-F331-ADEB-5F5B-4D4EFA8A0D02}"/>
              </a:ext>
            </a:extLst>
          </p:cNvPr>
          <p:cNvSpPr/>
          <p:nvPr/>
        </p:nvSpPr>
        <p:spPr>
          <a:xfrm>
            <a:off x="5083551" y="5743335"/>
            <a:ext cx="379240" cy="42251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吹き出し: 四角形 11">
            <a:extLst>
              <a:ext uri="{FF2B5EF4-FFF2-40B4-BE49-F238E27FC236}">
                <a16:creationId xmlns:a16="http://schemas.microsoft.com/office/drawing/2014/main" id="{ED13EF78-A5F2-CCAE-CA58-344FC9D06F1B}"/>
              </a:ext>
            </a:extLst>
          </p:cNvPr>
          <p:cNvSpPr/>
          <p:nvPr/>
        </p:nvSpPr>
        <p:spPr>
          <a:xfrm>
            <a:off x="5812920" y="5130687"/>
            <a:ext cx="1996440" cy="612648"/>
          </a:xfrm>
          <a:prstGeom prst="wedgeRectCallout">
            <a:avLst>
              <a:gd name="adj1" fmla="val -66953"/>
              <a:gd name="adj2" fmla="val 84266"/>
            </a:avLst>
          </a:prstGeom>
          <a:solidFill>
            <a:schemeClr val="bg1"/>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メイリオ" panose="020B0604030504040204" pitchFamily="50" charset="-128"/>
                <a:ea typeface="メイリオ" panose="020B0604030504040204" pitchFamily="50" charset="-128"/>
              </a:rPr>
              <a:t>実行プランの確認</a:t>
            </a:r>
          </a:p>
        </p:txBody>
      </p:sp>
    </p:spTree>
    <p:extLst>
      <p:ext uri="{BB962C8B-B14F-4D97-AF65-F5344CB8AC3E}">
        <p14:creationId xmlns:p14="http://schemas.microsoft.com/office/powerpoint/2010/main" val="363009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55CFA-30CF-D3F8-3790-8617431F5017}"/>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CA9313E-AB97-2A5D-976B-2CE1E2802966}"/>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1-3.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実行プランの確認</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タイトル 1">
            <a:extLst>
              <a:ext uri="{FF2B5EF4-FFF2-40B4-BE49-F238E27FC236}">
                <a16:creationId xmlns:a16="http://schemas.microsoft.com/office/drawing/2014/main" id="{3DD183C8-C50B-B88D-33F2-D750C11E61DE}"/>
              </a:ext>
            </a:extLst>
          </p:cNvPr>
          <p:cNvSpPr>
            <a:spLocks noGrp="1"/>
          </p:cNvSpPr>
          <p:nvPr>
            <p:ph type="title"/>
          </p:nvPr>
        </p:nvSpPr>
        <p:spPr/>
        <p:txBody>
          <a:bodyPr/>
          <a:lstStyle/>
          <a:p>
            <a:r>
              <a:rPr kumimoji="1" lang="en-US" altLang="ja-JP" dirty="0"/>
              <a:t>1. SQL</a:t>
            </a:r>
            <a:r>
              <a:rPr kumimoji="1" lang="ja-JP" altLang="en-US" dirty="0"/>
              <a:t>文のレスポンスについて</a:t>
            </a:r>
          </a:p>
        </p:txBody>
      </p:sp>
      <p:sp>
        <p:nvSpPr>
          <p:cNvPr id="3" name="スライド番号プレースホルダー 2">
            <a:extLst>
              <a:ext uri="{FF2B5EF4-FFF2-40B4-BE49-F238E27FC236}">
                <a16:creationId xmlns:a16="http://schemas.microsoft.com/office/drawing/2014/main" id="{963DD3B8-7F6C-20D1-65A3-E77743BAC7CC}"/>
              </a:ext>
            </a:extLst>
          </p:cNvPr>
          <p:cNvSpPr>
            <a:spLocks noGrp="1"/>
          </p:cNvSpPr>
          <p:nvPr>
            <p:ph type="sldNum" sz="quarter" idx="12"/>
          </p:nvPr>
        </p:nvSpPr>
        <p:spPr/>
        <p:txBody>
          <a:bodyPr/>
          <a:lstStyle/>
          <a:p>
            <a:fld id="{0BDC6CC0-337C-4DEC-BAED-08CE4EABF7AC}" type="slidenum">
              <a:rPr lang="ja-JP" altLang="en-US" smtClean="0"/>
              <a:pPr/>
              <a:t>6</a:t>
            </a:fld>
            <a:endParaRPr lang="ja-JP" altLang="en-US" dirty="0"/>
          </a:p>
        </p:txBody>
      </p:sp>
      <p:sp>
        <p:nvSpPr>
          <p:cNvPr id="5" name="テキスト ボックス 4">
            <a:extLst>
              <a:ext uri="{FF2B5EF4-FFF2-40B4-BE49-F238E27FC236}">
                <a16:creationId xmlns:a16="http://schemas.microsoft.com/office/drawing/2014/main" id="{517FB692-2025-8438-B0EB-CA3B641D5070}"/>
              </a:ext>
            </a:extLst>
          </p:cNvPr>
          <p:cNvSpPr txBox="1"/>
          <p:nvPr/>
        </p:nvSpPr>
        <p:spPr>
          <a:xfrm>
            <a:off x="112541" y="953340"/>
            <a:ext cx="9636369" cy="73866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[Execution Plan]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で表示された結果では矢印が太さでコストの高低を表現されている。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矢印が太いテーブルに対する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句や結合条件に使用しているフィールドに対して、インデックスを貼ること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で該当の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SELECT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文のレスポンス向上を図れる可能性がある。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9" name="図 8" descr="ダイアグラム&#10;&#10;AI 生成コンテンツは誤りを含む可能性があります。">
            <a:extLst>
              <a:ext uri="{FF2B5EF4-FFF2-40B4-BE49-F238E27FC236}">
                <a16:creationId xmlns:a16="http://schemas.microsoft.com/office/drawing/2014/main" id="{36C95DD1-B663-E50C-9C93-65E4F72AD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256" y="1761570"/>
            <a:ext cx="5500688" cy="4599623"/>
          </a:xfrm>
          <a:prstGeom prst="rect">
            <a:avLst/>
          </a:prstGeom>
          <a:ln w="6350">
            <a:solidFill>
              <a:schemeClr val="bg1">
                <a:lumMod val="50000"/>
              </a:schemeClr>
            </a:solidFill>
          </a:ln>
        </p:spPr>
      </p:pic>
      <p:sp>
        <p:nvSpPr>
          <p:cNvPr id="13" name="正方形/長方形 12">
            <a:extLst>
              <a:ext uri="{FF2B5EF4-FFF2-40B4-BE49-F238E27FC236}">
                <a16:creationId xmlns:a16="http://schemas.microsoft.com/office/drawing/2014/main" id="{D03260EB-52C2-CA3B-D780-E2CD31D1B82D}"/>
              </a:ext>
            </a:extLst>
          </p:cNvPr>
          <p:cNvSpPr/>
          <p:nvPr/>
        </p:nvSpPr>
        <p:spPr>
          <a:xfrm>
            <a:off x="591085" y="5014496"/>
            <a:ext cx="975778" cy="8300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吹き出し: 四角形 13">
            <a:extLst>
              <a:ext uri="{FF2B5EF4-FFF2-40B4-BE49-F238E27FC236}">
                <a16:creationId xmlns:a16="http://schemas.microsoft.com/office/drawing/2014/main" id="{98468702-40AC-26EC-1DD0-12377BFAD125}"/>
              </a:ext>
            </a:extLst>
          </p:cNvPr>
          <p:cNvSpPr/>
          <p:nvPr/>
        </p:nvSpPr>
        <p:spPr>
          <a:xfrm>
            <a:off x="3993863" y="4260497"/>
            <a:ext cx="4179784" cy="612648"/>
          </a:xfrm>
          <a:prstGeom prst="wedgeRectCallout">
            <a:avLst>
              <a:gd name="adj1" fmla="val -67105"/>
              <a:gd name="adj2" fmla="val 61464"/>
            </a:avLst>
          </a:prstGeom>
          <a:solidFill>
            <a:schemeClr val="bg1"/>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dirty="0">
                <a:solidFill>
                  <a:schemeClr val="tx1"/>
                </a:solidFill>
                <a:latin typeface="メイリオ" panose="020B0604030504040204" pitchFamily="50" charset="-128"/>
                <a:ea typeface="メイリオ" panose="020B0604030504040204" pitchFamily="50" charset="-128"/>
              </a:rPr>
              <a:t>[</a:t>
            </a:r>
            <a:r>
              <a:rPr lang="en-US" altLang="ja-JP" sz="1200" dirty="0" err="1">
                <a:solidFill>
                  <a:schemeClr val="tx1"/>
                </a:solidFill>
                <a:latin typeface="メイリオ" panose="020B0604030504040204" pitchFamily="50" charset="-128"/>
                <a:ea typeface="メイリオ" panose="020B0604030504040204" pitchFamily="50" charset="-128"/>
              </a:rPr>
              <a:t>t_uri</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というエイリアス名のテーブルに対する</a:t>
            </a:r>
            <a:r>
              <a:rPr lang="en-US" altLang="ja-JP" sz="1200" dirty="0">
                <a:solidFill>
                  <a:schemeClr val="tx1"/>
                </a:solidFill>
                <a:latin typeface="メイリオ" panose="020B0604030504040204" pitchFamily="50" charset="-128"/>
                <a:ea typeface="メイリオ" panose="020B0604030504040204" pitchFamily="50" charset="-128"/>
              </a:rPr>
              <a:t>WHERE</a:t>
            </a:r>
            <a:r>
              <a:rPr lang="ja-JP" altLang="en-US" sz="1200" dirty="0">
                <a:solidFill>
                  <a:schemeClr val="tx1"/>
                </a:solidFill>
                <a:latin typeface="メイリオ" panose="020B0604030504040204" pitchFamily="50" charset="-128"/>
                <a:ea typeface="メイリオ" panose="020B0604030504040204" pitchFamily="50" charset="-128"/>
              </a:rPr>
              <a:t>句にインデックスを貼ると速度が向上する可能性がある</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87EBC710-C234-94EE-899D-3F3C4C7634E8}"/>
              </a:ext>
            </a:extLst>
          </p:cNvPr>
          <p:cNvSpPr/>
          <p:nvPr/>
        </p:nvSpPr>
        <p:spPr>
          <a:xfrm>
            <a:off x="2292474" y="4566821"/>
            <a:ext cx="975778" cy="8300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29789536"/>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4469</TotalTime>
  <Words>1380</Words>
  <Application>Microsoft Office PowerPoint</Application>
  <PresentationFormat>A4 210 x 297 mm</PresentationFormat>
  <Paragraphs>156</Paragraphs>
  <Slides>6</Slides>
  <Notes>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メイリオ</vt:lpstr>
      <vt:lpstr>Arial</vt:lpstr>
      <vt:lpstr>Calibri</vt:lpstr>
      <vt:lpstr>Office テーマ</vt:lpstr>
      <vt:lpstr>【第6回】SQL文とレスポンス</vt:lpstr>
      <vt:lpstr>1. SQL文のレスポンスについて</vt:lpstr>
      <vt:lpstr>1. SQL文のレスポンスについて</vt:lpstr>
      <vt:lpstr>1. SQL文のレスポンスについて</vt:lpstr>
      <vt:lpstr>1. SQL文のレスポンスについて</vt:lpstr>
      <vt:lpstr>1. SQL文のレスポンスについて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nagano</dc:creator>
  <cp:lastModifiedBy>ibcl177</cp:lastModifiedBy>
  <cp:revision>446</cp:revision>
  <cp:lastPrinted>2025-06-19T22:39:45Z</cp:lastPrinted>
  <dcterms:created xsi:type="dcterms:W3CDTF">2018-12-05T10:12:33Z</dcterms:created>
  <dcterms:modified xsi:type="dcterms:W3CDTF">2025-12-15T10:30:49Z</dcterms:modified>
</cp:coreProperties>
</file>