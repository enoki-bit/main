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5"/>
  </p:notesMasterIdLst>
  <p:handoutMasterIdLst>
    <p:handoutMasterId r:id="rId16"/>
  </p:handoutMasterIdLst>
  <p:sldIdLst>
    <p:sldId id="256" r:id="rId2"/>
    <p:sldId id="261" r:id="rId3"/>
    <p:sldId id="275" r:id="rId4"/>
    <p:sldId id="276" r:id="rId5"/>
    <p:sldId id="277" r:id="rId6"/>
    <p:sldId id="278" r:id="rId7"/>
    <p:sldId id="279" r:id="rId8"/>
    <p:sldId id="280" r:id="rId9"/>
    <p:sldId id="284" r:id="rId10"/>
    <p:sldId id="283" r:id="rId11"/>
    <p:sldId id="281" r:id="rId12"/>
    <p:sldId id="282" r:id="rId13"/>
    <p:sldId id="285" r:id="rId14"/>
  </p:sldIdLst>
  <p:sldSz cx="9906000" cy="6858000" type="A4"/>
  <p:notesSz cx="9777413" cy="664686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B548F347-E632-4B36-A0C2-9CCD7ED3F5B1}">
          <p14:sldIdLst>
            <p14:sldId id="256"/>
            <p14:sldId id="261"/>
            <p14:sldId id="275"/>
            <p14:sldId id="276"/>
            <p14:sldId id="277"/>
            <p14:sldId id="278"/>
            <p14:sldId id="279"/>
            <p14:sldId id="280"/>
            <p14:sldId id="284"/>
            <p14:sldId id="283"/>
            <p14:sldId id="281"/>
            <p14:sldId id="282"/>
            <p14:sldId id="28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1719C"/>
    <a:srgbClr val="4171D5"/>
    <a:srgbClr val="419BD5"/>
    <a:srgbClr val="898989"/>
    <a:srgbClr val="55AC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6" autoAdjust="0"/>
    <p:restoredTop sz="80606" autoAdjust="0"/>
  </p:normalViewPr>
  <p:slideViewPr>
    <p:cSldViewPr snapToGrid="0">
      <p:cViewPr varScale="1">
        <p:scale>
          <a:sx n="89" d="100"/>
          <a:sy n="89" d="100"/>
        </p:scale>
        <p:origin x="178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236984" cy="332858"/>
          </a:xfrm>
          <a:prstGeom prst="rect">
            <a:avLst/>
          </a:prstGeom>
        </p:spPr>
        <p:txBody>
          <a:bodyPr vert="horz" lIns="61811" tIns="30906" rIns="61811" bIns="30906" rtlCol="0"/>
          <a:lstStyle>
            <a:lvl1pPr algn="l">
              <a:defRPr sz="8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5538867" y="0"/>
            <a:ext cx="4236984" cy="332858"/>
          </a:xfrm>
          <a:prstGeom prst="rect">
            <a:avLst/>
          </a:prstGeom>
        </p:spPr>
        <p:txBody>
          <a:bodyPr vert="horz" lIns="61811" tIns="30906" rIns="61811" bIns="30906" rtlCol="0"/>
          <a:lstStyle>
            <a:lvl1pPr algn="r">
              <a:defRPr sz="800"/>
            </a:lvl1pPr>
          </a:lstStyle>
          <a:p>
            <a:fld id="{E2576A4B-778B-4444-AC61-1986328B18B1}" type="datetimeFigureOut">
              <a:rPr kumimoji="1" lang="ja-JP" altLang="en-US" smtClean="0"/>
              <a:t>2025/11/19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1" y="6314005"/>
            <a:ext cx="4236984" cy="332858"/>
          </a:xfrm>
          <a:prstGeom prst="rect">
            <a:avLst/>
          </a:prstGeom>
        </p:spPr>
        <p:txBody>
          <a:bodyPr vert="horz" lIns="61811" tIns="30906" rIns="61811" bIns="30906" rtlCol="0" anchor="b"/>
          <a:lstStyle>
            <a:lvl1pPr algn="l">
              <a:defRPr sz="8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5538867" y="6314005"/>
            <a:ext cx="4236984" cy="332858"/>
          </a:xfrm>
          <a:prstGeom prst="rect">
            <a:avLst/>
          </a:prstGeom>
        </p:spPr>
        <p:txBody>
          <a:bodyPr vert="horz" lIns="61811" tIns="30906" rIns="61811" bIns="30906" rtlCol="0" anchor="b"/>
          <a:lstStyle>
            <a:lvl1pPr algn="r">
              <a:defRPr sz="800"/>
            </a:lvl1pPr>
          </a:lstStyle>
          <a:p>
            <a:fld id="{0FADC253-00B3-415C-B4FD-22E7CAD8C24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07148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236880" cy="333497"/>
          </a:xfrm>
          <a:prstGeom prst="rect">
            <a:avLst/>
          </a:prstGeom>
        </p:spPr>
        <p:txBody>
          <a:bodyPr vert="horz" lIns="93830" tIns="46915" rIns="93830" bIns="4691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5538272" y="0"/>
            <a:ext cx="4236880" cy="333497"/>
          </a:xfrm>
          <a:prstGeom prst="rect">
            <a:avLst/>
          </a:prstGeom>
        </p:spPr>
        <p:txBody>
          <a:bodyPr vert="horz" lIns="93830" tIns="46915" rIns="93830" bIns="46915" rtlCol="0"/>
          <a:lstStyle>
            <a:lvl1pPr algn="r">
              <a:defRPr sz="1200"/>
            </a:lvl1pPr>
          </a:lstStyle>
          <a:p>
            <a:fld id="{77BB2CB4-990A-49C4-AADC-9B2CA19E50BC}" type="datetimeFigureOut">
              <a:rPr kumimoji="1" lang="ja-JP" altLang="en-US" smtClean="0"/>
              <a:t>2025/11/19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3268663" y="830263"/>
            <a:ext cx="3240087" cy="22431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830" tIns="46915" rIns="93830" bIns="4691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977742" y="3198805"/>
            <a:ext cx="7821930" cy="2617202"/>
          </a:xfrm>
          <a:prstGeom prst="rect">
            <a:avLst/>
          </a:prstGeom>
        </p:spPr>
        <p:txBody>
          <a:bodyPr vert="horz" lIns="93830" tIns="46915" rIns="93830" bIns="4691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6313368"/>
            <a:ext cx="4236880" cy="333496"/>
          </a:xfrm>
          <a:prstGeom prst="rect">
            <a:avLst/>
          </a:prstGeom>
        </p:spPr>
        <p:txBody>
          <a:bodyPr vert="horz" lIns="93830" tIns="46915" rIns="93830" bIns="4691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5538272" y="6313368"/>
            <a:ext cx="4236880" cy="333496"/>
          </a:xfrm>
          <a:prstGeom prst="rect">
            <a:avLst/>
          </a:prstGeom>
        </p:spPr>
        <p:txBody>
          <a:bodyPr vert="horz" lIns="93830" tIns="46915" rIns="93830" bIns="46915" rtlCol="0" anchor="b"/>
          <a:lstStyle>
            <a:lvl1pPr algn="r">
              <a:defRPr sz="1200"/>
            </a:lvl1pPr>
          </a:lstStyle>
          <a:p>
            <a:fld id="{30F9B3CF-BB5E-499C-96DD-F47E22CF7B2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0839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3268663" y="830263"/>
            <a:ext cx="3240087" cy="2243137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F9B3CF-BB5E-499C-96DD-F47E22CF7B26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2228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【</a:t>
            </a:r>
            <a:r>
              <a:rPr kumimoji="1" lang="ja-JP" altLang="en-US" dirty="0"/>
              <a:t>例題</a:t>
            </a:r>
            <a:r>
              <a:rPr kumimoji="1" lang="en-US" altLang="ja-JP" dirty="0"/>
              <a:t>1】</a:t>
            </a:r>
          </a:p>
          <a:p>
            <a:r>
              <a:rPr kumimoji="1" lang="en-US" altLang="ja-JP" dirty="0"/>
              <a:t>SELECT</a:t>
            </a:r>
          </a:p>
          <a:p>
            <a:r>
              <a:rPr kumimoji="1" lang="en-US" altLang="ja-JP" dirty="0"/>
              <a:t>    </a:t>
            </a:r>
            <a:r>
              <a:rPr kumimoji="1" lang="ja-JP" altLang="en-US" dirty="0"/>
              <a:t>社員</a:t>
            </a:r>
            <a:r>
              <a:rPr kumimoji="1" lang="en-US" altLang="ja-JP" dirty="0"/>
              <a:t>CD</a:t>
            </a:r>
          </a:p>
          <a:p>
            <a:r>
              <a:rPr kumimoji="1" lang="en-US" altLang="ja-JP" dirty="0"/>
              <a:t>   ,</a:t>
            </a:r>
            <a:r>
              <a:rPr kumimoji="1" lang="ja-JP" altLang="en-US" dirty="0"/>
              <a:t>氏名</a:t>
            </a:r>
            <a:endParaRPr kumimoji="1" lang="en-US" altLang="ja-JP" dirty="0"/>
          </a:p>
          <a:p>
            <a:r>
              <a:rPr kumimoji="1" lang="en-US" altLang="ja-JP" dirty="0"/>
              <a:t>   ,</a:t>
            </a:r>
            <a:r>
              <a:rPr kumimoji="1" lang="ja-JP" altLang="en-US" dirty="0"/>
              <a:t>氏名カナ</a:t>
            </a:r>
            <a:endParaRPr kumimoji="1" lang="en-US" altLang="ja-JP" dirty="0"/>
          </a:p>
          <a:p>
            <a:r>
              <a:rPr kumimoji="1" lang="en-US" altLang="ja-JP" dirty="0"/>
              <a:t>FROM m_</a:t>
            </a:r>
            <a:r>
              <a:rPr kumimoji="1" lang="ja-JP" altLang="en-US" dirty="0"/>
              <a:t>社員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F9B3CF-BB5E-499C-96DD-F47E22CF7B26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52920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-- 【</a:t>
            </a:r>
            <a:r>
              <a:rPr kumimoji="1" lang="ja-JP" altLang="en-US" dirty="0"/>
              <a:t>例題</a:t>
            </a:r>
            <a:r>
              <a:rPr kumimoji="1" lang="en-US" altLang="ja-JP" dirty="0"/>
              <a:t>2】</a:t>
            </a:r>
          </a:p>
          <a:p>
            <a:r>
              <a:rPr kumimoji="1" lang="en-US" altLang="ja-JP" dirty="0"/>
              <a:t>SELECT</a:t>
            </a:r>
          </a:p>
          <a:p>
            <a:r>
              <a:rPr kumimoji="1" lang="en-US" altLang="ja-JP" dirty="0"/>
              <a:t>    *</a:t>
            </a:r>
          </a:p>
          <a:p>
            <a:r>
              <a:rPr kumimoji="1" lang="en-US" altLang="ja-JP" dirty="0"/>
              <a:t>FROM m_</a:t>
            </a:r>
            <a:r>
              <a:rPr kumimoji="1" lang="ja-JP" altLang="en-US" dirty="0"/>
              <a:t>得意先</a:t>
            </a:r>
            <a:endParaRPr kumimoji="1" lang="en-US" altLang="ja-JP" dirty="0"/>
          </a:p>
          <a:p>
            <a:r>
              <a:rPr kumimoji="1" lang="en-US" altLang="ja-JP" dirty="0"/>
              <a:t>WHERE </a:t>
            </a:r>
            <a:r>
              <a:rPr kumimoji="1" lang="ja-JP" altLang="en-US" dirty="0"/>
              <a:t>得意先担当者</a:t>
            </a:r>
            <a:r>
              <a:rPr kumimoji="1" lang="en-US" altLang="ja-JP" dirty="0"/>
              <a:t>CD = 7;</a:t>
            </a:r>
            <a:endParaRPr kumimoji="1" lang="ja-JP" altLang="en-US" dirty="0"/>
          </a:p>
          <a:p>
            <a:endParaRPr kumimoji="1" lang="en-US" altLang="ja-JP" dirty="0"/>
          </a:p>
          <a:p>
            <a:r>
              <a:rPr kumimoji="1" lang="en-US" altLang="ja-JP" dirty="0"/>
              <a:t>-- 【</a:t>
            </a:r>
            <a:r>
              <a:rPr kumimoji="1" lang="ja-JP" altLang="en-US" dirty="0"/>
              <a:t>例題</a:t>
            </a:r>
            <a:r>
              <a:rPr kumimoji="1" lang="en-US" altLang="ja-JP" dirty="0"/>
              <a:t>3】</a:t>
            </a:r>
          </a:p>
          <a:p>
            <a:r>
              <a:rPr kumimoji="1" lang="en-US" altLang="ja-JP" dirty="0"/>
              <a:t>SELECT</a:t>
            </a:r>
          </a:p>
          <a:p>
            <a:r>
              <a:rPr kumimoji="1" lang="en-US" altLang="ja-JP" dirty="0"/>
              <a:t>    *</a:t>
            </a:r>
          </a:p>
          <a:p>
            <a:r>
              <a:rPr kumimoji="1" lang="en-US" altLang="ja-JP" dirty="0"/>
              <a:t>FROM m_</a:t>
            </a:r>
            <a:r>
              <a:rPr kumimoji="1" lang="ja-JP" altLang="en-US" dirty="0"/>
              <a:t>社員</a:t>
            </a:r>
            <a:endParaRPr kumimoji="1" lang="en-US" altLang="ja-JP" dirty="0"/>
          </a:p>
          <a:p>
            <a:r>
              <a:rPr kumimoji="1" lang="en-US" altLang="ja-JP" dirty="0"/>
              <a:t>WHERE </a:t>
            </a:r>
            <a:r>
              <a:rPr kumimoji="1" lang="ja-JP" altLang="en-US" dirty="0"/>
              <a:t>役職</a:t>
            </a:r>
            <a:r>
              <a:rPr kumimoji="1" lang="en-US" altLang="ja-JP" dirty="0"/>
              <a:t>CD IS NOT NULL;</a:t>
            </a:r>
            <a:endParaRPr kumimoji="1" lang="ja-JP" altLang="en-US" dirty="0"/>
          </a:p>
          <a:p>
            <a:endParaRPr kumimoji="1" lang="en-US" altLang="ja-JP" dirty="0"/>
          </a:p>
          <a:p>
            <a:r>
              <a:rPr kumimoji="1" lang="en-US" altLang="ja-JP" dirty="0"/>
              <a:t>-- 【</a:t>
            </a:r>
            <a:r>
              <a:rPr kumimoji="1" lang="ja-JP" altLang="en-US" dirty="0"/>
              <a:t>例題</a:t>
            </a:r>
            <a:r>
              <a:rPr kumimoji="1" lang="en-US" altLang="ja-JP" dirty="0"/>
              <a:t>4】</a:t>
            </a:r>
          </a:p>
          <a:p>
            <a:r>
              <a:rPr kumimoji="1" lang="en-US" altLang="ja-JP" dirty="0"/>
              <a:t>SELECT</a:t>
            </a:r>
          </a:p>
          <a:p>
            <a:r>
              <a:rPr kumimoji="1" lang="en-US" altLang="ja-JP" dirty="0"/>
              <a:t>    *</a:t>
            </a:r>
          </a:p>
          <a:p>
            <a:r>
              <a:rPr kumimoji="1" lang="en-US" altLang="ja-JP" dirty="0"/>
              <a:t>FROM m_</a:t>
            </a:r>
            <a:r>
              <a:rPr kumimoji="1" lang="ja-JP" altLang="en-US" dirty="0"/>
              <a:t>社員</a:t>
            </a:r>
            <a:endParaRPr kumimoji="1" lang="en-US" altLang="ja-JP" dirty="0"/>
          </a:p>
          <a:p>
            <a:r>
              <a:rPr kumimoji="1" lang="en-US" altLang="ja-JP" dirty="0"/>
              <a:t>WHERE </a:t>
            </a:r>
            <a:r>
              <a:rPr kumimoji="1" lang="ja-JP" altLang="en-US" dirty="0"/>
              <a:t>氏名 </a:t>
            </a:r>
            <a:r>
              <a:rPr kumimoji="1" lang="en-US" altLang="ja-JP" dirty="0"/>
              <a:t>LIKE ‘%</a:t>
            </a:r>
            <a:r>
              <a:rPr kumimoji="1" lang="ja-JP" altLang="en-US" dirty="0"/>
              <a:t>郎</a:t>
            </a:r>
            <a:r>
              <a:rPr kumimoji="1" lang="en-US" altLang="ja-JP" dirty="0"/>
              <a:t>%’;</a:t>
            </a:r>
            <a:endParaRPr kumimoji="1" lang="ja-JP" altLang="en-US" dirty="0"/>
          </a:p>
          <a:p>
            <a:endParaRPr kumimoji="1" lang="en-US" altLang="ja-JP" dirty="0"/>
          </a:p>
          <a:p>
            <a:r>
              <a:rPr kumimoji="1" lang="en-US" altLang="ja-JP" dirty="0"/>
              <a:t>-- 【</a:t>
            </a:r>
            <a:r>
              <a:rPr kumimoji="1" lang="ja-JP" altLang="en-US" dirty="0"/>
              <a:t>例題</a:t>
            </a:r>
            <a:r>
              <a:rPr kumimoji="1" lang="en-US" altLang="ja-JP" dirty="0"/>
              <a:t>5】</a:t>
            </a:r>
          </a:p>
          <a:p>
            <a:r>
              <a:rPr kumimoji="1" lang="en-US" altLang="ja-JP" dirty="0"/>
              <a:t>SELECT</a:t>
            </a:r>
          </a:p>
          <a:p>
            <a:r>
              <a:rPr kumimoji="1" lang="en-US" altLang="ja-JP" dirty="0"/>
              <a:t>    *</a:t>
            </a:r>
          </a:p>
          <a:p>
            <a:r>
              <a:rPr kumimoji="1" lang="en-US" altLang="ja-JP" dirty="0"/>
              <a:t>FROM m_</a:t>
            </a:r>
            <a:r>
              <a:rPr kumimoji="1" lang="ja-JP" altLang="en-US" dirty="0"/>
              <a:t>商品</a:t>
            </a:r>
            <a:endParaRPr kumimoji="1" lang="en-US" altLang="ja-JP" dirty="0"/>
          </a:p>
          <a:p>
            <a:r>
              <a:rPr kumimoji="1" lang="en-US" altLang="ja-JP" dirty="0"/>
              <a:t>WHERE </a:t>
            </a:r>
            <a:r>
              <a:rPr kumimoji="1" lang="en-US" altLang="ja-JP" dirty="0" err="1"/>
              <a:t>MakerCD</a:t>
            </a:r>
            <a:r>
              <a:rPr kumimoji="1" lang="en-US" altLang="ja-JP" dirty="0"/>
              <a:t> IN (1, 2, 3);</a:t>
            </a:r>
            <a:endParaRPr kumimoji="1" lang="ja-JP" altLang="en-US" dirty="0"/>
          </a:p>
          <a:p>
            <a:endParaRPr kumimoji="1" lang="en-US" altLang="ja-JP" dirty="0"/>
          </a:p>
          <a:p>
            <a:r>
              <a:rPr kumimoji="1" lang="en-US" altLang="ja-JP" dirty="0"/>
              <a:t>SELECT</a:t>
            </a:r>
          </a:p>
          <a:p>
            <a:r>
              <a:rPr kumimoji="1" lang="en-US" altLang="ja-JP" dirty="0"/>
              <a:t>    *</a:t>
            </a:r>
          </a:p>
          <a:p>
            <a:r>
              <a:rPr kumimoji="1" lang="en-US" altLang="ja-JP" dirty="0"/>
              <a:t>FROM m_</a:t>
            </a:r>
            <a:r>
              <a:rPr kumimoji="1" lang="ja-JP" altLang="en-US" dirty="0"/>
              <a:t>商品</a:t>
            </a:r>
            <a:endParaRPr kumimoji="1" lang="en-US" altLang="ja-JP" dirty="0"/>
          </a:p>
          <a:p>
            <a:r>
              <a:rPr kumimoji="1" lang="en-US" altLang="ja-JP" dirty="0"/>
              <a:t>WHERE </a:t>
            </a:r>
            <a:r>
              <a:rPr kumimoji="1" lang="en-US" altLang="ja-JP" dirty="0" err="1"/>
              <a:t>MakerCD</a:t>
            </a:r>
            <a:r>
              <a:rPr kumimoji="1" lang="en-US" altLang="ja-JP" dirty="0"/>
              <a:t> &gt;= 1</a:t>
            </a:r>
          </a:p>
          <a:p>
            <a:r>
              <a:rPr kumimoji="1" lang="en-US" altLang="ja-JP" dirty="0"/>
              <a:t>  AND </a:t>
            </a:r>
            <a:r>
              <a:rPr kumimoji="1" lang="en-US" altLang="ja-JP" dirty="0" err="1"/>
              <a:t>MakerCD</a:t>
            </a:r>
            <a:r>
              <a:rPr kumimoji="1" lang="en-US" altLang="ja-JP" dirty="0"/>
              <a:t> &lt;= 3;</a:t>
            </a:r>
            <a:endParaRPr kumimoji="1" lang="ja-JP" altLang="en-US" dirty="0"/>
          </a:p>
          <a:p>
            <a:endParaRPr kumimoji="1" lang="en-US" altLang="ja-JP" dirty="0"/>
          </a:p>
          <a:p>
            <a:r>
              <a:rPr kumimoji="1" lang="en-US" altLang="ja-JP" dirty="0"/>
              <a:t>SELECT</a:t>
            </a:r>
          </a:p>
          <a:p>
            <a:r>
              <a:rPr kumimoji="1" lang="en-US" altLang="ja-JP" dirty="0"/>
              <a:t>    *</a:t>
            </a:r>
          </a:p>
          <a:p>
            <a:r>
              <a:rPr kumimoji="1" lang="en-US" altLang="ja-JP" dirty="0"/>
              <a:t>FROM m_</a:t>
            </a:r>
            <a:r>
              <a:rPr kumimoji="1" lang="ja-JP" altLang="en-US" dirty="0"/>
              <a:t>商品</a:t>
            </a:r>
            <a:endParaRPr kumimoji="1" lang="en-US" altLang="ja-JP" dirty="0"/>
          </a:p>
          <a:p>
            <a:r>
              <a:rPr kumimoji="1" lang="en-US" altLang="ja-JP" dirty="0"/>
              <a:t>WHERE </a:t>
            </a:r>
            <a:r>
              <a:rPr kumimoji="1" lang="en-US" altLang="ja-JP" dirty="0" err="1"/>
              <a:t>MakerCD</a:t>
            </a:r>
            <a:r>
              <a:rPr kumimoji="1" lang="en-US" altLang="ja-JP" dirty="0"/>
              <a:t> BETWEEN 1 AND 3;</a:t>
            </a:r>
            <a:endParaRPr kumimoji="1" lang="ja-JP" altLang="en-US" dirty="0"/>
          </a:p>
          <a:p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F9B3CF-BB5E-499C-96DD-F47E22CF7B26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82083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【</a:t>
            </a:r>
            <a:r>
              <a:rPr kumimoji="1" lang="ja-JP" altLang="en-US" dirty="0"/>
              <a:t>例題</a:t>
            </a:r>
            <a:r>
              <a:rPr kumimoji="1" lang="en-US" altLang="ja-JP" dirty="0"/>
              <a:t>6】</a:t>
            </a:r>
          </a:p>
          <a:p>
            <a:r>
              <a:rPr kumimoji="1" lang="en-US" altLang="ja-JP" dirty="0"/>
              <a:t>SELECT</a:t>
            </a:r>
          </a:p>
          <a:p>
            <a:r>
              <a:rPr kumimoji="1" lang="en-US" altLang="ja-JP" dirty="0"/>
              <a:t>    </a:t>
            </a:r>
            <a:r>
              <a:rPr kumimoji="1" lang="en-US" altLang="ja-JP" dirty="0" err="1"/>
              <a:t>MakerCD</a:t>
            </a:r>
            <a:endParaRPr kumimoji="1" lang="en-US" altLang="ja-JP" dirty="0"/>
          </a:p>
          <a:p>
            <a:r>
              <a:rPr kumimoji="1" lang="en-US" altLang="ja-JP" dirty="0"/>
              <a:t>   ,COUNT(</a:t>
            </a:r>
            <a:r>
              <a:rPr kumimoji="1" lang="ja-JP" altLang="en-US" dirty="0"/>
              <a:t>商品</a:t>
            </a:r>
            <a:r>
              <a:rPr kumimoji="1" lang="en-US" altLang="ja-JP" dirty="0"/>
              <a:t>CD)</a:t>
            </a:r>
          </a:p>
          <a:p>
            <a:r>
              <a:rPr kumimoji="1" lang="en-US" altLang="ja-JP" dirty="0"/>
              <a:t>FROM m_</a:t>
            </a:r>
            <a:r>
              <a:rPr kumimoji="1" lang="ja-JP" altLang="en-US" dirty="0"/>
              <a:t>商品</a:t>
            </a:r>
            <a:endParaRPr kumimoji="1" lang="en-US" altLang="ja-JP" dirty="0"/>
          </a:p>
          <a:p>
            <a:r>
              <a:rPr kumimoji="1" lang="en-US" altLang="ja-JP" dirty="0"/>
              <a:t>GROUP BY </a:t>
            </a:r>
            <a:r>
              <a:rPr kumimoji="1" lang="en-US" altLang="ja-JP" dirty="0" err="1"/>
              <a:t>MakerCD</a:t>
            </a:r>
            <a:endParaRPr kumimoji="1" lang="en-US" altLang="ja-JP" dirty="0"/>
          </a:p>
          <a:p>
            <a:endParaRPr kumimoji="1" lang="ja-JP" altLang="en-US" dirty="0"/>
          </a:p>
          <a:p>
            <a:r>
              <a:rPr kumimoji="1" lang="en-US" altLang="ja-JP" dirty="0"/>
              <a:t>【</a:t>
            </a:r>
            <a:r>
              <a:rPr kumimoji="1" lang="ja-JP" altLang="en-US" dirty="0"/>
              <a:t>例題</a:t>
            </a:r>
            <a:r>
              <a:rPr kumimoji="1" lang="en-US" altLang="ja-JP" dirty="0"/>
              <a:t>7】</a:t>
            </a:r>
          </a:p>
          <a:p>
            <a:r>
              <a:rPr kumimoji="1" lang="en-US" altLang="ja-JP" dirty="0"/>
              <a:t>SELECT</a:t>
            </a:r>
          </a:p>
          <a:p>
            <a:r>
              <a:rPr kumimoji="1" lang="en-US" altLang="ja-JP" dirty="0"/>
              <a:t>    </a:t>
            </a:r>
            <a:r>
              <a:rPr kumimoji="1" lang="ja-JP" altLang="en-US" dirty="0"/>
              <a:t>商品分類</a:t>
            </a:r>
            <a:r>
              <a:rPr kumimoji="1" lang="en-US" altLang="ja-JP" dirty="0"/>
              <a:t>CD</a:t>
            </a:r>
          </a:p>
          <a:p>
            <a:r>
              <a:rPr kumimoji="1" lang="en-US" altLang="ja-JP" dirty="0"/>
              <a:t>   ,</a:t>
            </a:r>
            <a:r>
              <a:rPr kumimoji="1" lang="en-US" altLang="ja-JP" dirty="0" err="1"/>
              <a:t>MakerCD</a:t>
            </a:r>
            <a:endParaRPr kumimoji="1" lang="en-US" altLang="ja-JP" dirty="0"/>
          </a:p>
          <a:p>
            <a:r>
              <a:rPr kumimoji="1" lang="en-US" altLang="ja-JP" dirty="0"/>
              <a:t>   ,COUNT(</a:t>
            </a:r>
            <a:r>
              <a:rPr kumimoji="1" lang="ja-JP" altLang="en-US" dirty="0"/>
              <a:t>商品</a:t>
            </a:r>
            <a:r>
              <a:rPr kumimoji="1" lang="en-US" altLang="ja-JP" dirty="0"/>
              <a:t>CD)</a:t>
            </a:r>
          </a:p>
          <a:p>
            <a:r>
              <a:rPr kumimoji="1" lang="en-US" altLang="ja-JP" dirty="0"/>
              <a:t>FROM m_</a:t>
            </a:r>
            <a:r>
              <a:rPr kumimoji="1" lang="ja-JP" altLang="en-US" dirty="0"/>
              <a:t>商品</a:t>
            </a:r>
            <a:endParaRPr kumimoji="1" lang="en-US" altLang="ja-JP" dirty="0"/>
          </a:p>
          <a:p>
            <a:r>
              <a:rPr kumimoji="1" lang="en-US" altLang="ja-JP" dirty="0"/>
              <a:t>GROUP BY </a:t>
            </a:r>
            <a:r>
              <a:rPr kumimoji="1" lang="ja-JP" altLang="en-US" dirty="0"/>
              <a:t>商品分類</a:t>
            </a:r>
            <a:r>
              <a:rPr kumimoji="1" lang="en-US" altLang="ja-JP" dirty="0"/>
              <a:t>CD</a:t>
            </a:r>
          </a:p>
          <a:p>
            <a:r>
              <a:rPr kumimoji="1" lang="en-US" altLang="ja-JP" dirty="0"/>
              <a:t>        ,</a:t>
            </a:r>
            <a:r>
              <a:rPr kumimoji="1" lang="en-US" altLang="ja-JP" dirty="0" err="1"/>
              <a:t>MakerCD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en-US" altLang="ja-JP" dirty="0"/>
              <a:t>【</a:t>
            </a:r>
            <a:r>
              <a:rPr kumimoji="1" lang="ja-JP" altLang="en-US" dirty="0"/>
              <a:t>例題</a:t>
            </a:r>
            <a:r>
              <a:rPr kumimoji="1" lang="en-US" altLang="ja-JP" dirty="0"/>
              <a:t>8】</a:t>
            </a:r>
          </a:p>
          <a:p>
            <a:r>
              <a:rPr kumimoji="1" lang="en-US" altLang="ja-JP" dirty="0"/>
              <a:t>SELECT</a:t>
            </a:r>
          </a:p>
          <a:p>
            <a:r>
              <a:rPr kumimoji="1" lang="en-US" altLang="ja-JP" dirty="0"/>
              <a:t>    SUBSTRING(</a:t>
            </a:r>
            <a:r>
              <a:rPr kumimoji="1" lang="ja-JP" altLang="en-US" dirty="0"/>
              <a:t>売上日</a:t>
            </a:r>
            <a:r>
              <a:rPr kumimoji="1" lang="en-US" altLang="ja-JP" dirty="0"/>
              <a:t>, 1, 7)</a:t>
            </a:r>
          </a:p>
          <a:p>
            <a:r>
              <a:rPr kumimoji="1" lang="en-US" altLang="ja-JP" dirty="0"/>
              <a:t>   ,SUM(</a:t>
            </a:r>
            <a:r>
              <a:rPr kumimoji="1" lang="ja-JP" altLang="en-US" dirty="0"/>
              <a:t>販売数量</a:t>
            </a:r>
            <a:r>
              <a:rPr kumimoji="1" lang="en-US" altLang="ja-JP" dirty="0"/>
              <a:t>)</a:t>
            </a:r>
          </a:p>
          <a:p>
            <a:r>
              <a:rPr kumimoji="1" lang="en-US" altLang="ja-JP" dirty="0"/>
              <a:t>FROM t_</a:t>
            </a:r>
            <a:r>
              <a:rPr kumimoji="1" lang="ja-JP" altLang="en-US" dirty="0"/>
              <a:t>売上</a:t>
            </a:r>
            <a:endParaRPr kumimoji="1" lang="en-US" altLang="ja-JP" dirty="0"/>
          </a:p>
          <a:p>
            <a:r>
              <a:rPr kumimoji="1" lang="en-US" altLang="ja-JP" dirty="0"/>
              <a:t>GROUP BY SUBSTRING(</a:t>
            </a:r>
            <a:r>
              <a:rPr kumimoji="1" lang="ja-JP" altLang="en-US" dirty="0"/>
              <a:t>売上日</a:t>
            </a:r>
            <a:r>
              <a:rPr kumimoji="1" lang="en-US" altLang="ja-JP" dirty="0"/>
              <a:t>, 1, 7)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【</a:t>
            </a:r>
            <a:r>
              <a:rPr kumimoji="1" lang="ja-JP" altLang="en-US" dirty="0"/>
              <a:t>例題</a:t>
            </a:r>
            <a:r>
              <a:rPr kumimoji="1" lang="en-US" altLang="ja-JP" dirty="0"/>
              <a:t>9】</a:t>
            </a:r>
          </a:p>
          <a:p>
            <a:r>
              <a:rPr kumimoji="1" lang="en-US" altLang="ja-JP" dirty="0"/>
              <a:t>SELECT</a:t>
            </a:r>
          </a:p>
          <a:p>
            <a:r>
              <a:rPr kumimoji="1" lang="en-US" altLang="ja-JP" dirty="0"/>
              <a:t>    </a:t>
            </a:r>
            <a:r>
              <a:rPr kumimoji="1" lang="ja-JP" altLang="en-US" dirty="0"/>
              <a:t>商品</a:t>
            </a:r>
            <a:r>
              <a:rPr kumimoji="1" lang="en-US" altLang="ja-JP" dirty="0"/>
              <a:t>CD</a:t>
            </a:r>
          </a:p>
          <a:p>
            <a:r>
              <a:rPr kumimoji="1" lang="en-US" altLang="ja-JP" dirty="0"/>
              <a:t>   ,AVG(</a:t>
            </a:r>
            <a:r>
              <a:rPr kumimoji="1" lang="ja-JP" altLang="en-US" dirty="0"/>
              <a:t>販売数量</a:t>
            </a:r>
            <a:r>
              <a:rPr kumimoji="1" lang="en-US" altLang="ja-JP" dirty="0"/>
              <a:t>)</a:t>
            </a:r>
          </a:p>
          <a:p>
            <a:r>
              <a:rPr kumimoji="1" lang="en-US" altLang="ja-JP" dirty="0"/>
              <a:t>FROM t_</a:t>
            </a:r>
            <a:r>
              <a:rPr kumimoji="1" lang="ja-JP" altLang="en-US" dirty="0"/>
              <a:t>売上</a:t>
            </a:r>
            <a:endParaRPr kumimoji="1" lang="en-US" altLang="ja-JP" dirty="0"/>
          </a:p>
          <a:p>
            <a:r>
              <a:rPr kumimoji="1" lang="en-US" altLang="ja-JP" dirty="0"/>
              <a:t>GROUP BY </a:t>
            </a:r>
            <a:r>
              <a:rPr kumimoji="1" lang="ja-JP" altLang="en-US" dirty="0"/>
              <a:t>商品</a:t>
            </a:r>
            <a:r>
              <a:rPr kumimoji="1" lang="en-US" altLang="ja-JP" dirty="0"/>
              <a:t>CD</a:t>
            </a:r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F9B3CF-BB5E-499C-96DD-F47E22CF7B26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64591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【</a:t>
            </a:r>
            <a:r>
              <a:rPr kumimoji="1" lang="ja-JP" altLang="en-US" dirty="0"/>
              <a:t>例題</a:t>
            </a:r>
            <a:r>
              <a:rPr kumimoji="1" lang="en-US" altLang="ja-JP" dirty="0"/>
              <a:t>10】</a:t>
            </a:r>
          </a:p>
          <a:p>
            <a:r>
              <a:rPr kumimoji="1" lang="en-US" altLang="ja-JP" dirty="0"/>
              <a:t>SELECT</a:t>
            </a:r>
          </a:p>
          <a:p>
            <a:r>
              <a:rPr kumimoji="1" lang="en-US" altLang="ja-JP" dirty="0"/>
              <a:t>    *</a:t>
            </a:r>
          </a:p>
          <a:p>
            <a:r>
              <a:rPr kumimoji="1" lang="en-US" altLang="ja-JP" dirty="0"/>
              <a:t>FROM t_</a:t>
            </a:r>
            <a:r>
              <a:rPr kumimoji="1" lang="ja-JP" altLang="en-US" dirty="0"/>
              <a:t>売上</a:t>
            </a:r>
            <a:endParaRPr kumimoji="1" lang="en-US" altLang="ja-JP" dirty="0"/>
          </a:p>
          <a:p>
            <a:r>
              <a:rPr kumimoji="1" lang="en-US" altLang="ja-JP" dirty="0"/>
              <a:t>WHERE </a:t>
            </a:r>
            <a:r>
              <a:rPr kumimoji="1" lang="ja-JP" altLang="en-US" dirty="0"/>
              <a:t>売上日 </a:t>
            </a:r>
            <a:r>
              <a:rPr kumimoji="1" lang="en-US" altLang="ja-JP" dirty="0"/>
              <a:t>= ‘2025/04/01’</a:t>
            </a:r>
          </a:p>
          <a:p>
            <a:r>
              <a:rPr kumimoji="1" lang="en-US" altLang="ja-JP" dirty="0"/>
              <a:t>ORDER BY </a:t>
            </a:r>
            <a:r>
              <a:rPr kumimoji="1" lang="ja-JP" altLang="en-US" dirty="0"/>
              <a:t>売上伝票番号</a:t>
            </a:r>
            <a:endParaRPr kumimoji="1" lang="en-US" altLang="ja-JP" dirty="0"/>
          </a:p>
          <a:p>
            <a:r>
              <a:rPr kumimoji="1" lang="en-US" altLang="ja-JP" dirty="0"/>
              <a:t>        ,</a:t>
            </a:r>
            <a:r>
              <a:rPr kumimoji="1" lang="ja-JP" altLang="en-US" dirty="0"/>
              <a:t>明細番号 </a:t>
            </a:r>
            <a:r>
              <a:rPr kumimoji="1" lang="en-US" altLang="ja-JP" dirty="0"/>
              <a:t>DESC</a:t>
            </a:r>
          </a:p>
          <a:p>
            <a:endParaRPr kumimoji="1" lang="en-US" altLang="ja-JP" dirty="0"/>
          </a:p>
          <a:p>
            <a:pPr defTabSz="897941">
              <a:defRPr/>
            </a:pPr>
            <a:r>
              <a:rPr kumimoji="1" lang="en-US" altLang="ja-JP" dirty="0"/>
              <a:t>【</a:t>
            </a:r>
            <a:r>
              <a:rPr kumimoji="1" lang="ja-JP" altLang="en-US" dirty="0"/>
              <a:t>例題</a:t>
            </a:r>
            <a:r>
              <a:rPr kumimoji="1" lang="en-US" altLang="ja-JP" dirty="0"/>
              <a:t>11】</a:t>
            </a:r>
          </a:p>
          <a:p>
            <a:r>
              <a:rPr kumimoji="1" lang="en-US" altLang="ja-JP" dirty="0"/>
              <a:t>SELECT</a:t>
            </a:r>
          </a:p>
          <a:p>
            <a:r>
              <a:rPr kumimoji="1" lang="en-US" altLang="ja-JP" dirty="0"/>
              <a:t>    *</a:t>
            </a:r>
          </a:p>
          <a:p>
            <a:r>
              <a:rPr kumimoji="1" lang="en-US" altLang="ja-JP" dirty="0"/>
              <a:t>   ,CASE</a:t>
            </a:r>
          </a:p>
          <a:p>
            <a:r>
              <a:rPr kumimoji="1" lang="en-US" altLang="ja-JP" dirty="0"/>
              <a:t>        WHEN </a:t>
            </a:r>
            <a:r>
              <a:rPr kumimoji="1" lang="ja-JP" altLang="en-US" dirty="0"/>
              <a:t>販売数量 </a:t>
            </a:r>
            <a:r>
              <a:rPr kumimoji="1" lang="en-US" altLang="ja-JP" dirty="0"/>
              <a:t>= 1 THEN</a:t>
            </a:r>
          </a:p>
          <a:p>
            <a:r>
              <a:rPr kumimoji="1" lang="en-US" altLang="ja-JP" dirty="0"/>
              <a:t>            ‘</a:t>
            </a:r>
            <a:r>
              <a:rPr kumimoji="1" lang="ja-JP" altLang="en-US" dirty="0"/>
              <a:t>●</a:t>
            </a:r>
            <a:r>
              <a:rPr kumimoji="1" lang="en-US" altLang="ja-JP" dirty="0"/>
              <a:t>’</a:t>
            </a:r>
          </a:p>
          <a:p>
            <a:r>
              <a:rPr kumimoji="1" lang="en-US" altLang="ja-JP" dirty="0"/>
              <a:t>        ELSE</a:t>
            </a:r>
          </a:p>
          <a:p>
            <a:r>
              <a:rPr kumimoji="1" lang="en-US" altLang="ja-JP" dirty="0"/>
              <a:t>            ‘×’</a:t>
            </a:r>
          </a:p>
          <a:p>
            <a:r>
              <a:rPr kumimoji="1" lang="en-US" altLang="ja-JP" dirty="0"/>
              <a:t>    END</a:t>
            </a:r>
          </a:p>
          <a:p>
            <a:r>
              <a:rPr kumimoji="1" lang="en-US" altLang="ja-JP" dirty="0"/>
              <a:t>FROM t_</a:t>
            </a:r>
            <a:r>
              <a:rPr kumimoji="1" lang="ja-JP" altLang="en-US" dirty="0"/>
              <a:t>売上</a:t>
            </a:r>
            <a:endParaRPr kumimoji="1" lang="en-US" altLang="ja-JP" dirty="0"/>
          </a:p>
          <a:p>
            <a:r>
              <a:rPr kumimoji="1" lang="en-US" altLang="ja-JP" dirty="0"/>
              <a:t>WHERE </a:t>
            </a:r>
            <a:r>
              <a:rPr kumimoji="1" lang="ja-JP" altLang="en-US" dirty="0"/>
              <a:t>売上日 </a:t>
            </a:r>
            <a:r>
              <a:rPr kumimoji="1" lang="en-US" altLang="ja-JP" dirty="0"/>
              <a:t>= ‘2025/04/01’</a:t>
            </a:r>
          </a:p>
          <a:p>
            <a:r>
              <a:rPr kumimoji="1" lang="en-US" altLang="ja-JP" dirty="0"/>
              <a:t>ORDER BY </a:t>
            </a:r>
            <a:r>
              <a:rPr kumimoji="1" lang="ja-JP" altLang="en-US" dirty="0"/>
              <a:t>売上伝票番号</a:t>
            </a:r>
            <a:endParaRPr kumimoji="1" lang="en-US" altLang="ja-JP" dirty="0"/>
          </a:p>
          <a:p>
            <a:r>
              <a:rPr kumimoji="1" lang="en-US" altLang="ja-JP" dirty="0"/>
              <a:t>        ,</a:t>
            </a:r>
            <a:r>
              <a:rPr kumimoji="1" lang="ja-JP" altLang="en-US" dirty="0"/>
              <a:t>明細番号</a:t>
            </a:r>
            <a:endParaRPr kumimoji="1" lang="en-US" altLang="ja-JP" dirty="0"/>
          </a:p>
          <a:p>
            <a:endParaRPr kumimoji="1" lang="en-US" altLang="ja-JP" dirty="0"/>
          </a:p>
          <a:p>
            <a:pPr defTabSz="897941">
              <a:defRPr/>
            </a:pPr>
            <a:r>
              <a:rPr kumimoji="1" lang="en-US" altLang="ja-JP" dirty="0"/>
              <a:t>【</a:t>
            </a:r>
            <a:r>
              <a:rPr kumimoji="1" lang="ja-JP" altLang="en-US" dirty="0"/>
              <a:t>例題</a:t>
            </a:r>
            <a:r>
              <a:rPr kumimoji="1" lang="en-US" altLang="ja-JP" dirty="0"/>
              <a:t>12】</a:t>
            </a:r>
          </a:p>
          <a:p>
            <a:r>
              <a:rPr kumimoji="1" lang="en-US" altLang="ja-JP" dirty="0"/>
              <a:t>SELECT</a:t>
            </a:r>
          </a:p>
          <a:p>
            <a:r>
              <a:rPr kumimoji="1" lang="en-US" altLang="ja-JP" dirty="0"/>
              <a:t>    </a:t>
            </a:r>
            <a:r>
              <a:rPr kumimoji="1" lang="en-US" altLang="ja-JP" dirty="0" err="1"/>
              <a:t>MakerCD</a:t>
            </a:r>
            <a:r>
              <a:rPr kumimoji="1" lang="en-US" altLang="ja-JP" dirty="0"/>
              <a:t> AS CD</a:t>
            </a:r>
          </a:p>
          <a:p>
            <a:r>
              <a:rPr kumimoji="1" lang="en-US" altLang="ja-JP" dirty="0"/>
              <a:t>   ,Maker</a:t>
            </a:r>
            <a:r>
              <a:rPr kumimoji="1" lang="ja-JP" altLang="en-US" dirty="0"/>
              <a:t>名 </a:t>
            </a:r>
            <a:r>
              <a:rPr kumimoji="1" lang="en-US" altLang="ja-JP" dirty="0"/>
              <a:t>AS </a:t>
            </a:r>
            <a:r>
              <a:rPr kumimoji="1" lang="ja-JP" altLang="en-US" dirty="0"/>
              <a:t>名称</a:t>
            </a:r>
            <a:endParaRPr kumimoji="1" lang="en-US" altLang="ja-JP" dirty="0"/>
          </a:p>
          <a:p>
            <a:r>
              <a:rPr kumimoji="1" lang="en-US" altLang="ja-JP" dirty="0"/>
              <a:t>   ,Maker</a:t>
            </a:r>
            <a:r>
              <a:rPr kumimoji="1" lang="ja-JP" altLang="en-US" dirty="0"/>
              <a:t>名カナ </a:t>
            </a:r>
            <a:r>
              <a:rPr kumimoji="1" lang="en-US" altLang="ja-JP" dirty="0"/>
              <a:t>AS </a:t>
            </a:r>
            <a:r>
              <a:rPr kumimoji="1" lang="ja-JP" altLang="en-US" dirty="0"/>
              <a:t>名称カナ</a:t>
            </a:r>
            <a:endParaRPr kumimoji="1" lang="en-US" altLang="ja-JP" dirty="0"/>
          </a:p>
          <a:p>
            <a:r>
              <a:rPr kumimoji="1" lang="en-US" altLang="ja-JP" dirty="0"/>
              <a:t>FROM </a:t>
            </a:r>
            <a:r>
              <a:rPr kumimoji="1" lang="en-US" altLang="ja-JP" dirty="0" err="1"/>
              <a:t>m_Maker</a:t>
            </a:r>
            <a:endParaRPr kumimoji="1" lang="ja-JP" altLang="en-US" dirty="0"/>
          </a:p>
          <a:p>
            <a:r>
              <a:rPr kumimoji="1" lang="en-US" altLang="ja-JP" dirty="0"/>
              <a:t>UNION</a:t>
            </a:r>
          </a:p>
          <a:p>
            <a:r>
              <a:rPr kumimoji="1" lang="en-US" altLang="ja-JP" dirty="0"/>
              <a:t>SELECT</a:t>
            </a:r>
          </a:p>
          <a:p>
            <a:r>
              <a:rPr kumimoji="1" lang="en-US" altLang="ja-JP" dirty="0"/>
              <a:t>    </a:t>
            </a:r>
            <a:r>
              <a:rPr kumimoji="1" lang="ja-JP" altLang="en-US" dirty="0"/>
              <a:t>商品分類</a:t>
            </a:r>
            <a:r>
              <a:rPr kumimoji="1" lang="en-US" altLang="ja-JP" dirty="0"/>
              <a:t>CD AS CD</a:t>
            </a:r>
          </a:p>
          <a:p>
            <a:r>
              <a:rPr kumimoji="1" lang="en-US" altLang="ja-JP" dirty="0"/>
              <a:t>   ,</a:t>
            </a:r>
            <a:r>
              <a:rPr kumimoji="1" lang="ja-JP" altLang="en-US" dirty="0"/>
              <a:t>商品分類名 </a:t>
            </a:r>
            <a:r>
              <a:rPr kumimoji="1" lang="en-US" altLang="ja-JP" dirty="0"/>
              <a:t>AS </a:t>
            </a:r>
            <a:r>
              <a:rPr kumimoji="1" lang="ja-JP" altLang="en-US" dirty="0"/>
              <a:t>名称</a:t>
            </a:r>
            <a:endParaRPr kumimoji="1" lang="en-US" altLang="ja-JP" dirty="0"/>
          </a:p>
          <a:p>
            <a:r>
              <a:rPr kumimoji="1" lang="en-US" altLang="ja-JP" dirty="0"/>
              <a:t>   ,</a:t>
            </a:r>
            <a:r>
              <a:rPr kumimoji="1" lang="ja-JP" altLang="en-US" dirty="0"/>
              <a:t>商品分類名カナ </a:t>
            </a:r>
            <a:r>
              <a:rPr kumimoji="1" lang="en-US" altLang="ja-JP" dirty="0"/>
              <a:t>AS </a:t>
            </a:r>
            <a:r>
              <a:rPr kumimoji="1" lang="ja-JP" altLang="en-US" dirty="0"/>
              <a:t>名称カナ</a:t>
            </a:r>
            <a:endParaRPr kumimoji="1" lang="en-US" altLang="ja-JP" dirty="0"/>
          </a:p>
          <a:p>
            <a:r>
              <a:rPr kumimoji="1" lang="en-US" altLang="ja-JP" dirty="0"/>
              <a:t>FROM m_</a:t>
            </a:r>
            <a:r>
              <a:rPr kumimoji="1" lang="ja-JP" altLang="en-US" dirty="0"/>
              <a:t>商品分類</a:t>
            </a:r>
            <a:endParaRPr kumimoji="1" lang="en-US" altLang="ja-JP" dirty="0"/>
          </a:p>
          <a:p>
            <a:endParaRPr kumimoji="1" lang="en-US" altLang="ja-JP" dirty="0"/>
          </a:p>
          <a:p>
            <a:pPr defTabSz="897941">
              <a:defRPr/>
            </a:pPr>
            <a:r>
              <a:rPr kumimoji="1" lang="en-US" altLang="ja-JP" dirty="0"/>
              <a:t>【</a:t>
            </a:r>
            <a:r>
              <a:rPr kumimoji="1" lang="ja-JP" altLang="en-US" dirty="0"/>
              <a:t>例題</a:t>
            </a:r>
            <a:r>
              <a:rPr kumimoji="1" lang="en-US" altLang="ja-JP" dirty="0"/>
              <a:t>13】</a:t>
            </a:r>
          </a:p>
          <a:p>
            <a:r>
              <a:rPr kumimoji="1" lang="en-US" altLang="ja-JP" dirty="0"/>
              <a:t>SELECT</a:t>
            </a:r>
          </a:p>
          <a:p>
            <a:r>
              <a:rPr kumimoji="1" lang="en-US" altLang="ja-JP" dirty="0"/>
              <a:t>    </a:t>
            </a:r>
            <a:r>
              <a:rPr kumimoji="1" lang="ja-JP" altLang="en-US" dirty="0"/>
              <a:t>得意先</a:t>
            </a:r>
            <a:r>
              <a:rPr kumimoji="1" lang="en-US" altLang="ja-JP" dirty="0"/>
              <a:t>CD</a:t>
            </a:r>
          </a:p>
          <a:p>
            <a:r>
              <a:rPr kumimoji="1" lang="en-US" altLang="ja-JP" dirty="0"/>
              <a:t>   ,SUM(</a:t>
            </a:r>
          </a:p>
          <a:p>
            <a:r>
              <a:rPr kumimoji="1" lang="en-US" altLang="ja-JP" dirty="0"/>
              <a:t>        CASE</a:t>
            </a:r>
          </a:p>
          <a:p>
            <a:r>
              <a:rPr kumimoji="1" lang="en-US" altLang="ja-JP" dirty="0"/>
              <a:t>            WHEN SUBSTRING(</a:t>
            </a:r>
            <a:r>
              <a:rPr kumimoji="1" lang="ja-JP" altLang="en-US" dirty="0"/>
              <a:t>売上日</a:t>
            </a:r>
            <a:r>
              <a:rPr kumimoji="1" lang="en-US" altLang="ja-JP" dirty="0"/>
              <a:t>, 1, 7) = '2025/04' THEN</a:t>
            </a:r>
          </a:p>
          <a:p>
            <a:r>
              <a:rPr kumimoji="1" lang="en-US" altLang="ja-JP" dirty="0"/>
              <a:t>                </a:t>
            </a:r>
            <a:r>
              <a:rPr kumimoji="1" lang="ja-JP" altLang="en-US" dirty="0"/>
              <a:t>販売数量</a:t>
            </a:r>
          </a:p>
          <a:p>
            <a:r>
              <a:rPr kumimoji="1" lang="ja-JP" altLang="en-US" dirty="0"/>
              <a:t>            </a:t>
            </a:r>
            <a:r>
              <a:rPr kumimoji="1" lang="en-US" altLang="ja-JP" dirty="0"/>
              <a:t>ELSE</a:t>
            </a:r>
          </a:p>
          <a:p>
            <a:r>
              <a:rPr kumimoji="1" lang="en-US" altLang="ja-JP" dirty="0"/>
              <a:t>                0</a:t>
            </a:r>
          </a:p>
          <a:p>
            <a:r>
              <a:rPr kumimoji="1" lang="en-US" altLang="ja-JP" dirty="0"/>
              <a:t>        END</a:t>
            </a:r>
          </a:p>
          <a:p>
            <a:r>
              <a:rPr kumimoji="1" lang="en-US" altLang="ja-JP" dirty="0"/>
              <a:t>    ) AS 4</a:t>
            </a:r>
            <a:r>
              <a:rPr kumimoji="1" lang="ja-JP" altLang="en-US" dirty="0"/>
              <a:t>月販売数量</a:t>
            </a:r>
          </a:p>
          <a:p>
            <a:r>
              <a:rPr kumimoji="1" lang="ja-JP" altLang="en-US" dirty="0"/>
              <a:t>   </a:t>
            </a:r>
            <a:r>
              <a:rPr kumimoji="1" lang="en-US" altLang="ja-JP" dirty="0"/>
              <a:t>,SUM(</a:t>
            </a:r>
          </a:p>
          <a:p>
            <a:r>
              <a:rPr kumimoji="1" lang="en-US" altLang="ja-JP" dirty="0"/>
              <a:t>        CASE</a:t>
            </a:r>
          </a:p>
          <a:p>
            <a:r>
              <a:rPr kumimoji="1" lang="en-US" altLang="ja-JP" dirty="0"/>
              <a:t>            WHEN SUBSTRING(</a:t>
            </a:r>
            <a:r>
              <a:rPr kumimoji="1" lang="ja-JP" altLang="en-US" dirty="0"/>
              <a:t>売上日</a:t>
            </a:r>
            <a:r>
              <a:rPr kumimoji="1" lang="en-US" altLang="ja-JP" dirty="0"/>
              <a:t>, 1, 7) = '2025/05' THEN</a:t>
            </a:r>
          </a:p>
          <a:p>
            <a:r>
              <a:rPr kumimoji="1" lang="en-US" altLang="ja-JP" dirty="0"/>
              <a:t>                </a:t>
            </a:r>
            <a:r>
              <a:rPr kumimoji="1" lang="ja-JP" altLang="en-US" dirty="0"/>
              <a:t>販売数量</a:t>
            </a:r>
          </a:p>
          <a:p>
            <a:r>
              <a:rPr kumimoji="1" lang="ja-JP" altLang="en-US" dirty="0"/>
              <a:t>            </a:t>
            </a:r>
            <a:r>
              <a:rPr kumimoji="1" lang="en-US" altLang="ja-JP" dirty="0"/>
              <a:t>ELSE</a:t>
            </a:r>
          </a:p>
          <a:p>
            <a:r>
              <a:rPr kumimoji="1" lang="en-US" altLang="ja-JP" dirty="0"/>
              <a:t>                0</a:t>
            </a:r>
          </a:p>
          <a:p>
            <a:r>
              <a:rPr kumimoji="1" lang="en-US" altLang="ja-JP" dirty="0"/>
              <a:t>        END</a:t>
            </a:r>
          </a:p>
          <a:p>
            <a:r>
              <a:rPr kumimoji="1" lang="en-US" altLang="ja-JP" dirty="0"/>
              <a:t>    ) AS 5</a:t>
            </a:r>
            <a:r>
              <a:rPr kumimoji="1" lang="ja-JP" altLang="en-US" dirty="0"/>
              <a:t>月販売数量</a:t>
            </a:r>
          </a:p>
          <a:p>
            <a:r>
              <a:rPr kumimoji="1" lang="ja-JP" altLang="en-US" dirty="0"/>
              <a:t>   </a:t>
            </a:r>
            <a:r>
              <a:rPr kumimoji="1" lang="en-US" altLang="ja-JP" dirty="0"/>
              <a:t>,SUM(</a:t>
            </a:r>
          </a:p>
          <a:p>
            <a:r>
              <a:rPr kumimoji="1" lang="en-US" altLang="ja-JP" dirty="0"/>
              <a:t>        CASE</a:t>
            </a:r>
          </a:p>
          <a:p>
            <a:r>
              <a:rPr kumimoji="1" lang="en-US" altLang="ja-JP" dirty="0"/>
              <a:t>            WHEN SUBSTRING(</a:t>
            </a:r>
            <a:r>
              <a:rPr kumimoji="1" lang="ja-JP" altLang="en-US" dirty="0"/>
              <a:t>売上日</a:t>
            </a:r>
            <a:r>
              <a:rPr kumimoji="1" lang="en-US" altLang="ja-JP" dirty="0"/>
              <a:t>, 1, 7) = '2025/06' THEN</a:t>
            </a:r>
          </a:p>
          <a:p>
            <a:r>
              <a:rPr kumimoji="1" lang="en-US" altLang="ja-JP" dirty="0"/>
              <a:t>                </a:t>
            </a:r>
            <a:r>
              <a:rPr kumimoji="1" lang="ja-JP" altLang="en-US" dirty="0"/>
              <a:t>販売数量</a:t>
            </a:r>
          </a:p>
          <a:p>
            <a:r>
              <a:rPr kumimoji="1" lang="ja-JP" altLang="en-US" dirty="0"/>
              <a:t>            </a:t>
            </a:r>
            <a:r>
              <a:rPr kumimoji="1" lang="en-US" altLang="ja-JP" dirty="0"/>
              <a:t>ELSE</a:t>
            </a:r>
          </a:p>
          <a:p>
            <a:r>
              <a:rPr kumimoji="1" lang="en-US" altLang="ja-JP" dirty="0"/>
              <a:t>                0</a:t>
            </a:r>
          </a:p>
          <a:p>
            <a:r>
              <a:rPr kumimoji="1" lang="en-US" altLang="ja-JP" dirty="0"/>
              <a:t>        END</a:t>
            </a:r>
          </a:p>
          <a:p>
            <a:r>
              <a:rPr kumimoji="1" lang="en-US" altLang="ja-JP" dirty="0"/>
              <a:t>    ) AS 6</a:t>
            </a:r>
            <a:r>
              <a:rPr kumimoji="1" lang="ja-JP" altLang="en-US" dirty="0"/>
              <a:t>月販売数量</a:t>
            </a:r>
          </a:p>
          <a:p>
            <a:r>
              <a:rPr kumimoji="1" lang="ja-JP" altLang="en-US" dirty="0"/>
              <a:t>   </a:t>
            </a:r>
            <a:r>
              <a:rPr kumimoji="1" lang="en-US" altLang="ja-JP" dirty="0"/>
              <a:t>,SUM(</a:t>
            </a:r>
          </a:p>
          <a:p>
            <a:r>
              <a:rPr kumimoji="1" lang="en-US" altLang="ja-JP" dirty="0"/>
              <a:t>        CASE</a:t>
            </a:r>
          </a:p>
          <a:p>
            <a:r>
              <a:rPr kumimoji="1" lang="en-US" altLang="ja-JP" dirty="0"/>
              <a:t>            WHEN SUBSTRING(</a:t>
            </a:r>
            <a:r>
              <a:rPr kumimoji="1" lang="ja-JP" altLang="en-US" dirty="0"/>
              <a:t>売上日</a:t>
            </a:r>
            <a:r>
              <a:rPr kumimoji="1" lang="en-US" altLang="ja-JP" dirty="0"/>
              <a:t>, 1, 7) = '2025/07' THEN</a:t>
            </a:r>
          </a:p>
          <a:p>
            <a:r>
              <a:rPr kumimoji="1" lang="en-US" altLang="ja-JP" dirty="0"/>
              <a:t>                </a:t>
            </a:r>
            <a:r>
              <a:rPr kumimoji="1" lang="ja-JP" altLang="en-US" dirty="0"/>
              <a:t>販売数量</a:t>
            </a:r>
          </a:p>
          <a:p>
            <a:r>
              <a:rPr kumimoji="1" lang="ja-JP" altLang="en-US" dirty="0"/>
              <a:t>            </a:t>
            </a:r>
            <a:r>
              <a:rPr kumimoji="1" lang="en-US" altLang="ja-JP" dirty="0"/>
              <a:t>ELSE</a:t>
            </a:r>
          </a:p>
          <a:p>
            <a:r>
              <a:rPr kumimoji="1" lang="en-US" altLang="ja-JP" dirty="0"/>
              <a:t>                0</a:t>
            </a:r>
          </a:p>
          <a:p>
            <a:r>
              <a:rPr kumimoji="1" lang="en-US" altLang="ja-JP" dirty="0"/>
              <a:t>        END</a:t>
            </a:r>
          </a:p>
          <a:p>
            <a:r>
              <a:rPr kumimoji="1" lang="en-US" altLang="ja-JP" dirty="0"/>
              <a:t>    ) AS 7</a:t>
            </a:r>
            <a:r>
              <a:rPr kumimoji="1" lang="ja-JP" altLang="en-US" dirty="0"/>
              <a:t>月販売数量</a:t>
            </a:r>
          </a:p>
          <a:p>
            <a:r>
              <a:rPr kumimoji="1" lang="ja-JP" altLang="en-US" dirty="0"/>
              <a:t>   </a:t>
            </a:r>
            <a:r>
              <a:rPr kumimoji="1" lang="en-US" altLang="ja-JP" dirty="0"/>
              <a:t>,SUM(</a:t>
            </a:r>
          </a:p>
          <a:p>
            <a:r>
              <a:rPr kumimoji="1" lang="en-US" altLang="ja-JP" dirty="0"/>
              <a:t>        CASE</a:t>
            </a:r>
          </a:p>
          <a:p>
            <a:r>
              <a:rPr kumimoji="1" lang="en-US" altLang="ja-JP" dirty="0"/>
              <a:t>            WHEN SUBSTRING(</a:t>
            </a:r>
            <a:r>
              <a:rPr kumimoji="1" lang="ja-JP" altLang="en-US" dirty="0"/>
              <a:t>売上日</a:t>
            </a:r>
            <a:r>
              <a:rPr kumimoji="1" lang="en-US" altLang="ja-JP" dirty="0"/>
              <a:t>, 1, 7) = '2025/08' THEN</a:t>
            </a:r>
          </a:p>
          <a:p>
            <a:r>
              <a:rPr kumimoji="1" lang="en-US" altLang="ja-JP" dirty="0"/>
              <a:t>                </a:t>
            </a:r>
            <a:r>
              <a:rPr kumimoji="1" lang="ja-JP" altLang="en-US" dirty="0"/>
              <a:t>販売数量</a:t>
            </a:r>
          </a:p>
          <a:p>
            <a:r>
              <a:rPr kumimoji="1" lang="ja-JP" altLang="en-US" dirty="0"/>
              <a:t>            </a:t>
            </a:r>
            <a:r>
              <a:rPr kumimoji="1" lang="en-US" altLang="ja-JP" dirty="0"/>
              <a:t>ELSE</a:t>
            </a:r>
          </a:p>
          <a:p>
            <a:r>
              <a:rPr kumimoji="1" lang="en-US" altLang="ja-JP" dirty="0"/>
              <a:t>                0</a:t>
            </a:r>
          </a:p>
          <a:p>
            <a:r>
              <a:rPr kumimoji="1" lang="en-US" altLang="ja-JP" dirty="0"/>
              <a:t>        END</a:t>
            </a:r>
          </a:p>
          <a:p>
            <a:r>
              <a:rPr kumimoji="1" lang="en-US" altLang="ja-JP" dirty="0"/>
              <a:t>    ) AS 8</a:t>
            </a:r>
            <a:r>
              <a:rPr kumimoji="1" lang="ja-JP" altLang="en-US" dirty="0"/>
              <a:t>月販売数量</a:t>
            </a:r>
          </a:p>
          <a:p>
            <a:r>
              <a:rPr kumimoji="1" lang="ja-JP" altLang="en-US" dirty="0"/>
              <a:t>   </a:t>
            </a:r>
            <a:r>
              <a:rPr kumimoji="1" lang="en-US" altLang="ja-JP" dirty="0"/>
              <a:t>,SUM(</a:t>
            </a:r>
          </a:p>
          <a:p>
            <a:r>
              <a:rPr kumimoji="1" lang="en-US" altLang="ja-JP" dirty="0"/>
              <a:t>        CASE</a:t>
            </a:r>
          </a:p>
          <a:p>
            <a:r>
              <a:rPr kumimoji="1" lang="en-US" altLang="ja-JP" dirty="0"/>
              <a:t>            WHEN SUBSTRING(</a:t>
            </a:r>
            <a:r>
              <a:rPr kumimoji="1" lang="ja-JP" altLang="en-US" dirty="0"/>
              <a:t>売上日</a:t>
            </a:r>
            <a:r>
              <a:rPr kumimoji="1" lang="en-US" altLang="ja-JP" dirty="0"/>
              <a:t>, 1, 7) = '2025/09' THEN</a:t>
            </a:r>
          </a:p>
          <a:p>
            <a:r>
              <a:rPr kumimoji="1" lang="en-US" altLang="ja-JP" dirty="0"/>
              <a:t>                </a:t>
            </a:r>
            <a:r>
              <a:rPr kumimoji="1" lang="ja-JP" altLang="en-US" dirty="0"/>
              <a:t>販売数量</a:t>
            </a:r>
          </a:p>
          <a:p>
            <a:r>
              <a:rPr kumimoji="1" lang="ja-JP" altLang="en-US" dirty="0"/>
              <a:t>            </a:t>
            </a:r>
            <a:r>
              <a:rPr kumimoji="1" lang="en-US" altLang="ja-JP" dirty="0"/>
              <a:t>ELSE</a:t>
            </a:r>
          </a:p>
          <a:p>
            <a:r>
              <a:rPr kumimoji="1" lang="en-US" altLang="ja-JP" dirty="0"/>
              <a:t>                0</a:t>
            </a:r>
          </a:p>
          <a:p>
            <a:r>
              <a:rPr kumimoji="1" lang="en-US" altLang="ja-JP" dirty="0"/>
              <a:t>        END</a:t>
            </a:r>
          </a:p>
          <a:p>
            <a:r>
              <a:rPr kumimoji="1" lang="en-US" altLang="ja-JP" dirty="0"/>
              <a:t>    ) AS 9</a:t>
            </a:r>
            <a:r>
              <a:rPr kumimoji="1" lang="ja-JP" altLang="en-US" dirty="0"/>
              <a:t>月販売数量</a:t>
            </a:r>
          </a:p>
          <a:p>
            <a:r>
              <a:rPr kumimoji="1" lang="en-US" altLang="ja-JP" dirty="0"/>
              <a:t>FROM t_</a:t>
            </a:r>
            <a:r>
              <a:rPr kumimoji="1" lang="ja-JP" altLang="en-US" dirty="0"/>
              <a:t>売上</a:t>
            </a:r>
          </a:p>
          <a:p>
            <a:r>
              <a:rPr kumimoji="1" lang="en-US" altLang="ja-JP" dirty="0"/>
              <a:t>WHERE SUBSTRING(</a:t>
            </a:r>
            <a:r>
              <a:rPr kumimoji="1" lang="ja-JP" altLang="en-US" dirty="0"/>
              <a:t>売上日</a:t>
            </a:r>
            <a:r>
              <a:rPr kumimoji="1" lang="en-US" altLang="ja-JP" dirty="0"/>
              <a:t>, 1, 7) &gt;= '2025/04'</a:t>
            </a:r>
          </a:p>
          <a:p>
            <a:r>
              <a:rPr kumimoji="1" lang="en-US" altLang="ja-JP" dirty="0"/>
              <a:t>  AND SUBSTRING(</a:t>
            </a:r>
            <a:r>
              <a:rPr kumimoji="1" lang="ja-JP" altLang="en-US" dirty="0"/>
              <a:t>売上日</a:t>
            </a:r>
            <a:r>
              <a:rPr kumimoji="1" lang="en-US" altLang="ja-JP" dirty="0"/>
              <a:t>, 1, 7) &lt;= '2025/09'</a:t>
            </a:r>
          </a:p>
          <a:p>
            <a:r>
              <a:rPr kumimoji="1" lang="en-US" altLang="ja-JP" dirty="0"/>
              <a:t>GROUP BY </a:t>
            </a:r>
            <a:r>
              <a:rPr kumimoji="1" lang="ja-JP" altLang="en-US" dirty="0"/>
              <a:t>得意先</a:t>
            </a:r>
            <a:r>
              <a:rPr kumimoji="1" lang="en-US" altLang="ja-JP" dirty="0"/>
              <a:t>CD</a:t>
            </a:r>
          </a:p>
          <a:p>
            <a:r>
              <a:rPr kumimoji="1" lang="en-US" altLang="ja-JP" dirty="0"/>
              <a:t>ORDER BY </a:t>
            </a:r>
            <a:r>
              <a:rPr kumimoji="1" lang="ja-JP" altLang="en-US" dirty="0"/>
              <a:t>得意先</a:t>
            </a:r>
            <a:r>
              <a:rPr kumimoji="1" lang="en-US" altLang="ja-JP" dirty="0"/>
              <a:t>CD</a:t>
            </a:r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F9B3CF-BB5E-499C-96DD-F47E22CF7B26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75785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906396"/>
            <a:ext cx="8420100" cy="721361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36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2820795"/>
            <a:ext cx="7429500" cy="72644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  <a:lvl2pPr marL="457197" indent="0" algn="ctr">
              <a:buNone/>
              <a:defRPr sz="2000"/>
            </a:lvl2pPr>
            <a:lvl3pPr marL="914395" indent="0" algn="ctr">
              <a:buNone/>
              <a:defRPr sz="1800"/>
            </a:lvl3pPr>
            <a:lvl4pPr marL="1371592" indent="0" algn="ctr">
              <a:buNone/>
              <a:defRPr sz="1600"/>
            </a:lvl4pPr>
            <a:lvl5pPr marL="1828789" indent="0" algn="ctr">
              <a:buNone/>
              <a:defRPr sz="1600"/>
            </a:lvl5pPr>
            <a:lvl6pPr marL="2285987" indent="0" algn="ctr">
              <a:buNone/>
              <a:defRPr sz="1600"/>
            </a:lvl6pPr>
            <a:lvl7pPr marL="2743184" indent="0" algn="ctr">
              <a:buNone/>
              <a:defRPr sz="1600"/>
            </a:lvl7pPr>
            <a:lvl8pPr marL="3200381" indent="0" algn="ctr">
              <a:buNone/>
              <a:defRPr sz="1600"/>
            </a:lvl8pPr>
            <a:lvl9pPr marL="3657579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68260" y="6519600"/>
            <a:ext cx="2228850" cy="324000"/>
          </a:xfrm>
        </p:spPr>
        <p:txBody>
          <a:bodyPr/>
          <a:lstStyle>
            <a:lvl1pPr>
              <a:defRPr sz="11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fld id="{0BDC6CC0-337C-4DEC-BAED-08CE4EABF7AC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pic>
        <p:nvPicPr>
          <p:cNvPr id="10" name="図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3440" y="37797"/>
            <a:ext cx="2672018" cy="464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828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12543" y="62073"/>
            <a:ext cx="9784308" cy="444366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lnSpc>
                <a:spcPts val="3360"/>
              </a:lnSpc>
              <a:defRPr sz="28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>
          <a:xfrm>
            <a:off x="7668000" y="6543434"/>
            <a:ext cx="2228850" cy="276999"/>
          </a:xfrm>
        </p:spPr>
        <p:txBody>
          <a:bodyPr vert="horz">
            <a:noAutofit/>
          </a:bodyPr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fld id="{0BDC6CC0-337C-4DEC-BAED-08CE4EABF7AC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65540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/>
          <p:cNvSpPr/>
          <p:nvPr userDrawn="1"/>
        </p:nvSpPr>
        <p:spPr>
          <a:xfrm>
            <a:off x="0" y="0"/>
            <a:ext cx="9906000" cy="540000"/>
          </a:xfrm>
          <a:prstGeom prst="rect">
            <a:avLst/>
          </a:prstGeom>
          <a:solidFill>
            <a:srgbClr val="55AC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68000" y="6519932"/>
            <a:ext cx="2228850" cy="32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DC6CC0-337C-4DEC-BAED-08CE4EABF7A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8" name="直線コネクタ 7"/>
          <p:cNvCxnSpPr/>
          <p:nvPr userDrawn="1"/>
        </p:nvCxnSpPr>
        <p:spPr>
          <a:xfrm>
            <a:off x="0" y="6478807"/>
            <a:ext cx="9906000" cy="0"/>
          </a:xfrm>
          <a:prstGeom prst="line">
            <a:avLst/>
          </a:prstGeom>
          <a:ln w="38100">
            <a:solidFill>
              <a:srgbClr val="55AC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4037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</p:sldLayoutIdLst>
  <p:hf hdr="0" ftr="0" dt="0"/>
  <p:txStyles>
    <p:titleStyle>
      <a:lvl1pPr algn="l" defTabSz="914395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9" indent="-228599" algn="l" defTabSz="91439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6" indent="-228599" algn="l" defTabSz="91439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93" indent="-228599" algn="l" defTabSz="91439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91" indent="-228599" algn="l" defTabSz="91439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88" indent="-228599" algn="l" defTabSz="91439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85" indent="-228599" algn="l" defTabSz="91439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83" indent="-228599" algn="l" defTabSz="91439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80" indent="-228599" algn="l" defTabSz="91439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77" indent="-228599" algn="l" defTabSz="91439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95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7" algn="l" defTabSz="914395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95" algn="l" defTabSz="914395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92" algn="l" defTabSz="914395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89" algn="l" defTabSz="914395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87" algn="l" defTabSz="914395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84" algn="l" defTabSz="914395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81" algn="l" defTabSz="914395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79" algn="l" defTabSz="914395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742950" y="2170555"/>
            <a:ext cx="8420100" cy="721361"/>
          </a:xfrm>
        </p:spPr>
        <p:txBody>
          <a:bodyPr>
            <a:normAutofit/>
          </a:bodyPr>
          <a:lstStyle/>
          <a:p>
            <a:r>
              <a:rPr lang="en-US" altLang="ja-JP" sz="2800" dirty="0"/>
              <a:t>【</a:t>
            </a:r>
            <a:r>
              <a:rPr lang="ja-JP" altLang="en-US" sz="2800" dirty="0"/>
              <a:t>第</a:t>
            </a:r>
            <a:r>
              <a:rPr lang="en-US" altLang="ja-JP" sz="2800" dirty="0"/>
              <a:t>2</a:t>
            </a:r>
            <a:r>
              <a:rPr lang="ja-JP" altLang="en-US" sz="2800" dirty="0"/>
              <a:t>回</a:t>
            </a:r>
            <a:r>
              <a:rPr lang="en-US" altLang="ja-JP" sz="2800" dirty="0"/>
              <a:t>】SELECT</a:t>
            </a:r>
            <a:r>
              <a:rPr lang="ja-JP" altLang="en-US" sz="2800" dirty="0"/>
              <a:t>文 初級</a:t>
            </a:r>
            <a:endParaRPr kumimoji="1" lang="ja-JP" altLang="en-US" sz="2800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C6CC0-337C-4DEC-BAED-08CE4EABF7AC}" type="slidenum">
              <a:rPr lang="ja-JP" altLang="en-US" smtClean="0"/>
              <a:pPr/>
              <a:t>1</a:t>
            </a:fld>
            <a:endParaRPr lang="ja-JP" altLang="en-US"/>
          </a:p>
        </p:txBody>
      </p:sp>
      <p:sp>
        <p:nvSpPr>
          <p:cNvPr id="6" name="字幕 5">
            <a:extLst>
              <a:ext uri="{FF2B5EF4-FFF2-40B4-BE49-F238E27FC236}">
                <a16:creationId xmlns:a16="http://schemas.microsoft.com/office/drawing/2014/main" id="{965CA2C2-7036-4887-B651-FDDDA96932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7760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F9091-6F42-244F-E19A-17186AF21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1. SELECT</a:t>
            </a:r>
            <a:r>
              <a:rPr kumimoji="1" lang="ja-JP" altLang="en-US" dirty="0"/>
              <a:t>文の基本について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7C23008-39BF-D632-E213-277D0199F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C6CC0-337C-4DEC-BAED-08CE4EABF7AC}" type="slidenum">
              <a:rPr lang="ja-JP" altLang="en-US" smtClean="0"/>
              <a:pPr/>
              <a:t>2</a:t>
            </a:fld>
            <a:endParaRPr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B94D069-77E8-6064-227C-F7B668D3A08B}"/>
              </a:ext>
            </a:extLst>
          </p:cNvPr>
          <p:cNvSpPr txBox="1"/>
          <p:nvPr/>
        </p:nvSpPr>
        <p:spPr>
          <a:xfrm>
            <a:off x="112541" y="576001"/>
            <a:ext cx="96363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1-1. SELECT</a:t>
            </a:r>
            <a:r>
              <a:rPr lang="ja-JP" altLang="en-US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文でできること</a:t>
            </a:r>
            <a:endParaRPr lang="en-US" altLang="ja-JP" sz="1400" u="sng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80A354C-6E7A-51B1-A941-6B1ED47CB682}"/>
              </a:ext>
            </a:extLst>
          </p:cNvPr>
          <p:cNvSpPr txBox="1"/>
          <p:nvPr/>
        </p:nvSpPr>
        <p:spPr>
          <a:xfrm>
            <a:off x="112541" y="953339"/>
            <a:ext cx="963636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     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文を使用すると、データベース内に保存されている様々なデータを検索し、表形式で取得することがで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きる。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データベースの種類により記述する際の文法等が異なるが、基本的な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文の記述方法や要素は多くのデー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タベースで共通している部分が多い。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3DB5E80-F4F3-190D-73F8-ADDC0A6CE479}"/>
              </a:ext>
            </a:extLst>
          </p:cNvPr>
          <p:cNvSpPr txBox="1"/>
          <p:nvPr/>
        </p:nvSpPr>
        <p:spPr>
          <a:xfrm>
            <a:off x="112541" y="1972009"/>
            <a:ext cx="96363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1-2. SELECT</a:t>
            </a:r>
            <a:r>
              <a:rPr lang="ja-JP" altLang="en-US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文の基本的な構造</a:t>
            </a:r>
            <a:endParaRPr lang="en-US" altLang="ja-JP" sz="14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AF63DEB-8A79-8D3D-902C-FFBC22498141}"/>
              </a:ext>
            </a:extLst>
          </p:cNvPr>
          <p:cNvSpPr txBox="1"/>
          <p:nvPr/>
        </p:nvSpPr>
        <p:spPr>
          <a:xfrm>
            <a:off x="112541" y="2351706"/>
            <a:ext cx="963636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文を記述するには、データベースごとに一定の文法に従って記述する必要がある。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文を構成する基本的な要素は以下の通りである。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</a:t>
            </a: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       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A</a:t>
            </a: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      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,B</a:t>
            </a:r>
          </a:p>
          <a:p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                 ,C</a:t>
            </a: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FROM [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テーブル名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</a:p>
          <a:p>
            <a:endParaRPr lang="en-US" altLang="ja-JP" sz="14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① 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句</a:t>
            </a:r>
            <a:endParaRPr lang="en-US" altLang="ja-JP" sz="14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  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対象の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文で取得したいフィールドを記述する部分。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 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句に記述するフィールドは該当の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文内で使用しているテーブルに属しているフィールドのみ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  で、フィールド名を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1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つずつ記述して指定することもできるが、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*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を使用すると該当の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文内で使用して　　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  いるテーブルの全てのフィールドを一括で取得することもできる。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② 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FROM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句</a:t>
            </a:r>
            <a:endParaRPr lang="en-US" altLang="ja-JP" sz="14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  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対象の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文の取得元とするテーブルを記述する部分。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  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データベースによっては、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FROM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に複数のテーブルを同時に記述することが可能なものもある。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0" name="右中かっこ 9">
            <a:extLst>
              <a:ext uri="{FF2B5EF4-FFF2-40B4-BE49-F238E27FC236}">
                <a16:creationId xmlns:a16="http://schemas.microsoft.com/office/drawing/2014/main" id="{538D6EE3-22E6-B900-5F6D-C6CFFA934FD1}"/>
              </a:ext>
            </a:extLst>
          </p:cNvPr>
          <p:cNvSpPr/>
          <p:nvPr/>
        </p:nvSpPr>
        <p:spPr>
          <a:xfrm>
            <a:off x="3128965" y="3254625"/>
            <a:ext cx="570819" cy="594564"/>
          </a:xfrm>
          <a:prstGeom prst="rightBrace">
            <a:avLst>
              <a:gd name="adj1" fmla="val 4996"/>
              <a:gd name="adj2" fmla="val 5000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A536B38F-2842-9DE2-246F-DA4800886789}"/>
              </a:ext>
            </a:extLst>
          </p:cNvPr>
          <p:cNvCxnSpPr/>
          <p:nvPr/>
        </p:nvCxnSpPr>
        <p:spPr>
          <a:xfrm flipH="1">
            <a:off x="1538288" y="3259647"/>
            <a:ext cx="1543050" cy="0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253B95F0-D9B6-C14E-A9AA-A1AEE8AFC67F}"/>
              </a:ext>
            </a:extLst>
          </p:cNvPr>
          <p:cNvCxnSpPr/>
          <p:nvPr/>
        </p:nvCxnSpPr>
        <p:spPr>
          <a:xfrm flipH="1">
            <a:off x="1538288" y="3851286"/>
            <a:ext cx="1543050" cy="0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2A30C5DC-3582-CAA3-AB14-6979ACFC9299}"/>
              </a:ext>
            </a:extLst>
          </p:cNvPr>
          <p:cNvCxnSpPr>
            <a:cxnSpLocks/>
          </p:cNvCxnSpPr>
          <p:nvPr/>
        </p:nvCxnSpPr>
        <p:spPr>
          <a:xfrm flipH="1">
            <a:off x="2625047" y="3994161"/>
            <a:ext cx="1074737" cy="0"/>
          </a:xfrm>
          <a:prstGeom prst="line">
            <a:avLst/>
          </a:prstGeom>
          <a:ln w="19050">
            <a:solidFill>
              <a:srgbClr val="FF0000"/>
            </a:solidFill>
            <a:prstDash val="soli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21FB231F-C282-2CB7-F586-F448197B815E}"/>
              </a:ext>
            </a:extLst>
          </p:cNvPr>
          <p:cNvSpPr txBox="1"/>
          <p:nvPr/>
        </p:nvSpPr>
        <p:spPr>
          <a:xfrm>
            <a:off x="3747411" y="3396012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①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B8D45115-9A97-6F83-DD54-0FFF4B5D07E1}"/>
              </a:ext>
            </a:extLst>
          </p:cNvPr>
          <p:cNvSpPr txBox="1"/>
          <p:nvPr/>
        </p:nvSpPr>
        <p:spPr>
          <a:xfrm>
            <a:off x="3747411" y="3840272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②</a:t>
            </a:r>
            <a:endParaRPr kumimoji="1" lang="ja-JP" altLang="en-US" sz="1400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58726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E09691-C477-8202-4627-7BD5FE82A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1. SELECT</a:t>
            </a:r>
            <a:r>
              <a:rPr kumimoji="1" lang="ja-JP" altLang="en-US" dirty="0"/>
              <a:t>文</a:t>
            </a:r>
            <a:r>
              <a:rPr lang="ja-JP" altLang="en-US" dirty="0"/>
              <a:t>の基本</a:t>
            </a:r>
            <a:r>
              <a:rPr kumimoji="1" lang="ja-JP" altLang="en-US" dirty="0"/>
              <a:t>について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34C5791-11CD-6162-FF8A-F642D6425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C6CC0-337C-4DEC-BAED-08CE4EABF7AC}" type="slidenum">
              <a:rPr lang="ja-JP" altLang="en-US" smtClean="0"/>
              <a:pPr/>
              <a:t>3</a:t>
            </a:fld>
            <a:endParaRPr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820C218-62FC-175D-819F-021FCF138FCC}"/>
              </a:ext>
            </a:extLst>
          </p:cNvPr>
          <p:cNvSpPr txBox="1"/>
          <p:nvPr/>
        </p:nvSpPr>
        <p:spPr>
          <a:xfrm>
            <a:off x="112541" y="1759206"/>
            <a:ext cx="96363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1-3. </a:t>
            </a:r>
            <a:r>
              <a:rPr lang="ja-JP" altLang="en-US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データの絞込について</a:t>
            </a:r>
            <a:endParaRPr lang="en-US" altLang="ja-JP" sz="14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C681D34-9F29-83AB-75CF-241D7DBBC7CF}"/>
              </a:ext>
            </a:extLst>
          </p:cNvPr>
          <p:cNvSpPr txBox="1"/>
          <p:nvPr/>
        </p:nvSpPr>
        <p:spPr>
          <a:xfrm>
            <a:off x="112541" y="2134186"/>
            <a:ext cx="963636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 必要なデータを効率よく検索するために、様々な方法でデータを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するデータを絞り込むことができる。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 基本的なデータの絞込を行う構文は以下の通りである。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</a:t>
            </a: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       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A</a:t>
            </a: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      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,B</a:t>
            </a:r>
          </a:p>
          <a:p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                 ,C</a:t>
            </a: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FROM [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テーブル名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WHERE [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絞込条件を指定するフィールド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 = [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絞り込むための条件値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     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AND [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絞込条件を指定するフィールド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 = [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絞り込むための条件値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</a:p>
          <a:p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                  OR [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絞込条件を指定するフィールド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 = [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絞り込むための条件値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</a:p>
          <a:p>
            <a:endParaRPr lang="en-US" altLang="ja-JP" sz="14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① 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WHERE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句</a:t>
            </a:r>
            <a:endParaRPr lang="en-US" altLang="ja-JP" sz="14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するデータを絞り込む条件を指定する際に使用する。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② 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AND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句</a:t>
            </a:r>
            <a:endParaRPr lang="en-US" altLang="ja-JP" sz="14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WHERE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句で指定された条件以外に絞込条件を追加する際に使用する。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③ 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OR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句</a:t>
            </a:r>
            <a:endParaRPr lang="en-US" altLang="ja-JP" sz="14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WHERE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句で指定された条件以外に絞込条件を追加する際に使用する。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7D3AC07-B6B2-456A-A997-110517ED3690}"/>
              </a:ext>
            </a:extLst>
          </p:cNvPr>
          <p:cNvSpPr txBox="1"/>
          <p:nvPr/>
        </p:nvSpPr>
        <p:spPr>
          <a:xfrm>
            <a:off x="112541" y="576000"/>
            <a:ext cx="96363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1-2. SELECT</a:t>
            </a:r>
            <a:r>
              <a:rPr lang="ja-JP" altLang="en-US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文の基本的な構造</a:t>
            </a:r>
            <a:endParaRPr lang="en-US" altLang="ja-JP" sz="14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7A6E6B8-73C6-FD7E-0B6C-C80F70B609CB}"/>
              </a:ext>
            </a:extLst>
          </p:cNvPr>
          <p:cNvSpPr txBox="1"/>
          <p:nvPr/>
        </p:nvSpPr>
        <p:spPr>
          <a:xfrm>
            <a:off x="112541" y="953339"/>
            <a:ext cx="963636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    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【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例題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1】</a:t>
            </a: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</a:t>
            </a:r>
            <a:r>
              <a:rPr lang="en-US" altLang="ja-JP" sz="1400" dirty="0" err="1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itb_sql_lecure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スキーマの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[m_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社員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から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社員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CD][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氏名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][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氏名カナ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を全行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する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文を作成しな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 さい。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00473B5E-FD66-B45A-28AC-0E790F368CC8}"/>
              </a:ext>
            </a:extLst>
          </p:cNvPr>
          <p:cNvCxnSpPr>
            <a:cxnSpLocks/>
          </p:cNvCxnSpPr>
          <p:nvPr/>
        </p:nvCxnSpPr>
        <p:spPr>
          <a:xfrm flipH="1">
            <a:off x="6585643" y="3971450"/>
            <a:ext cx="1074737" cy="0"/>
          </a:xfrm>
          <a:prstGeom prst="line">
            <a:avLst/>
          </a:prstGeom>
          <a:ln w="19050">
            <a:solidFill>
              <a:srgbClr val="FF0000"/>
            </a:solidFill>
            <a:prstDash val="soli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6086CB5-99DC-B4FB-AAC3-BF45E81D4F69}"/>
              </a:ext>
            </a:extLst>
          </p:cNvPr>
          <p:cNvSpPr txBox="1"/>
          <p:nvPr/>
        </p:nvSpPr>
        <p:spPr>
          <a:xfrm>
            <a:off x="7708007" y="3817561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①</a:t>
            </a: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D1863EE9-67AF-12CC-D7A4-A7B938E271E9}"/>
              </a:ext>
            </a:extLst>
          </p:cNvPr>
          <p:cNvCxnSpPr>
            <a:cxnSpLocks/>
          </p:cNvCxnSpPr>
          <p:nvPr/>
        </p:nvCxnSpPr>
        <p:spPr>
          <a:xfrm flipH="1">
            <a:off x="6585643" y="4184120"/>
            <a:ext cx="1074737" cy="0"/>
          </a:xfrm>
          <a:prstGeom prst="line">
            <a:avLst/>
          </a:prstGeom>
          <a:ln w="19050">
            <a:solidFill>
              <a:srgbClr val="FF0000"/>
            </a:solidFill>
            <a:prstDash val="soli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BF47F37-1DA2-F471-B7C5-3195887C2B91}"/>
              </a:ext>
            </a:extLst>
          </p:cNvPr>
          <p:cNvSpPr txBox="1"/>
          <p:nvPr/>
        </p:nvSpPr>
        <p:spPr>
          <a:xfrm>
            <a:off x="7708007" y="4030231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②</a:t>
            </a:r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A703C599-660E-027E-F1E9-6B1F557AAB6F}"/>
              </a:ext>
            </a:extLst>
          </p:cNvPr>
          <p:cNvCxnSpPr>
            <a:cxnSpLocks/>
          </p:cNvCxnSpPr>
          <p:nvPr/>
        </p:nvCxnSpPr>
        <p:spPr>
          <a:xfrm flipH="1">
            <a:off x="6585643" y="4397530"/>
            <a:ext cx="1074737" cy="0"/>
          </a:xfrm>
          <a:prstGeom prst="line">
            <a:avLst/>
          </a:prstGeom>
          <a:ln w="19050">
            <a:solidFill>
              <a:srgbClr val="FF0000"/>
            </a:solidFill>
            <a:prstDash val="soli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0836BBE2-E1F0-6B50-D04E-8F9849C47FFF}"/>
              </a:ext>
            </a:extLst>
          </p:cNvPr>
          <p:cNvSpPr txBox="1"/>
          <p:nvPr/>
        </p:nvSpPr>
        <p:spPr>
          <a:xfrm>
            <a:off x="7708007" y="4243641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③</a:t>
            </a:r>
          </a:p>
        </p:txBody>
      </p:sp>
    </p:spTree>
    <p:extLst>
      <p:ext uri="{BB962C8B-B14F-4D97-AF65-F5344CB8AC3E}">
        <p14:creationId xmlns:p14="http://schemas.microsoft.com/office/powerpoint/2010/main" val="2030041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1AF486-B976-51E0-2B8C-9BC2EC5EC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1. SELECT</a:t>
            </a:r>
            <a:r>
              <a:rPr kumimoji="1" lang="ja-JP" altLang="en-US" dirty="0"/>
              <a:t>文</a:t>
            </a:r>
            <a:r>
              <a:rPr lang="ja-JP" altLang="en-US" dirty="0"/>
              <a:t>の基本</a:t>
            </a:r>
            <a:r>
              <a:rPr kumimoji="1" lang="ja-JP" altLang="en-US" dirty="0"/>
              <a:t>について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3EE0437-92AE-5035-7058-F0DE9CC73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C6CC0-337C-4DEC-BAED-08CE4EABF7AC}" type="slidenum">
              <a:rPr lang="ja-JP" altLang="en-US" smtClean="0"/>
              <a:pPr/>
              <a:t>4</a:t>
            </a:fld>
            <a:endParaRPr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40F1200-0809-8F97-99F3-25EFA5751478}"/>
              </a:ext>
            </a:extLst>
          </p:cNvPr>
          <p:cNvSpPr txBox="1"/>
          <p:nvPr/>
        </p:nvSpPr>
        <p:spPr>
          <a:xfrm>
            <a:off x="112541" y="576000"/>
            <a:ext cx="96363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1-3. </a:t>
            </a:r>
            <a:r>
              <a:rPr lang="ja-JP" altLang="en-US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データの絞込について</a:t>
            </a:r>
            <a:endParaRPr lang="en-US" altLang="ja-JP" sz="14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D005CC9-0AC1-9883-7C8E-4F92C2112FD0}"/>
              </a:ext>
            </a:extLst>
          </p:cNvPr>
          <p:cNvSpPr txBox="1"/>
          <p:nvPr/>
        </p:nvSpPr>
        <p:spPr>
          <a:xfrm>
            <a:off x="112541" y="953338"/>
            <a:ext cx="9636369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 </a:t>
            </a:r>
            <a:r>
              <a:rPr lang="en-US" altLang="ja-JP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※</a:t>
            </a:r>
            <a:r>
              <a:rPr lang="ja-JP" altLang="en-US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</a:t>
            </a:r>
            <a:r>
              <a:rPr lang="en-US" altLang="ja-JP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AND</a:t>
            </a:r>
            <a:r>
              <a:rPr lang="ja-JP" altLang="en-US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句と</a:t>
            </a:r>
            <a:r>
              <a:rPr lang="en-US" altLang="ja-JP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OR</a:t>
            </a:r>
            <a:r>
              <a:rPr lang="ja-JP" altLang="en-US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句の違い</a:t>
            </a:r>
            <a:endParaRPr lang="en-US" altLang="ja-JP" sz="1400" b="1" u="sng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データを絞り込む際に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AND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句を使用した場合と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OR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句を指定した場合では、以下のような違いがある。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・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AND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句の場合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　→ 数学の積集合の考え方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・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OR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句の場合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　→ 数学の和集合の考え方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D0114A9E-35CD-BAEB-4D8D-A9D4C3A1ACAA}"/>
              </a:ext>
            </a:extLst>
          </p:cNvPr>
          <p:cNvSpPr/>
          <p:nvPr/>
        </p:nvSpPr>
        <p:spPr>
          <a:xfrm>
            <a:off x="1704148" y="2220684"/>
            <a:ext cx="1968138" cy="1430566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10AFCCFA-6F55-0CEF-1C56-37DC7A501C47}"/>
              </a:ext>
            </a:extLst>
          </p:cNvPr>
          <p:cNvSpPr/>
          <p:nvPr/>
        </p:nvSpPr>
        <p:spPr>
          <a:xfrm>
            <a:off x="3036559" y="2220684"/>
            <a:ext cx="1968138" cy="1430566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6C79DB9-C2FC-CB66-A633-184357640408}"/>
              </a:ext>
            </a:extLst>
          </p:cNvPr>
          <p:cNvSpPr txBox="1"/>
          <p:nvPr/>
        </p:nvSpPr>
        <p:spPr>
          <a:xfrm>
            <a:off x="1053970" y="2151123"/>
            <a:ext cx="1300356" cy="27699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年齢が</a:t>
            </a:r>
            <a:r>
              <a:rPr kumimoji="1"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10</a:t>
            </a:r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歳以上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4304332-E3D2-EDE8-2D79-AB2DE3092EC2}"/>
              </a:ext>
            </a:extLst>
          </p:cNvPr>
          <p:cNvSpPr txBox="1"/>
          <p:nvPr/>
        </p:nvSpPr>
        <p:spPr>
          <a:xfrm>
            <a:off x="4354519" y="2151123"/>
            <a:ext cx="954107" cy="27699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2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性別が男性</a:t>
            </a:r>
          </a:p>
        </p:txBody>
      </p:sp>
      <p:sp>
        <p:nvSpPr>
          <p:cNvPr id="22" name="フリーフォーム: 図形 21">
            <a:extLst>
              <a:ext uri="{FF2B5EF4-FFF2-40B4-BE49-F238E27FC236}">
                <a16:creationId xmlns:a16="http://schemas.microsoft.com/office/drawing/2014/main" id="{2B337F7B-89F9-AE8E-968D-E163EDF4F5ED}"/>
              </a:ext>
            </a:extLst>
          </p:cNvPr>
          <p:cNvSpPr/>
          <p:nvPr/>
        </p:nvSpPr>
        <p:spPr>
          <a:xfrm>
            <a:off x="3038857" y="2409246"/>
            <a:ext cx="635727" cy="1047110"/>
          </a:xfrm>
          <a:custGeom>
            <a:avLst/>
            <a:gdLst>
              <a:gd name="connsiteX0" fmla="*/ 319180 w 635727"/>
              <a:gd name="connsiteY0" fmla="*/ 52355 h 1047110"/>
              <a:gd name="connsiteX1" fmla="*/ 292509 w 635727"/>
              <a:gd name="connsiteY1" fmla="*/ 68352 h 1047110"/>
              <a:gd name="connsiteX2" fmla="*/ 33112 w 635727"/>
              <a:gd name="connsiteY2" fmla="*/ 523555 h 1047110"/>
              <a:gd name="connsiteX3" fmla="*/ 292509 w 635727"/>
              <a:gd name="connsiteY3" fmla="*/ 978759 h 1047110"/>
              <a:gd name="connsiteX4" fmla="*/ 319180 w 635727"/>
              <a:gd name="connsiteY4" fmla="*/ 994754 h 1047110"/>
              <a:gd name="connsiteX5" fmla="*/ 345852 w 635727"/>
              <a:gd name="connsiteY5" fmla="*/ 978759 h 1047110"/>
              <a:gd name="connsiteX6" fmla="*/ 605247 w 635727"/>
              <a:gd name="connsiteY6" fmla="*/ 523555 h 1047110"/>
              <a:gd name="connsiteX7" fmla="*/ 345852 w 635727"/>
              <a:gd name="connsiteY7" fmla="*/ 68352 h 1047110"/>
              <a:gd name="connsiteX8" fmla="*/ 317864 w 635727"/>
              <a:gd name="connsiteY8" fmla="*/ 0 h 1047110"/>
              <a:gd name="connsiteX9" fmla="*/ 347500 w 635727"/>
              <a:gd name="connsiteY9" fmla="*/ 17774 h 1047110"/>
              <a:gd name="connsiteX10" fmla="*/ 635727 w 635727"/>
              <a:gd name="connsiteY10" fmla="*/ 523555 h 1047110"/>
              <a:gd name="connsiteX11" fmla="*/ 347500 w 635727"/>
              <a:gd name="connsiteY11" fmla="*/ 1029337 h 1047110"/>
              <a:gd name="connsiteX12" fmla="*/ 317864 w 635727"/>
              <a:gd name="connsiteY12" fmla="*/ 1047110 h 1047110"/>
              <a:gd name="connsiteX13" fmla="*/ 288228 w 635727"/>
              <a:gd name="connsiteY13" fmla="*/ 1029337 h 1047110"/>
              <a:gd name="connsiteX14" fmla="*/ 0 w 635727"/>
              <a:gd name="connsiteY14" fmla="*/ 523555 h 1047110"/>
              <a:gd name="connsiteX15" fmla="*/ 288228 w 635727"/>
              <a:gd name="connsiteY15" fmla="*/ 17774 h 1047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35727" h="1047110">
                <a:moveTo>
                  <a:pt x="319180" y="52355"/>
                </a:moveTo>
                <a:lnTo>
                  <a:pt x="292509" y="68352"/>
                </a:lnTo>
                <a:cubicBezTo>
                  <a:pt x="132240" y="184848"/>
                  <a:pt x="33112" y="345787"/>
                  <a:pt x="33112" y="523555"/>
                </a:cubicBezTo>
                <a:cubicBezTo>
                  <a:pt x="33112" y="701323"/>
                  <a:pt x="132240" y="862262"/>
                  <a:pt x="292509" y="978759"/>
                </a:cubicBezTo>
                <a:lnTo>
                  <a:pt x="319180" y="994754"/>
                </a:lnTo>
                <a:lnTo>
                  <a:pt x="345852" y="978759"/>
                </a:lnTo>
                <a:cubicBezTo>
                  <a:pt x="506120" y="862262"/>
                  <a:pt x="605247" y="701323"/>
                  <a:pt x="605247" y="523555"/>
                </a:cubicBezTo>
                <a:cubicBezTo>
                  <a:pt x="605247" y="345787"/>
                  <a:pt x="506120" y="184848"/>
                  <a:pt x="345852" y="68352"/>
                </a:cubicBezTo>
                <a:close/>
                <a:moveTo>
                  <a:pt x="317864" y="0"/>
                </a:moveTo>
                <a:lnTo>
                  <a:pt x="347500" y="17774"/>
                </a:lnTo>
                <a:cubicBezTo>
                  <a:pt x="525582" y="147214"/>
                  <a:pt x="635727" y="326035"/>
                  <a:pt x="635727" y="523555"/>
                </a:cubicBezTo>
                <a:cubicBezTo>
                  <a:pt x="635727" y="721075"/>
                  <a:pt x="525582" y="899896"/>
                  <a:pt x="347500" y="1029337"/>
                </a:cubicBezTo>
                <a:lnTo>
                  <a:pt x="317864" y="1047110"/>
                </a:lnTo>
                <a:lnTo>
                  <a:pt x="288228" y="1029337"/>
                </a:lnTo>
                <a:cubicBezTo>
                  <a:pt x="110146" y="899896"/>
                  <a:pt x="0" y="721075"/>
                  <a:pt x="0" y="523555"/>
                </a:cubicBezTo>
                <a:cubicBezTo>
                  <a:pt x="0" y="326035"/>
                  <a:pt x="110146" y="147214"/>
                  <a:pt x="288228" y="17774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4B783EBB-2BAB-F0E5-EF24-A5D0EB09BC2E}"/>
              </a:ext>
            </a:extLst>
          </p:cNvPr>
          <p:cNvSpPr txBox="1"/>
          <p:nvPr/>
        </p:nvSpPr>
        <p:spPr>
          <a:xfrm>
            <a:off x="6171436" y="2151123"/>
            <a:ext cx="3480440" cy="49244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ja-JP" altLang="en-US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「年齢が</a:t>
            </a:r>
            <a:r>
              <a:rPr lang="en-US" altLang="ja-JP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10</a:t>
            </a:r>
            <a:r>
              <a:rPr lang="ja-JP" altLang="en-US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歳以上」かつ「性別が男性」</a:t>
            </a:r>
            <a:endParaRPr lang="en-US" altLang="ja-JP" sz="1400" b="1" u="sng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のデータが絞り込まれる</a:t>
            </a:r>
          </a:p>
        </p:txBody>
      </p: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EDD308A0-C8EC-7D9E-E40D-0D2CBA09CF46}"/>
              </a:ext>
            </a:extLst>
          </p:cNvPr>
          <p:cNvCxnSpPr>
            <a:endCxn id="22" idx="6"/>
          </p:cNvCxnSpPr>
          <p:nvPr/>
        </p:nvCxnSpPr>
        <p:spPr>
          <a:xfrm flipH="1">
            <a:off x="3644104" y="2354580"/>
            <a:ext cx="2512856" cy="578221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楕円 25">
            <a:extLst>
              <a:ext uri="{FF2B5EF4-FFF2-40B4-BE49-F238E27FC236}">
                <a16:creationId xmlns:a16="http://schemas.microsoft.com/office/drawing/2014/main" id="{8D34AEFF-DB4C-BE1E-AD8B-7377F4152E32}"/>
              </a:ext>
            </a:extLst>
          </p:cNvPr>
          <p:cNvSpPr/>
          <p:nvPr/>
        </p:nvSpPr>
        <p:spPr>
          <a:xfrm>
            <a:off x="1704148" y="4434559"/>
            <a:ext cx="1968138" cy="1430566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541994B2-4080-F3A5-80ED-80DDC4EB94C6}"/>
              </a:ext>
            </a:extLst>
          </p:cNvPr>
          <p:cNvSpPr/>
          <p:nvPr/>
        </p:nvSpPr>
        <p:spPr>
          <a:xfrm>
            <a:off x="3036559" y="4434559"/>
            <a:ext cx="1968138" cy="1430566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フリーフォーム: 図形 33">
            <a:extLst>
              <a:ext uri="{FF2B5EF4-FFF2-40B4-BE49-F238E27FC236}">
                <a16:creationId xmlns:a16="http://schemas.microsoft.com/office/drawing/2014/main" id="{B2A69528-E265-37F2-F5E5-008891E13963}"/>
              </a:ext>
            </a:extLst>
          </p:cNvPr>
          <p:cNvSpPr/>
          <p:nvPr/>
        </p:nvSpPr>
        <p:spPr>
          <a:xfrm>
            <a:off x="1706445" y="4434559"/>
            <a:ext cx="3300549" cy="1430566"/>
          </a:xfrm>
          <a:custGeom>
            <a:avLst/>
            <a:gdLst>
              <a:gd name="connsiteX0" fmla="*/ 1020514 w 3300549"/>
              <a:gd name="connsiteY0" fmla="*/ 38100 h 1430566"/>
              <a:gd name="connsiteX1" fmla="*/ 84131 w 3300549"/>
              <a:gd name="connsiteY1" fmla="*/ 718722 h 1430566"/>
              <a:gd name="connsiteX2" fmla="*/ 1020514 w 3300549"/>
              <a:gd name="connsiteY2" fmla="*/ 1399343 h 1430566"/>
              <a:gd name="connsiteX3" fmla="*/ 1544054 w 3300549"/>
              <a:gd name="connsiteY3" fmla="*/ 1283104 h 1430566"/>
              <a:gd name="connsiteX4" fmla="*/ 1654437 w 3300549"/>
              <a:gd name="connsiteY4" fmla="*/ 1216906 h 1430566"/>
              <a:gd name="connsiteX5" fmla="*/ 1764818 w 3300549"/>
              <a:gd name="connsiteY5" fmla="*/ 1283104 h 1430566"/>
              <a:gd name="connsiteX6" fmla="*/ 2288358 w 3300549"/>
              <a:gd name="connsiteY6" fmla="*/ 1399343 h 1430566"/>
              <a:gd name="connsiteX7" fmla="*/ 3224741 w 3300549"/>
              <a:gd name="connsiteY7" fmla="*/ 718722 h 1430566"/>
              <a:gd name="connsiteX8" fmla="*/ 2288358 w 3300549"/>
              <a:gd name="connsiteY8" fmla="*/ 38100 h 1430566"/>
              <a:gd name="connsiteX9" fmla="*/ 1764818 w 3300549"/>
              <a:gd name="connsiteY9" fmla="*/ 154340 h 1430566"/>
              <a:gd name="connsiteX10" fmla="*/ 1654437 w 3300549"/>
              <a:gd name="connsiteY10" fmla="*/ 220537 h 1430566"/>
              <a:gd name="connsiteX11" fmla="*/ 1544054 w 3300549"/>
              <a:gd name="connsiteY11" fmla="*/ 154340 h 1430566"/>
              <a:gd name="connsiteX12" fmla="*/ 1020514 w 3300549"/>
              <a:gd name="connsiteY12" fmla="*/ 38100 h 1430566"/>
              <a:gd name="connsiteX13" fmla="*/ 984069 w 3300549"/>
              <a:gd name="connsiteY13" fmla="*/ 0 h 1430566"/>
              <a:gd name="connsiteX14" fmla="*/ 1534271 w 3300549"/>
              <a:gd name="connsiteY14" fmla="*/ 122159 h 1430566"/>
              <a:gd name="connsiteX15" fmla="*/ 1650275 w 3300549"/>
              <a:gd name="connsiteY15" fmla="*/ 191728 h 1430566"/>
              <a:gd name="connsiteX16" fmla="*/ 1766278 w 3300549"/>
              <a:gd name="connsiteY16" fmla="*/ 122159 h 1430566"/>
              <a:gd name="connsiteX17" fmla="*/ 2316480 w 3300549"/>
              <a:gd name="connsiteY17" fmla="*/ 0 h 1430566"/>
              <a:gd name="connsiteX18" fmla="*/ 3300549 w 3300549"/>
              <a:gd name="connsiteY18" fmla="*/ 715283 h 1430566"/>
              <a:gd name="connsiteX19" fmla="*/ 2316480 w 3300549"/>
              <a:gd name="connsiteY19" fmla="*/ 1430566 h 1430566"/>
              <a:gd name="connsiteX20" fmla="*/ 1766278 w 3300549"/>
              <a:gd name="connsiteY20" fmla="*/ 1308407 h 1430566"/>
              <a:gd name="connsiteX21" fmla="*/ 1650275 w 3300549"/>
              <a:gd name="connsiteY21" fmla="*/ 1238838 h 1430566"/>
              <a:gd name="connsiteX22" fmla="*/ 1534271 w 3300549"/>
              <a:gd name="connsiteY22" fmla="*/ 1308407 h 1430566"/>
              <a:gd name="connsiteX23" fmla="*/ 984069 w 3300549"/>
              <a:gd name="connsiteY23" fmla="*/ 1430566 h 1430566"/>
              <a:gd name="connsiteX24" fmla="*/ 0 w 3300549"/>
              <a:gd name="connsiteY24" fmla="*/ 715283 h 1430566"/>
              <a:gd name="connsiteX25" fmla="*/ 984069 w 3300549"/>
              <a:gd name="connsiteY25" fmla="*/ 0 h 1430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3300549" h="1430566">
                <a:moveTo>
                  <a:pt x="1020514" y="38100"/>
                </a:moveTo>
                <a:cubicBezTo>
                  <a:pt x="503364" y="38100"/>
                  <a:pt x="84131" y="342825"/>
                  <a:pt x="84131" y="718722"/>
                </a:cubicBezTo>
                <a:cubicBezTo>
                  <a:pt x="84131" y="1094619"/>
                  <a:pt x="503364" y="1399343"/>
                  <a:pt x="1020514" y="1399343"/>
                </a:cubicBezTo>
                <a:cubicBezTo>
                  <a:pt x="1214446" y="1399343"/>
                  <a:pt x="1394607" y="1356491"/>
                  <a:pt x="1544054" y="1283104"/>
                </a:cubicBezTo>
                <a:lnTo>
                  <a:pt x="1654437" y="1216906"/>
                </a:lnTo>
                <a:lnTo>
                  <a:pt x="1764818" y="1283104"/>
                </a:lnTo>
                <a:cubicBezTo>
                  <a:pt x="1914266" y="1356491"/>
                  <a:pt x="2094428" y="1399343"/>
                  <a:pt x="2288358" y="1399343"/>
                </a:cubicBezTo>
                <a:cubicBezTo>
                  <a:pt x="2805508" y="1399343"/>
                  <a:pt x="3224741" y="1094619"/>
                  <a:pt x="3224741" y="718722"/>
                </a:cubicBezTo>
                <a:cubicBezTo>
                  <a:pt x="3224741" y="342825"/>
                  <a:pt x="2805508" y="38100"/>
                  <a:pt x="2288358" y="38100"/>
                </a:cubicBezTo>
                <a:cubicBezTo>
                  <a:pt x="2094428" y="38100"/>
                  <a:pt x="1914266" y="80952"/>
                  <a:pt x="1764818" y="154340"/>
                </a:cubicBezTo>
                <a:lnTo>
                  <a:pt x="1654437" y="220537"/>
                </a:lnTo>
                <a:lnTo>
                  <a:pt x="1544054" y="154340"/>
                </a:lnTo>
                <a:cubicBezTo>
                  <a:pt x="1394607" y="80952"/>
                  <a:pt x="1214446" y="38100"/>
                  <a:pt x="1020514" y="38100"/>
                </a:cubicBezTo>
                <a:close/>
                <a:moveTo>
                  <a:pt x="984069" y="0"/>
                </a:moveTo>
                <a:cubicBezTo>
                  <a:pt x="1187877" y="0"/>
                  <a:pt x="1377213" y="45034"/>
                  <a:pt x="1534271" y="122159"/>
                </a:cubicBezTo>
                <a:lnTo>
                  <a:pt x="1650275" y="191728"/>
                </a:lnTo>
                <a:lnTo>
                  <a:pt x="1766278" y="122159"/>
                </a:lnTo>
                <a:cubicBezTo>
                  <a:pt x="1923336" y="45034"/>
                  <a:pt x="2112673" y="0"/>
                  <a:pt x="2316480" y="0"/>
                </a:cubicBezTo>
                <a:cubicBezTo>
                  <a:pt x="2859966" y="0"/>
                  <a:pt x="3300549" y="320243"/>
                  <a:pt x="3300549" y="715283"/>
                </a:cubicBezTo>
                <a:cubicBezTo>
                  <a:pt x="3300549" y="1110323"/>
                  <a:pt x="2859966" y="1430566"/>
                  <a:pt x="2316480" y="1430566"/>
                </a:cubicBezTo>
                <a:cubicBezTo>
                  <a:pt x="2112673" y="1430566"/>
                  <a:pt x="1923336" y="1385532"/>
                  <a:pt x="1766278" y="1308407"/>
                </a:cubicBezTo>
                <a:lnTo>
                  <a:pt x="1650275" y="1238838"/>
                </a:lnTo>
                <a:lnTo>
                  <a:pt x="1534271" y="1308407"/>
                </a:lnTo>
                <a:cubicBezTo>
                  <a:pt x="1377213" y="1385532"/>
                  <a:pt x="1187877" y="1430566"/>
                  <a:pt x="984069" y="1430566"/>
                </a:cubicBezTo>
                <a:cubicBezTo>
                  <a:pt x="440583" y="1430566"/>
                  <a:pt x="0" y="1110323"/>
                  <a:pt x="0" y="715283"/>
                </a:cubicBezTo>
                <a:cubicBezTo>
                  <a:pt x="0" y="320243"/>
                  <a:pt x="440583" y="0"/>
                  <a:pt x="984069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6003B876-517F-3789-488D-2BE98983FE75}"/>
              </a:ext>
            </a:extLst>
          </p:cNvPr>
          <p:cNvSpPr txBox="1"/>
          <p:nvPr/>
        </p:nvSpPr>
        <p:spPr>
          <a:xfrm>
            <a:off x="4354519" y="4364998"/>
            <a:ext cx="954107" cy="27699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2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性別が男性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6FD623A3-4E32-EB1B-D4BD-96A84AABE2C5}"/>
              </a:ext>
            </a:extLst>
          </p:cNvPr>
          <p:cNvSpPr txBox="1"/>
          <p:nvPr/>
        </p:nvSpPr>
        <p:spPr>
          <a:xfrm>
            <a:off x="1053970" y="4364998"/>
            <a:ext cx="1300356" cy="27699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年齢が</a:t>
            </a:r>
            <a:r>
              <a:rPr kumimoji="1"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10</a:t>
            </a:r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歳以上</a:t>
            </a: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4B63B9E5-966C-2814-0FDE-E351A26F2D86}"/>
              </a:ext>
            </a:extLst>
          </p:cNvPr>
          <p:cNvSpPr txBox="1"/>
          <p:nvPr/>
        </p:nvSpPr>
        <p:spPr>
          <a:xfrm>
            <a:off x="6171436" y="4364998"/>
            <a:ext cx="3659976" cy="49244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ja-JP" altLang="en-US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「年齢が</a:t>
            </a:r>
            <a:r>
              <a:rPr lang="en-US" altLang="ja-JP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10</a:t>
            </a:r>
            <a:r>
              <a:rPr lang="ja-JP" altLang="en-US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歳以上」または「性別が男性」</a:t>
            </a:r>
            <a:endParaRPr lang="en-US" altLang="ja-JP" sz="1400" b="1" u="sng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のデータが絞り込まれる</a:t>
            </a:r>
          </a:p>
        </p:txBody>
      </p:sp>
      <p:cxnSp>
        <p:nvCxnSpPr>
          <p:cNvPr id="36" name="直線矢印コネクタ 35">
            <a:extLst>
              <a:ext uri="{FF2B5EF4-FFF2-40B4-BE49-F238E27FC236}">
                <a16:creationId xmlns:a16="http://schemas.microsoft.com/office/drawing/2014/main" id="{DC54B802-DB2D-4A6E-2842-391A165D88C3}"/>
              </a:ext>
            </a:extLst>
          </p:cNvPr>
          <p:cNvCxnSpPr>
            <a:cxnSpLocks/>
            <a:stCxn id="35" idx="1"/>
            <a:endCxn id="34" idx="18"/>
          </p:cNvCxnSpPr>
          <p:nvPr/>
        </p:nvCxnSpPr>
        <p:spPr>
          <a:xfrm flipH="1">
            <a:off x="5006994" y="4611220"/>
            <a:ext cx="1164442" cy="538622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1470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93F670-870C-A040-D0BB-FB845FC52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1. SELECT</a:t>
            </a:r>
            <a:r>
              <a:rPr kumimoji="1" lang="ja-JP" altLang="en-US" dirty="0"/>
              <a:t>文</a:t>
            </a:r>
            <a:r>
              <a:rPr lang="ja-JP" altLang="en-US" dirty="0"/>
              <a:t>の基本</a:t>
            </a:r>
            <a:r>
              <a:rPr kumimoji="1" lang="ja-JP" altLang="en-US" dirty="0"/>
              <a:t>について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CA1CA07-8A15-D83D-F31F-B54138160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C6CC0-337C-4DEC-BAED-08CE4EABF7AC}" type="slidenum">
              <a:rPr lang="ja-JP" altLang="en-US" smtClean="0"/>
              <a:pPr/>
              <a:t>5</a:t>
            </a:fld>
            <a:endParaRPr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787C483-7092-0339-11E4-F46EE8692F68}"/>
              </a:ext>
            </a:extLst>
          </p:cNvPr>
          <p:cNvSpPr txBox="1"/>
          <p:nvPr/>
        </p:nvSpPr>
        <p:spPr>
          <a:xfrm>
            <a:off x="112541" y="576000"/>
            <a:ext cx="96363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1-3. </a:t>
            </a:r>
            <a:r>
              <a:rPr lang="ja-JP" altLang="en-US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データの絞込について</a:t>
            </a:r>
            <a:endParaRPr lang="en-US" altLang="ja-JP" sz="14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B15BD20-787C-D3AC-E145-A2EB04FE0DE8}"/>
              </a:ext>
            </a:extLst>
          </p:cNvPr>
          <p:cNvSpPr txBox="1"/>
          <p:nvPr/>
        </p:nvSpPr>
        <p:spPr>
          <a:xfrm>
            <a:off x="112541" y="953339"/>
            <a:ext cx="9636369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 データの絞込の際の条件式では、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=(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イコール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)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以外で条件を指定することも可能である。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・不等号を使用した絞込</a:t>
            </a:r>
            <a:endParaRPr lang="en-US" altLang="ja-JP" sz="14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　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→ 不等号を使用すると、条件を指定するフィールドの値と右辺の値の比較条件で絞り込むことができる。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　　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絞込条件を指定するフィールド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 &gt; [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絞り込むための条件値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 … 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〇〇〇が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××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より大きい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　　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絞込条件を指定するフィールド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 &lt; [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絞り込むための条件値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 … 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〇〇〇が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××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より小さい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・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IN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句を使用した絞込</a:t>
            </a:r>
            <a:endParaRPr lang="en-US" altLang="ja-JP" sz="14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　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→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IN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句を使用すると、条件を指定するフィールドの値に対して、同時に複数の値で絞り込むことができる。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　　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絞込条件を指定するフィールド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 IN (××, 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△△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, 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◇◇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) … 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〇〇〇が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××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、△△、◇◇のいずれか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・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BETWEEN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句を使用した絞込</a:t>
            </a:r>
            <a:endParaRPr lang="en-US" altLang="ja-JP" sz="14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　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→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BETWEEN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句を使用すると、条件を指定するフィールドの値に対して、不等号を使用することなく範囲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　　 指定で絞り込むことができる。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　　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絞込条件を指定するフィールド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 BETWEEN ×× AND 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△△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… 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〇〇〇が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××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以上△△以下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・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LIKE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句を使用した絞込</a:t>
            </a:r>
            <a:endParaRPr lang="en-US" altLang="ja-JP" sz="14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　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→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LIKE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句を使用すると、条件を指定するフィールドに対して、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‘%’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と組み合わせることであいまい検索で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　　 絞り込むことができる。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　　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絞込条件を指定するフィールド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 LIKE ‘××%’ … 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〇〇〇が「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××…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」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　　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絞込条件を指定するフィールド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 LIKE ‘%××’ … 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〇〇〇が「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…××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」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　　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絞込条件を指定するフィールド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 LIKE ‘%××%’ … 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〇〇〇が「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…××…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」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4536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B35DCC8-8B3B-7F1B-CC94-E42A6410B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1. SELECT</a:t>
            </a:r>
            <a:r>
              <a:rPr kumimoji="1" lang="ja-JP" altLang="en-US" dirty="0"/>
              <a:t>文の基本について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9EE5DFD-4CFD-7B97-F3E2-DE30F965F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C6CC0-337C-4DEC-BAED-08CE4EABF7AC}" type="slidenum">
              <a:rPr lang="ja-JP" altLang="en-US" smtClean="0"/>
              <a:pPr/>
              <a:t>6</a:t>
            </a:fld>
            <a:endParaRPr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BAB9BBA-54EA-FC4E-CCFB-9CC43B71947C}"/>
              </a:ext>
            </a:extLst>
          </p:cNvPr>
          <p:cNvSpPr txBox="1"/>
          <p:nvPr/>
        </p:nvSpPr>
        <p:spPr>
          <a:xfrm>
            <a:off x="112541" y="576000"/>
            <a:ext cx="96363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1-3. </a:t>
            </a:r>
            <a:r>
              <a:rPr lang="ja-JP" altLang="en-US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データの絞込について</a:t>
            </a:r>
            <a:endParaRPr lang="en-US" altLang="ja-JP" sz="14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1526AD5-65B5-46B6-9F2A-A07646455B68}"/>
              </a:ext>
            </a:extLst>
          </p:cNvPr>
          <p:cNvSpPr txBox="1"/>
          <p:nvPr/>
        </p:nvSpPr>
        <p:spPr>
          <a:xfrm>
            <a:off x="112541" y="953339"/>
            <a:ext cx="9636369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    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【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例題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2】</a:t>
            </a: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</a:t>
            </a:r>
            <a:r>
              <a:rPr lang="en-US" altLang="ja-JP" sz="1400" dirty="0" err="1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itb_sql_lecure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スキーマの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[m_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得意先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から得意先担当者が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ブレイド　七太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の得意先を全行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する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文を作成しなさい。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【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例題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3】</a:t>
            </a: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</a:t>
            </a:r>
            <a:r>
              <a:rPr lang="en-US" altLang="ja-JP" sz="1400" dirty="0" err="1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itb_sql_lecure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スキーマの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[m_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社員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から役職者の社員を全行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する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文を作成しなさい。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【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例題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4】</a:t>
            </a: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</a:t>
            </a:r>
            <a:r>
              <a:rPr lang="en-US" altLang="ja-JP" sz="1400" dirty="0" err="1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itb_sql_lecure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スキーマの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[m_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社員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から名前に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郎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の文字が含まれる社員を全行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する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文を作成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 しなさい。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【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例題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5】</a:t>
            </a: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</a:t>
            </a:r>
            <a:r>
              <a:rPr lang="en-US" altLang="ja-JP" sz="1400" dirty="0" err="1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itb_sql_lecure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スキーマの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[m_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商品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からメーカーで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[DELL][Fujitsu][NEC]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の商品を全行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する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</a:t>
            </a: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 文を作成しなさい。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85087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48E88F9-128D-DC0A-3C0D-29BFB1F21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2. SELECT</a:t>
            </a:r>
            <a:r>
              <a:rPr kumimoji="1" lang="ja-JP" altLang="en-US" dirty="0"/>
              <a:t>文の応用について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BFD4E0F-6EDA-567A-FB8F-A5C15F276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C6CC0-337C-4DEC-BAED-08CE4EABF7AC}" type="slidenum">
              <a:rPr lang="ja-JP" altLang="en-US" smtClean="0"/>
              <a:pPr/>
              <a:t>7</a:t>
            </a:fld>
            <a:endParaRPr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E802D7E-DF48-1EBB-AD1D-F686E4CA3137}"/>
              </a:ext>
            </a:extLst>
          </p:cNvPr>
          <p:cNvSpPr txBox="1"/>
          <p:nvPr/>
        </p:nvSpPr>
        <p:spPr>
          <a:xfrm>
            <a:off x="112541" y="576000"/>
            <a:ext cx="96363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2-1. </a:t>
            </a:r>
            <a:r>
              <a:rPr lang="ja-JP" altLang="en-US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組み込み関数を使用した</a:t>
            </a:r>
            <a:r>
              <a:rPr lang="en-US" altLang="ja-JP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</a:t>
            </a:r>
            <a:r>
              <a:rPr lang="ja-JP" altLang="en-US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</a:t>
            </a:r>
            <a:endParaRPr lang="en-US" altLang="ja-JP" sz="14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74ABF6D-9AC7-7598-9EF5-7C816512EFE0}"/>
              </a:ext>
            </a:extLst>
          </p:cNvPr>
          <p:cNvSpPr txBox="1"/>
          <p:nvPr/>
        </p:nvSpPr>
        <p:spPr>
          <a:xfrm>
            <a:off x="112541" y="953339"/>
            <a:ext cx="9636369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 組み込み関数とは、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RDBMS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で予め用意されている、データベース独自の関数のことである。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 使用する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RDBMS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の種類により、記述方法が異なるが、概ね共通しているものが多い。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 </a:t>
            </a:r>
            <a:r>
              <a:rPr lang="en-US" altLang="ja-JP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※</a:t>
            </a:r>
            <a:r>
              <a:rPr lang="ja-JP" altLang="en-US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組み込み関数の種類</a:t>
            </a:r>
            <a:endParaRPr lang="en-US" altLang="ja-JP" sz="1400" b="1" u="sng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・集計関数</a:t>
            </a:r>
            <a:endParaRPr lang="en-US" altLang="ja-JP" sz="14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　→ 複数のレコードの指定のフィールドに対して、指定した計算を実施し、計算結果を取得する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　　　例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)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SUM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・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COUNT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・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MAX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・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MIN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・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AVG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・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RANK 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など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・日付関数</a:t>
            </a:r>
            <a:endParaRPr lang="en-US" altLang="ja-JP" sz="14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　→ 日付に関する値を算出し、結果を取得する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　　　例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)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NOW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・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DATE_ADD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・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DATE_SUB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・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DATEDIFF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・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DATE_FORMAT 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など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・数学関数</a:t>
            </a:r>
            <a:endParaRPr lang="en-US" altLang="ja-JP" sz="14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　→ 数学で使用する数式の値を算出し、結果を取得する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　　　例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)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ABS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・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ROUND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・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FLOOR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・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RAND 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など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・文字列関数</a:t>
            </a:r>
            <a:endParaRPr lang="en-US" altLang="ja-JP" sz="14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　→ 文字列の値に対して、様々な処理を行い、結果を取得する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　　　例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)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LENGTH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・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LEFT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・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RIGHT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・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REPLACE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・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SUBSTRING 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など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・変換関数</a:t>
            </a:r>
            <a:endParaRPr lang="en-US" altLang="ja-JP" sz="14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　→ 指定のフィールドの値を変換したり、型を変換したりして結果を取得する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　　　例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)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ISNULL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・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CAST 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など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28345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6E6988-DEC5-A036-A6FD-915ED760D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2. SELECT</a:t>
            </a:r>
            <a:r>
              <a:rPr kumimoji="1" lang="ja-JP" altLang="en-US" dirty="0"/>
              <a:t>文の応用について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B9BA719-6068-E476-5590-5846A0F5A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C6CC0-337C-4DEC-BAED-08CE4EABF7AC}" type="slidenum">
              <a:rPr lang="ja-JP" altLang="en-US" smtClean="0"/>
              <a:pPr/>
              <a:t>8</a:t>
            </a:fld>
            <a:endParaRPr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604FF27-D5E2-DC45-C439-E56B5593371B}"/>
              </a:ext>
            </a:extLst>
          </p:cNvPr>
          <p:cNvSpPr txBox="1"/>
          <p:nvPr/>
        </p:nvSpPr>
        <p:spPr>
          <a:xfrm>
            <a:off x="112541" y="576000"/>
            <a:ext cx="96363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2-1. </a:t>
            </a:r>
            <a:r>
              <a:rPr lang="ja-JP" altLang="en-US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組み込み関数を使用した</a:t>
            </a:r>
            <a:r>
              <a:rPr lang="en-US" altLang="ja-JP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</a:t>
            </a:r>
            <a:r>
              <a:rPr lang="ja-JP" altLang="en-US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</a:t>
            </a:r>
            <a:endParaRPr lang="en-US" altLang="ja-JP" sz="14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87D2EFC-60E1-9340-DA8A-7F87FB053138}"/>
              </a:ext>
            </a:extLst>
          </p:cNvPr>
          <p:cNvSpPr txBox="1"/>
          <p:nvPr/>
        </p:nvSpPr>
        <p:spPr>
          <a:xfrm>
            <a:off x="112541" y="953339"/>
            <a:ext cx="9636369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 組み込み関数を使用することにより、複数のデータを元にした様々な集計や、実データからの値の変換などユー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 ザーが必要なデータを必要な形にして取得することができる。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 </a:t>
            </a:r>
            <a:r>
              <a:rPr lang="en-US" altLang="ja-JP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※</a:t>
            </a:r>
            <a:r>
              <a:rPr lang="ja-JP" altLang="en-US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集計関数使用時の留意点</a:t>
            </a:r>
            <a:endParaRPr lang="en-US" altLang="ja-JP" sz="1400" b="1" u="sng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集計関数を使用する際には、一定の条件で複数のデータをグループ化し、同一グループのデータを集計する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必要があり、データのグループ化を行う際には、</a:t>
            </a:r>
            <a:r>
              <a:rPr lang="en-US" altLang="ja-JP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GROUP BY</a:t>
            </a:r>
            <a:r>
              <a:rPr lang="ja-JP" altLang="en-US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句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を使用する。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</a:t>
            </a: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       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グループ化に使用するフィールド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</a:p>
          <a:p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                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,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集計関数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([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集計するフィールド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])</a:t>
            </a: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FROM [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テーブル名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GROUP BY [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グループ化に使用するフィールド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</a:p>
          <a:p>
            <a:endParaRPr lang="en-US" altLang="ja-JP" sz="14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なお、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GROUP BY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句は集計関数を使用していなくても使用することは可能で、使用した場合には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文で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取得した結果で重複しているレコードを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1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レコードに統合して取得することができる。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また、集計関数は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WHERE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句では使用できないため、集計結果を元にデータを絞り込む場合には、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</a:t>
            </a:r>
            <a:r>
              <a:rPr lang="en-US" altLang="ja-JP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HAVING</a:t>
            </a:r>
            <a:r>
              <a:rPr lang="ja-JP" altLang="en-US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句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を使用する。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</a:t>
            </a:r>
            <a:r>
              <a:rPr lang="en-US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</a:t>
            </a:r>
          </a:p>
          <a:p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       </a:t>
            </a:r>
            <a:r>
              <a:rPr lang="en-US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</a:t>
            </a: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グループ化に使用するフィールド</a:t>
            </a:r>
            <a:r>
              <a:rPr lang="en-US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</a:p>
          <a:p>
            <a:r>
              <a:rPr lang="en-US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                </a:t>
            </a: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</a:t>
            </a:r>
            <a:r>
              <a:rPr lang="en-US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,</a:t>
            </a: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集計関数</a:t>
            </a:r>
            <a:r>
              <a:rPr lang="en-US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([</a:t>
            </a: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集計するフィールド</a:t>
            </a:r>
            <a:r>
              <a:rPr lang="en-US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])</a:t>
            </a:r>
          </a:p>
          <a:p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</a:t>
            </a:r>
            <a:r>
              <a:rPr lang="en-US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FROM [</a:t>
            </a: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テーブル名</a:t>
            </a:r>
            <a:r>
              <a:rPr lang="en-US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</a:p>
          <a:p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</a:t>
            </a:r>
            <a:r>
              <a:rPr lang="en-US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GROUP BY [</a:t>
            </a: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グループ化に使用するフィールド</a:t>
            </a:r>
            <a:r>
              <a:rPr lang="en-US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HAVING 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集計関数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([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集計するフィールド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]) = [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絞り込むための条件値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1843598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DD6FE3D-3FDB-4A20-03A8-32DC2238C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2. SELECT</a:t>
            </a:r>
            <a:r>
              <a:rPr kumimoji="1" lang="ja-JP" altLang="en-US" dirty="0"/>
              <a:t>文の応用について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D375D59-FFB7-7804-C104-FCD8740F2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C6CC0-337C-4DEC-BAED-08CE4EABF7AC}" type="slidenum">
              <a:rPr lang="ja-JP" altLang="en-US" smtClean="0"/>
              <a:pPr/>
              <a:t>9</a:t>
            </a:fld>
            <a:endParaRPr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138CD35-6C1A-9FF3-3C0C-E270D30441D4}"/>
              </a:ext>
            </a:extLst>
          </p:cNvPr>
          <p:cNvSpPr txBox="1"/>
          <p:nvPr/>
        </p:nvSpPr>
        <p:spPr>
          <a:xfrm>
            <a:off x="112541" y="576000"/>
            <a:ext cx="96363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2-1. </a:t>
            </a:r>
            <a:r>
              <a:rPr lang="ja-JP" altLang="en-US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組み込み関数を使用した</a:t>
            </a:r>
            <a:r>
              <a:rPr lang="en-US" altLang="ja-JP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</a:t>
            </a:r>
            <a:r>
              <a:rPr lang="ja-JP" altLang="en-US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</a:t>
            </a:r>
            <a:endParaRPr lang="en-US" altLang="ja-JP" sz="14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899F195-4AF0-628F-B70B-3652FF8EDC4B}"/>
              </a:ext>
            </a:extLst>
          </p:cNvPr>
          <p:cNvSpPr txBox="1"/>
          <p:nvPr/>
        </p:nvSpPr>
        <p:spPr>
          <a:xfrm>
            <a:off x="112541" y="954000"/>
            <a:ext cx="9636369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    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【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例題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6】</a:t>
            </a: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</a:t>
            </a:r>
            <a:r>
              <a:rPr lang="en-US" altLang="ja-JP" sz="1400" dirty="0" err="1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itb_sql_lecure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スキーマの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[m_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商品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からメーカーごとの商品件数の集計結果を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する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文を作成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 しなさい。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【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例題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7】</a:t>
            </a: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</a:t>
            </a:r>
            <a:r>
              <a:rPr lang="en-US" altLang="ja-JP" sz="1400" dirty="0" err="1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itb_sql_lecure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スキーマの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[m_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商品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から商品分類ごと、メーカーごとの商品件数の集計結果を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する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文を作成しなさい。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【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例題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8】</a:t>
            </a: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</a:t>
            </a:r>
            <a:r>
              <a:rPr lang="en-US" altLang="ja-JP" sz="1400" dirty="0" err="1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itb_sql_lecure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スキーマの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[t_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売上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から売上年月ごとの販売数量の集計結果を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する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文を作成し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 なさい。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【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例題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9】</a:t>
            </a: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</a:t>
            </a:r>
            <a:r>
              <a:rPr lang="en-US" altLang="ja-JP" sz="1400" dirty="0" err="1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itb_sql_lecure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スキーマの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[t_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売上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から商品ごとの平均販売数量の集計結果を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する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文を作成し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 なさい。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28423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FD1DB-3C5A-EB3E-7C05-78CAD2A08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58AB73-0494-7F5D-584D-0B443516C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2. SELECT</a:t>
            </a:r>
            <a:r>
              <a:rPr kumimoji="1" lang="ja-JP" altLang="en-US" dirty="0"/>
              <a:t>文の応用について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EC6E60B-CE3C-C48F-7EF3-B8A33E34E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C6CC0-337C-4DEC-BAED-08CE4EABF7AC}" type="slidenum">
              <a:rPr lang="ja-JP" altLang="en-US" smtClean="0"/>
              <a:pPr/>
              <a:t>10</a:t>
            </a:fld>
            <a:endParaRPr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4822F4A-6218-BF5C-7DBE-694E70FAD1A4}"/>
              </a:ext>
            </a:extLst>
          </p:cNvPr>
          <p:cNvSpPr txBox="1"/>
          <p:nvPr/>
        </p:nvSpPr>
        <p:spPr>
          <a:xfrm>
            <a:off x="112541" y="576000"/>
            <a:ext cx="96363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2-2. </a:t>
            </a:r>
            <a:r>
              <a:rPr lang="ja-JP" altLang="en-US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データの並び替えについて</a:t>
            </a:r>
            <a:endParaRPr lang="en-US" altLang="ja-JP" sz="14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EDFBAB6-169F-5EB5-041E-E3D07C004347}"/>
              </a:ext>
            </a:extLst>
          </p:cNvPr>
          <p:cNvSpPr txBox="1"/>
          <p:nvPr/>
        </p:nvSpPr>
        <p:spPr>
          <a:xfrm>
            <a:off x="112541" y="953339"/>
            <a:ext cx="963636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ORDER BY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句を使用することで、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文で取得したデータを一定の条件で並び替えて結果を取得することが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 できる。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ORDER BY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句では、指定した並び替え条件に対して、昇順・降順まで指定することができ、指定しなかった場合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 には昇順で取得される。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</a:t>
            </a:r>
            <a:r>
              <a:rPr lang="en-US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&lt; </a:t>
            </a: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昇順で取得する場合 </a:t>
            </a:r>
            <a:r>
              <a:rPr lang="en-US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&gt;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</a:t>
            </a:r>
            <a:r>
              <a:rPr lang="en-US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</a:t>
            </a:r>
          </a:p>
          <a:p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       </a:t>
            </a:r>
            <a:r>
              <a:rPr lang="en-US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</a:t>
            </a: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取得するフィールド</a:t>
            </a:r>
            <a:r>
              <a:rPr lang="en-US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</a:t>
            </a:r>
            <a:r>
              <a:rPr lang="en-US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FROM [</a:t>
            </a: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テーブル名</a:t>
            </a:r>
            <a:r>
              <a:rPr lang="en-US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</a:p>
          <a:p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   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ORDER BY [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並び替えに使用するフィールド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 (ASC) 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</a:t>
            </a:r>
            <a:r>
              <a:rPr lang="en-US" altLang="ja-JP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※</a:t>
            </a:r>
            <a:r>
              <a:rPr lang="ja-JP" altLang="en-US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昇順の場合の</a:t>
            </a:r>
            <a:r>
              <a:rPr lang="en-US" altLang="ja-JP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ASC</a:t>
            </a:r>
            <a:r>
              <a:rPr lang="ja-JP" altLang="en-US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は、任意で指定</a:t>
            </a:r>
            <a:endParaRPr lang="en-US" altLang="ja-JP" sz="1400" b="1" u="sng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</a:t>
            </a:r>
            <a:r>
              <a:rPr lang="en-US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&lt; </a:t>
            </a: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降順で取得する場合 </a:t>
            </a:r>
            <a:r>
              <a:rPr lang="en-US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&gt;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</a:t>
            </a:r>
            <a:r>
              <a:rPr lang="en-US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</a:t>
            </a:r>
          </a:p>
          <a:p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       </a:t>
            </a:r>
            <a:r>
              <a:rPr lang="en-US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</a:t>
            </a: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取得するフィールド</a:t>
            </a:r>
            <a:r>
              <a:rPr lang="en-US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</a:t>
            </a:r>
            <a:r>
              <a:rPr lang="en-US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FROM [</a:t>
            </a: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テーブル名</a:t>
            </a:r>
            <a:r>
              <a:rPr lang="en-US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</a:p>
          <a:p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   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ORDER BY [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並び替えに使用するフィールド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 DESC 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</a:t>
            </a:r>
            <a:r>
              <a:rPr lang="en-US" altLang="ja-JP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※</a:t>
            </a:r>
            <a:r>
              <a:rPr lang="ja-JP" altLang="en-US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降順の場合の</a:t>
            </a:r>
            <a:r>
              <a:rPr lang="en-US" altLang="ja-JP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DESC</a:t>
            </a:r>
            <a:r>
              <a:rPr lang="ja-JP" altLang="en-US" sz="14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は、必須</a:t>
            </a:r>
            <a:endParaRPr lang="en-US" altLang="ja-JP" sz="1400" b="1" u="sng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C111446-0A94-FBAA-21B3-38AF86714AD7}"/>
              </a:ext>
            </a:extLst>
          </p:cNvPr>
          <p:cNvSpPr txBox="1"/>
          <p:nvPr/>
        </p:nvSpPr>
        <p:spPr>
          <a:xfrm>
            <a:off x="112541" y="4562331"/>
            <a:ext cx="96363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2-3. </a:t>
            </a:r>
            <a:r>
              <a:rPr lang="ja-JP" altLang="en-US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任意のフィールド名の命名について</a:t>
            </a:r>
            <a:endParaRPr lang="en-US" altLang="ja-JP" sz="14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E8618D6-3755-4AFD-223F-E17B6DD1E8F9}"/>
              </a:ext>
            </a:extLst>
          </p:cNvPr>
          <p:cNvSpPr txBox="1"/>
          <p:nvPr/>
        </p:nvSpPr>
        <p:spPr>
          <a:xfrm>
            <a:off x="112541" y="4939670"/>
            <a:ext cx="963636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AS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句を使用することで、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文の中で取得したフィールドに対して元のフィールド名とは別の任意のフィー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 ルド名を付与することができる。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       任意に付与したフィールド名は、エイリアス名と呼ばれる。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b="1" u="sng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 エイリアス名は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句のフィールドのみでなく、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FROM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句のテーブル名に対しても付与することができる。</a:t>
            </a:r>
            <a:endParaRPr lang="en-US" altLang="ja-JP" sz="1400" b="1" u="sng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473160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EE68AD9-2620-AA34-299C-DA2CAE4AF746}"/>
              </a:ext>
            </a:extLst>
          </p:cNvPr>
          <p:cNvSpPr txBox="1"/>
          <p:nvPr/>
        </p:nvSpPr>
        <p:spPr>
          <a:xfrm>
            <a:off x="112541" y="953338"/>
            <a:ext cx="963636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</a:t>
            </a:r>
            <a:r>
              <a:rPr lang="en-US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</a:t>
            </a:r>
          </a:p>
          <a:p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       </a:t>
            </a:r>
            <a:r>
              <a:rPr lang="en-US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</a:t>
            </a: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取得するフィールド</a:t>
            </a:r>
            <a:r>
              <a:rPr lang="en-US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 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AS [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任意のフィールド名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</a:t>
            </a:r>
            <a:r>
              <a:rPr lang="en-US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FROM [</a:t>
            </a: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テーブル名</a:t>
            </a:r>
            <a:r>
              <a:rPr lang="en-US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AS [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任意のテーブル名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67C277A-05AE-3696-F26E-E4EB4443B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2. SELECT</a:t>
            </a:r>
            <a:r>
              <a:rPr kumimoji="1" lang="ja-JP" altLang="en-US" dirty="0"/>
              <a:t>文の応用について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34F320F-8FA3-C7E8-3311-3DEB15A10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C6CC0-337C-4DEC-BAED-08CE4EABF7AC}" type="slidenum">
              <a:rPr lang="ja-JP" altLang="en-US" smtClean="0"/>
              <a:pPr/>
              <a:t>11</a:t>
            </a:fld>
            <a:endParaRPr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BAD6D88-B244-2157-9E11-1E323DF08F10}"/>
              </a:ext>
            </a:extLst>
          </p:cNvPr>
          <p:cNvSpPr txBox="1"/>
          <p:nvPr/>
        </p:nvSpPr>
        <p:spPr>
          <a:xfrm>
            <a:off x="112541" y="1761563"/>
            <a:ext cx="96363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2-4. SELECT</a:t>
            </a:r>
            <a:r>
              <a:rPr lang="ja-JP" altLang="en-US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句での条件分岐</a:t>
            </a:r>
            <a:endParaRPr lang="en-US" altLang="ja-JP" sz="14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AB59456-D6AE-85C1-7846-E7E00165661E}"/>
              </a:ext>
            </a:extLst>
          </p:cNvPr>
          <p:cNvSpPr txBox="1"/>
          <p:nvPr/>
        </p:nvSpPr>
        <p:spPr>
          <a:xfrm>
            <a:off x="112541" y="2138902"/>
            <a:ext cx="963636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CASE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文を使用することで、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句の中で、該当のフィールドの条件ごとに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句の値を条件分岐しデー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 タを加工することが可能である。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</a:t>
            </a:r>
            <a:r>
              <a:rPr lang="en-US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</a:t>
            </a: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       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CASE</a:t>
            </a: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　　　　　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WHEN [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条件分岐に使用するフィールド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 = [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条件分岐に指定する値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 THEN</a:t>
            </a: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　　　　　　　　 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上記の条件に合致した場合に使用するフィールド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　　　　　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ELSE</a:t>
            </a: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　　　　　　　　 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上記の条件以外の場合に使用するフィールド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　　 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END</a:t>
            </a: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</a:t>
            </a:r>
            <a:r>
              <a:rPr lang="en-US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FROM [</a:t>
            </a: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テーブル名</a:t>
            </a:r>
            <a:r>
              <a:rPr lang="en-US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CASE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文を使用すると単純な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文でもより柔軟な結果を取得することが可能となり、実際のプログラミング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 の際には多用される。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44D23A2-23A1-0EFC-FA07-D7998A0CD091}"/>
              </a:ext>
            </a:extLst>
          </p:cNvPr>
          <p:cNvSpPr txBox="1"/>
          <p:nvPr/>
        </p:nvSpPr>
        <p:spPr>
          <a:xfrm>
            <a:off x="112541" y="576000"/>
            <a:ext cx="96363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2-3. </a:t>
            </a:r>
            <a:r>
              <a:rPr lang="ja-JP" altLang="en-US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任意のフィールド名の命名について</a:t>
            </a:r>
            <a:endParaRPr lang="en-US" altLang="ja-JP" sz="14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687370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91AA7-F622-4504-5530-7B9FD699E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067AC4-5A2C-E121-F15A-D1B35E17F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2. SELECT</a:t>
            </a:r>
            <a:r>
              <a:rPr kumimoji="1" lang="ja-JP" altLang="en-US" dirty="0"/>
              <a:t>文の応用について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58A86E6-93A6-346B-EFBF-A645A3F7F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C6CC0-337C-4DEC-BAED-08CE4EABF7AC}" type="slidenum">
              <a:rPr lang="ja-JP" altLang="en-US" smtClean="0"/>
              <a:pPr/>
              <a:t>12</a:t>
            </a:fld>
            <a:endParaRPr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5E71B11-CD0A-0FF3-4B79-9CDC6E40DAC8}"/>
              </a:ext>
            </a:extLst>
          </p:cNvPr>
          <p:cNvSpPr txBox="1"/>
          <p:nvPr/>
        </p:nvSpPr>
        <p:spPr>
          <a:xfrm>
            <a:off x="112541" y="576000"/>
            <a:ext cx="96363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2-5. SELECT</a:t>
            </a:r>
            <a:r>
              <a:rPr lang="ja-JP" altLang="en-US" sz="1400" u="sng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文の統合</a:t>
            </a:r>
            <a:endParaRPr lang="en-US" altLang="ja-JP" sz="14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7095A22-75A5-BF6D-F239-87A91E446FA6}"/>
              </a:ext>
            </a:extLst>
          </p:cNvPr>
          <p:cNvSpPr txBox="1"/>
          <p:nvPr/>
        </p:nvSpPr>
        <p:spPr>
          <a:xfrm>
            <a:off x="112541" y="953339"/>
            <a:ext cx="9636369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UNION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句を使用することで、複数の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文の結果を統合して、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1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つの結果として取得することができる。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UNION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句を使用する際には、各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文の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句で同じ数のフィールドを指定する必要がある。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</a:t>
            </a:r>
            <a:r>
              <a:rPr lang="en-US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</a:t>
            </a:r>
          </a:p>
          <a:p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       </a:t>
            </a:r>
            <a:r>
              <a:rPr lang="en-US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</a:t>
            </a: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取得するフィールド</a:t>
            </a:r>
            <a:r>
              <a:rPr lang="en-US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</a:t>
            </a:r>
            <a:r>
              <a:rPr lang="en-US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FROM [</a:t>
            </a: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テーブル名</a:t>
            </a:r>
            <a:r>
              <a:rPr lang="en-US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UNION</a:t>
            </a:r>
            <a:endParaRPr lang="en-US" altLang="ja-JP" sz="14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</a:t>
            </a:r>
            <a:r>
              <a:rPr lang="en-US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</a:t>
            </a:r>
          </a:p>
          <a:p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       </a:t>
            </a:r>
            <a:r>
              <a:rPr lang="en-US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</a:t>
            </a: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取得するフィールド</a:t>
            </a:r>
            <a:r>
              <a:rPr lang="en-US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</a:p>
          <a:p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</a:t>
            </a:r>
            <a:r>
              <a:rPr lang="en-US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FROM [</a:t>
            </a: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テーブル名</a:t>
            </a:r>
            <a:r>
              <a:rPr lang="en-US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UNION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句は統合した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文の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句のフィールドが同じ値の場合、重複するレコードを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1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レコードで取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 得する。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UNION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句と同様の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UNION ALL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句を使用した際には、重複するレコードもそのままのレコード数で取得される。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UNION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句と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UNION ALL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句では</a:t>
            </a:r>
            <a:r>
              <a:rPr lang="en-US" altLang="ja-JP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UNION ALL</a:t>
            </a:r>
            <a:r>
              <a:rPr lang="ja-JP" altLang="en-US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句の方がレスポンスが良い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219573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F50310-CB1A-8CB4-C049-19719FB6C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2. SELECT</a:t>
            </a:r>
            <a:r>
              <a:rPr kumimoji="1" lang="ja-JP" altLang="en-US" dirty="0"/>
              <a:t>文の応用について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3FEFF32-381E-EE51-5498-C828F1313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C6CC0-337C-4DEC-BAED-08CE4EABF7AC}" type="slidenum">
              <a:rPr lang="ja-JP" altLang="en-US" smtClean="0"/>
              <a:pPr/>
              <a:t>13</a:t>
            </a:fld>
            <a:endParaRPr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C1273F0-1C78-9C7D-FBDC-E99E87E82AC5}"/>
              </a:ext>
            </a:extLst>
          </p:cNvPr>
          <p:cNvSpPr txBox="1"/>
          <p:nvPr/>
        </p:nvSpPr>
        <p:spPr>
          <a:xfrm>
            <a:off x="112541" y="576000"/>
            <a:ext cx="963636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    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【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例題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10】</a:t>
            </a: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</a:t>
            </a:r>
            <a:r>
              <a:rPr lang="en-US" altLang="ja-JP" sz="1400" dirty="0" err="1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itb_sql_lecure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スキーマの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[t_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売上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から売上日が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[2025/04/01]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の売上伝票を売上伝票番号の昇順、明細番号の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 降順に並べ替えて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する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文を作成しなさい。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【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例題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11】</a:t>
            </a: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</a:t>
            </a:r>
            <a:r>
              <a:rPr lang="en-US" altLang="ja-JP" sz="1400" dirty="0" err="1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itb_sql_lecure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スキーマの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[t_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売上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から売上日が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[2025/04/01]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の売上伝票を売上伝票番号の昇順、明細番号の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 昇順に並べ替えて取得し、一番右のフィールドに販売数量が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[1]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のレコードの場合には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●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を、それ以外には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[×]</a:t>
            </a: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 を表示し、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する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文を作成しなさい。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【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例題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12】</a:t>
            </a: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</a:t>
            </a:r>
            <a:r>
              <a:rPr lang="en-US" altLang="ja-JP" sz="1400" dirty="0" err="1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itb_sql_lecure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スキーマの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</a:t>
            </a:r>
            <a:r>
              <a:rPr lang="en-US" altLang="ja-JP" sz="1400" dirty="0" err="1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m_Maker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の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</a:t>
            </a:r>
            <a:r>
              <a:rPr lang="en-US" altLang="ja-JP" sz="1400" dirty="0" err="1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MakerCD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][Maker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名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][Maker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名カナ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と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[m_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商品分類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の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商品分類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CD][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商品分類名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][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商品分類名カナ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を統合し、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[CD][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名称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][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名称カナ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として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する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文を作成しなさ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 い。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【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例題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13】</a:t>
            </a: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</a:t>
            </a:r>
            <a:r>
              <a:rPr lang="en-US" altLang="ja-JP" sz="1400" dirty="0" err="1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itb_sql_lecure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スキーマの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[t_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売上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]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から得意先ごと、売上月ごと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(2025/04 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～ 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2025/09)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の販売数量合計の推移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  を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する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文を作成して、得意先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CD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の昇順に並び替えて取得する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SELECT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文を作成しなさい。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922331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5570</TotalTime>
  <Words>3468</Words>
  <Application>Microsoft Office PowerPoint</Application>
  <PresentationFormat>A4 210 x 297 mm</PresentationFormat>
  <Paragraphs>448</Paragraphs>
  <Slides>13</Slides>
  <Notes>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7" baseType="lpstr">
      <vt:lpstr>メイリオ</vt:lpstr>
      <vt:lpstr>Arial</vt:lpstr>
      <vt:lpstr>Calibri</vt:lpstr>
      <vt:lpstr>Office テーマ</vt:lpstr>
      <vt:lpstr>【第2回】SELECT文 初級</vt:lpstr>
      <vt:lpstr>1. SELECT文の基本について</vt:lpstr>
      <vt:lpstr>1. SELECT文の基本について</vt:lpstr>
      <vt:lpstr>1. SELECT文の基本について</vt:lpstr>
      <vt:lpstr>1. SELECT文の基本について</vt:lpstr>
      <vt:lpstr>1. SELECT文の基本について</vt:lpstr>
      <vt:lpstr>2. SELECT文の応用について</vt:lpstr>
      <vt:lpstr>2. SELECT文の応用について</vt:lpstr>
      <vt:lpstr>2. SELECT文の応用について</vt:lpstr>
      <vt:lpstr>2. SELECT文の応用について</vt:lpstr>
      <vt:lpstr>2. SELECT文の応用について</vt:lpstr>
      <vt:lpstr>2. SELECT文の応用について</vt:lpstr>
      <vt:lpstr>2. SELECT文の応用について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nagano</dc:creator>
  <cp:lastModifiedBy>ibcl177</cp:lastModifiedBy>
  <cp:revision>539</cp:revision>
  <cp:lastPrinted>2025-11-19T09:17:47Z</cp:lastPrinted>
  <dcterms:created xsi:type="dcterms:W3CDTF">2018-12-05T10:12:33Z</dcterms:created>
  <dcterms:modified xsi:type="dcterms:W3CDTF">2025-11-19T10:42:45Z</dcterms:modified>
</cp:coreProperties>
</file>