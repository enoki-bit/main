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6" r:id="rId2"/>
    <p:sldId id="261" r:id="rId3"/>
    <p:sldId id="262" r:id="rId4"/>
    <p:sldId id="275" r:id="rId5"/>
  </p:sldIdLst>
  <p:sldSz cx="9906000" cy="6858000" type="A4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48F347-E632-4B36-A0C2-9CCD7ED3F5B1}">
          <p14:sldIdLst>
            <p14:sldId id="256"/>
            <p14:sldId id="261"/>
            <p14:sldId id="262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4171D5"/>
    <a:srgbClr val="419BD5"/>
    <a:srgbClr val="898989"/>
    <a:srgbClr val="55A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58061" autoAdjust="0"/>
  </p:normalViewPr>
  <p:slideViewPr>
    <p:cSldViewPr snapToGrid="0">
      <p:cViewPr varScale="1">
        <p:scale>
          <a:sx n="64" d="100"/>
          <a:sy n="64" d="100"/>
        </p:scale>
        <p:origin x="19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3402" y="0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/>
          <a:lstStyle>
            <a:lvl1pPr algn="r">
              <a:defRPr sz="800"/>
            </a:lvl1pPr>
          </a:lstStyle>
          <a:p>
            <a:fld id="{E2576A4B-778B-4444-AC61-1986328B18B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457265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 anchor="b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3402" y="6457265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 anchor="b"/>
          <a:lstStyle>
            <a:lvl1pPr algn="r">
              <a:defRPr sz="800"/>
            </a:lvl1pPr>
          </a:lstStyle>
          <a:p>
            <a:fld id="{0FADC253-00B3-415C-B4FD-22E7CAD8C2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14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4" cy="341064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4" cy="341064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r">
              <a:defRPr sz="1200"/>
            </a:lvl1pPr>
          </a:lstStyle>
          <a:p>
            <a:fld id="{77BB2CB4-990A-49C4-AADC-9B2CA19E50BC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9313"/>
            <a:ext cx="3313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0" tIns="47775" rIns="95550" bIns="4777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5" y="3271383"/>
            <a:ext cx="7941310" cy="2676584"/>
          </a:xfrm>
          <a:prstGeom prst="rect">
            <a:avLst/>
          </a:prstGeom>
        </p:spPr>
        <p:txBody>
          <a:bodyPr vert="horz" lIns="95550" tIns="47775" rIns="95550" bIns="4777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456613"/>
            <a:ext cx="4301544" cy="341063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8" y="6456613"/>
            <a:ext cx="4301544" cy="341063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r">
              <a:defRPr sz="1200"/>
            </a:lvl1pPr>
          </a:lstStyle>
          <a:p>
            <a:fld id="{30F9B3CF-BB5E-499C-96DD-F47E22CF7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8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06763" y="849313"/>
            <a:ext cx="3313112" cy="229393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22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1】</a:t>
            </a:r>
          </a:p>
          <a:p>
            <a:r>
              <a:rPr kumimoji="1" lang="en-US" altLang="ja-JP" dirty="0"/>
              <a:t>CREATE VIEW v_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_Nagano</a:t>
            </a:r>
          </a:p>
          <a:p>
            <a:r>
              <a:rPr kumimoji="1" lang="en-US" altLang="ja-JP" dirty="0"/>
              <a:t>AS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m_sho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m_sho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商品名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m_sho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m_sho_bun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商品分類名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m_sho.MakerCD</a:t>
            </a:r>
            <a:endParaRPr kumimoji="1" lang="en-US" altLang="ja-JP" dirty="0"/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m_mk.Maker</a:t>
            </a:r>
            <a:r>
              <a:rPr kumimoji="1" lang="ja-JP" altLang="en-US" dirty="0"/>
              <a:t>名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 </a:t>
            </a:r>
            <a:r>
              <a:rPr kumimoji="1" lang="en-US" altLang="ja-JP" dirty="0" err="1"/>
              <a:t>m_sho</a:t>
            </a:r>
            <a:endParaRPr kumimoji="1" lang="en-US" altLang="ja-JP" dirty="0"/>
          </a:p>
          <a:p>
            <a:r>
              <a:rPr kumimoji="1" lang="en-US" altLang="ja-JP" dirty="0"/>
              <a:t>LEFT JOIN m_</a:t>
            </a:r>
            <a:r>
              <a:rPr kumimoji="1" lang="ja-JP" altLang="en-US" dirty="0"/>
              <a:t>商品分類 </a:t>
            </a:r>
            <a:r>
              <a:rPr kumimoji="1" lang="en-US" altLang="ja-JP" dirty="0" err="1"/>
              <a:t>m_sho_bun</a:t>
            </a:r>
            <a:endParaRPr kumimoji="1" lang="en-US" altLang="ja-JP" dirty="0"/>
          </a:p>
          <a:p>
            <a:r>
              <a:rPr kumimoji="1" lang="en-US" altLang="ja-JP" dirty="0"/>
              <a:t>    ON </a:t>
            </a:r>
            <a:r>
              <a:rPr kumimoji="1" lang="en-US" altLang="ja-JP" dirty="0" err="1"/>
              <a:t>m_sho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 = </a:t>
            </a:r>
            <a:r>
              <a:rPr kumimoji="1" lang="en-US" altLang="ja-JP" dirty="0" err="1"/>
              <a:t>m_sho_bun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LEFT JOIN </a:t>
            </a:r>
            <a:r>
              <a:rPr kumimoji="1" lang="en-US" altLang="ja-JP" dirty="0" err="1"/>
              <a:t>m_Maker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m_mk</a:t>
            </a:r>
            <a:endParaRPr kumimoji="1" lang="en-US" altLang="ja-JP" dirty="0"/>
          </a:p>
          <a:p>
            <a:r>
              <a:rPr kumimoji="1" lang="en-US" altLang="ja-JP" dirty="0"/>
              <a:t>    ON </a:t>
            </a:r>
            <a:r>
              <a:rPr kumimoji="1" lang="en-US" altLang="ja-JP" dirty="0" err="1"/>
              <a:t>m_sho.MakerCD</a:t>
            </a:r>
            <a:r>
              <a:rPr kumimoji="1" lang="en-US" altLang="ja-JP" dirty="0"/>
              <a:t> = </a:t>
            </a:r>
            <a:r>
              <a:rPr kumimoji="1" lang="en-US" altLang="ja-JP" dirty="0" err="1"/>
              <a:t>m_mk.MakerCD</a:t>
            </a:r>
            <a:r>
              <a:rPr kumimoji="1" lang="en-US" altLang="ja-JP" dirty="0"/>
              <a:t>;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719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2】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売上伝票番号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売上日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明細番号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v_sho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商品名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v_sho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v_sho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商品分類名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v_sho.MakerCD</a:t>
            </a:r>
            <a:endParaRPr kumimoji="1" lang="en-US" altLang="ja-JP" dirty="0"/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v_sho.Maker</a:t>
            </a:r>
            <a:r>
              <a:rPr kumimoji="1" lang="ja-JP" altLang="en-US" dirty="0"/>
              <a:t>名</a:t>
            </a:r>
          </a:p>
          <a:p>
            <a:r>
              <a:rPr kumimoji="1" lang="en-US" altLang="ja-JP" dirty="0"/>
              <a:t>FROM t_</a:t>
            </a:r>
            <a:r>
              <a:rPr kumimoji="1" lang="ja-JP" altLang="en-US" dirty="0"/>
              <a:t>売上 </a:t>
            </a:r>
            <a:r>
              <a:rPr kumimoji="1" lang="en-US" altLang="ja-JP" dirty="0" err="1"/>
              <a:t>t_uri</a:t>
            </a:r>
            <a:endParaRPr kumimoji="1" lang="en-US" altLang="ja-JP" dirty="0"/>
          </a:p>
          <a:p>
            <a:r>
              <a:rPr kumimoji="1" lang="en-US" altLang="ja-JP" dirty="0"/>
              <a:t>LEFT JOIN v_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_Nagano </a:t>
            </a:r>
            <a:r>
              <a:rPr kumimoji="1" lang="en-US" altLang="ja-JP" dirty="0" err="1"/>
              <a:t>v_sho</a:t>
            </a:r>
            <a:endParaRPr kumimoji="1" lang="en-US" altLang="ja-JP" dirty="0"/>
          </a:p>
          <a:p>
            <a:r>
              <a:rPr kumimoji="1" lang="en-US" altLang="ja-JP" dirty="0"/>
              <a:t>    ON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 = </a:t>
            </a:r>
            <a:r>
              <a:rPr kumimoji="1" lang="en-US" altLang="ja-JP" dirty="0" err="1"/>
              <a:t>v_sho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WHERE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売上日 </a:t>
            </a:r>
            <a:r>
              <a:rPr kumimoji="1" lang="en-US" altLang="ja-JP" dirty="0"/>
              <a:t>= '2025/04/01’;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47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06396"/>
            <a:ext cx="8420100" cy="7213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820795"/>
            <a:ext cx="7429500" cy="726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260" y="6519600"/>
            <a:ext cx="2228850" cy="324000"/>
          </a:xfrm>
        </p:spPr>
        <p:txBody>
          <a:bodyPr/>
          <a:lstStyle>
            <a:lvl1pPr>
              <a:defRPr sz="11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37797"/>
            <a:ext cx="2672018" cy="4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28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2543" y="62073"/>
            <a:ext cx="9784308" cy="444366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lnSpc>
                <a:spcPts val="3360"/>
              </a:lnSpc>
              <a:defRPr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668000" y="6543434"/>
            <a:ext cx="2228850" cy="276999"/>
          </a:xfrm>
        </p:spPr>
        <p:txBody>
          <a:bodyPr vert="horz">
            <a:no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554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540000"/>
          </a:xfrm>
          <a:prstGeom prst="rect">
            <a:avLst/>
          </a:prstGeom>
          <a:solidFill>
            <a:srgbClr val="55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8000" y="6519932"/>
            <a:ext cx="2228850" cy="32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C6CC0-337C-4DEC-BAED-08CE4EABF7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6478807"/>
            <a:ext cx="9906000" cy="0"/>
          </a:xfrm>
          <a:prstGeom prst="line">
            <a:avLst/>
          </a:prstGeom>
          <a:ln w="38100">
            <a:solidFill>
              <a:srgbClr val="55A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3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70555"/>
            <a:ext cx="8420100" cy="721361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【</a:t>
            </a:r>
            <a:r>
              <a:rPr lang="ja-JP" altLang="en-US" sz="2800" dirty="0"/>
              <a:t>第</a:t>
            </a:r>
            <a:r>
              <a:rPr lang="en-US" altLang="ja-JP" sz="2800" dirty="0"/>
              <a:t>7</a:t>
            </a:r>
            <a:r>
              <a:rPr lang="ja-JP" altLang="en-US" sz="2800" dirty="0"/>
              <a:t>回</a:t>
            </a:r>
            <a:r>
              <a:rPr lang="en-US" altLang="ja-JP" sz="2800" dirty="0"/>
              <a:t>】VIEW(</a:t>
            </a:r>
            <a:r>
              <a:rPr lang="ja-JP" altLang="en-US" sz="2800" dirty="0"/>
              <a:t>ビュー</a:t>
            </a:r>
            <a:r>
              <a:rPr lang="en-US" altLang="ja-JP" sz="2800" dirty="0"/>
              <a:t>)</a:t>
            </a:r>
            <a:r>
              <a:rPr lang="ja-JP" altLang="en-US" sz="2800" dirty="0"/>
              <a:t>について</a:t>
            </a:r>
            <a:endParaRPr kumimoji="1" lang="ja-JP" altLang="en-US" sz="280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965CA2C2-7036-4887-B651-FDDDA969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76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F9091-6F42-244F-E19A-17186AF2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VIEW(</a:t>
            </a:r>
            <a:r>
              <a:rPr kumimoji="1" lang="ja-JP" altLang="en-US" dirty="0"/>
              <a:t>ビュー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とは</a:t>
            </a:r>
            <a:r>
              <a:rPr lang="ja-JP" altLang="en-US" dirty="0"/>
              <a:t>？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C23008-39BF-D632-E213-277D0199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94D069-77E8-6064-227C-F7B668D3A08B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1-1. VIEW(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ビュー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とは？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0A354C-6E7A-51B1-A941-6B1ED47CB682}"/>
              </a:ext>
            </a:extLst>
          </p:cNvPr>
          <p:cNvSpPr txBox="1"/>
          <p:nvPr/>
        </p:nvSpPr>
        <p:spPr>
          <a:xfrm>
            <a:off x="112541" y="953339"/>
            <a:ext cx="96363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文の結果を「仮想的なテーブル」として保存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し、名前を付けて再利用できるようにしたオブジェクトの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こと。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文の中で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を利用する際には、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テーブル名を記載する部分に対してビュー名を記載する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ことでテーブル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と同等のものとして使用することができる。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ただし、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はあくまでも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文の結果のため、実体のあるテーブルとは違い、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INSERT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や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UPDATE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DELETE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の対象として指定することはできない。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DB5E80-F4F3-190D-73F8-ADDC0A6CE479}"/>
              </a:ext>
            </a:extLst>
          </p:cNvPr>
          <p:cNvSpPr txBox="1"/>
          <p:nvPr/>
        </p:nvSpPr>
        <p:spPr>
          <a:xfrm>
            <a:off x="112541" y="2623338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VIEW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を使用するメリット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F63DEB-8A79-8D3D-902C-FFBC22498141}"/>
              </a:ext>
            </a:extLst>
          </p:cNvPr>
          <p:cNvSpPr txBox="1"/>
          <p:nvPr/>
        </p:nvSpPr>
        <p:spPr>
          <a:xfrm>
            <a:off x="112541" y="3000676"/>
            <a:ext cx="96363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メリット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・複数のテーブルへのアクセスが簡単になる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・保守性が高くなる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・セキュリティを高めることができる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を使用したからといって、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文のレスポンスが向上するわけではありません。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の中にレスポンスの悪い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文が定義されていると、その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を複数回使用するとシステム全体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のレスポンス低下につながるため、注意が必要である。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872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A71CB-9EE2-A789-55E8-FC95752C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 VIEW(</a:t>
            </a:r>
            <a:r>
              <a:rPr lang="ja-JP" altLang="en-US" dirty="0"/>
              <a:t>ビュー</a:t>
            </a:r>
            <a:r>
              <a:rPr lang="en-US" altLang="ja-JP" dirty="0"/>
              <a:t>)</a:t>
            </a:r>
            <a:r>
              <a:rPr lang="ja-JP" altLang="en-US" dirty="0"/>
              <a:t>の作成と利用方法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4B5962-98FC-FC83-82A3-068C31C4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1E0CF3-A167-E647-4214-CE60AA90FAE5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VIEW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の作り方と利用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7C2F65-B6BF-6BA7-5E67-36804FA2C5A9}"/>
              </a:ext>
            </a:extLst>
          </p:cNvPr>
          <p:cNvSpPr txBox="1"/>
          <p:nvPr/>
        </p:nvSpPr>
        <p:spPr>
          <a:xfrm>
            <a:off x="112541" y="953339"/>
            <a:ext cx="963636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ステートメントを利用して作成することができる。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VIEW [VIEW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AS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保存しておきたい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];</a:t>
            </a: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の中では、絞込条件などをパラメータとして受け取ることはできないため、一定の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句になる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文や内部結合によりデータを絞り込めるような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文を作成しておくことが効果的である。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m_Maker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を使用して、以下のフィールドを持つ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MakerCD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[Maker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[v_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作成者の名前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7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95D4-53C7-2E9C-7AE6-670AD529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9C4BC7-DF9E-E778-0234-8EC139F5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 VIEW(</a:t>
            </a:r>
            <a:r>
              <a:rPr lang="ja-JP" altLang="en-US" dirty="0"/>
              <a:t>ビュー</a:t>
            </a:r>
            <a:r>
              <a:rPr lang="en-US" altLang="ja-JP" dirty="0"/>
              <a:t>)</a:t>
            </a:r>
            <a:r>
              <a:rPr lang="ja-JP" altLang="en-US" dirty="0"/>
              <a:t>の作成と利用方法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506C95B-FB69-0885-4556-47287126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1E0F5C-9A26-883D-92F4-562FAF575897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VIEW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の作り方と利用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5E80FD-9C01-426A-645A-C026D1F4C9ED}"/>
              </a:ext>
            </a:extLst>
          </p:cNvPr>
          <p:cNvSpPr txBox="1"/>
          <p:nvPr/>
        </p:nvSpPr>
        <p:spPr>
          <a:xfrm>
            <a:off x="112541" y="953339"/>
            <a:ext cx="963636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VIEW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を使用する際には、テーブル名と同等に使用することができるため、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文で使用する場合には、以下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のようになる。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,B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 ,C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[VIEW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1】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で作成したビューと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を使用して、売上日が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[2024/04/01]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のレコードから以下のフィールドを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取得する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売上伝票番号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売上日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得意先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明細番号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MakerCD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[Maker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8460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4395</TotalTime>
  <Words>851</Words>
  <Application>Microsoft Office PowerPoint</Application>
  <PresentationFormat>A4 210 x 297 mm</PresentationFormat>
  <Paragraphs>102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メイリオ</vt:lpstr>
      <vt:lpstr>Arial</vt:lpstr>
      <vt:lpstr>Calibri</vt:lpstr>
      <vt:lpstr>Office テーマ</vt:lpstr>
      <vt:lpstr>【第7回】VIEW(ビュー)について</vt:lpstr>
      <vt:lpstr>1. VIEW(ビュー)とは？</vt:lpstr>
      <vt:lpstr>2. VIEW(ビュー)の作成と利用方法</vt:lpstr>
      <vt:lpstr>2. VIEW(ビュー)の作成と利用方法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nagano</dc:creator>
  <cp:lastModifiedBy>ibcl177</cp:lastModifiedBy>
  <cp:revision>444</cp:revision>
  <cp:lastPrinted>2025-06-19T22:39:45Z</cp:lastPrinted>
  <dcterms:created xsi:type="dcterms:W3CDTF">2018-12-05T10:12:33Z</dcterms:created>
  <dcterms:modified xsi:type="dcterms:W3CDTF">2025-12-17T09:23:29Z</dcterms:modified>
</cp:coreProperties>
</file>