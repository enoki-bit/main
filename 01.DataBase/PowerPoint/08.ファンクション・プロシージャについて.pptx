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9"/>
  </p:notesMasterIdLst>
  <p:handoutMasterIdLst>
    <p:handoutMasterId r:id="rId10"/>
  </p:handout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</p:sldIdLst>
  <p:sldSz cx="9906000" cy="6858000" type="A4"/>
  <p:notesSz cx="9926638" cy="6797675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B548F347-E632-4B36-A0C2-9CCD7ED3F5B1}">
          <p14:sldIdLst>
            <p14:sldId id="256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719C"/>
    <a:srgbClr val="4171D5"/>
    <a:srgbClr val="419BD5"/>
    <a:srgbClr val="898989"/>
    <a:srgbClr val="55A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66061" autoAdjust="0"/>
  </p:normalViewPr>
  <p:slideViewPr>
    <p:cSldViewPr snapToGrid="0">
      <p:cViewPr varScale="1">
        <p:scale>
          <a:sx n="73" d="100"/>
          <a:sy n="73" d="100"/>
        </p:scale>
        <p:origin x="22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650" cy="340410"/>
          </a:xfrm>
          <a:prstGeom prst="rect">
            <a:avLst/>
          </a:prstGeom>
        </p:spPr>
        <p:txBody>
          <a:bodyPr vert="horz" lIns="62944" tIns="31473" rIns="62944" bIns="31473" rtlCol="0"/>
          <a:lstStyle>
            <a:lvl1pPr algn="l">
              <a:defRPr sz="8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5623402" y="0"/>
            <a:ext cx="4301650" cy="340410"/>
          </a:xfrm>
          <a:prstGeom prst="rect">
            <a:avLst/>
          </a:prstGeom>
        </p:spPr>
        <p:txBody>
          <a:bodyPr vert="horz" lIns="62944" tIns="31473" rIns="62944" bIns="31473" rtlCol="0"/>
          <a:lstStyle>
            <a:lvl1pPr algn="r">
              <a:defRPr sz="800"/>
            </a:lvl1pPr>
          </a:lstStyle>
          <a:p>
            <a:fld id="{E2576A4B-778B-4444-AC61-1986328B18B1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1" y="6457265"/>
            <a:ext cx="4301650" cy="340410"/>
          </a:xfrm>
          <a:prstGeom prst="rect">
            <a:avLst/>
          </a:prstGeom>
        </p:spPr>
        <p:txBody>
          <a:bodyPr vert="horz" lIns="62944" tIns="31473" rIns="62944" bIns="31473" rtlCol="0" anchor="b"/>
          <a:lstStyle>
            <a:lvl1pPr algn="l">
              <a:defRPr sz="8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5623402" y="6457265"/>
            <a:ext cx="4301650" cy="340410"/>
          </a:xfrm>
          <a:prstGeom prst="rect">
            <a:avLst/>
          </a:prstGeom>
        </p:spPr>
        <p:txBody>
          <a:bodyPr vert="horz" lIns="62944" tIns="31473" rIns="62944" bIns="31473" rtlCol="0" anchor="b"/>
          <a:lstStyle>
            <a:lvl1pPr algn="r">
              <a:defRPr sz="800"/>
            </a:lvl1pPr>
          </a:lstStyle>
          <a:p>
            <a:fld id="{0FADC253-00B3-415C-B4FD-22E7CAD8C24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07148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4" cy="341064"/>
          </a:xfrm>
          <a:prstGeom prst="rect">
            <a:avLst/>
          </a:prstGeom>
        </p:spPr>
        <p:txBody>
          <a:bodyPr vert="horz" lIns="95550" tIns="47775" rIns="95550" bIns="4777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622798" y="0"/>
            <a:ext cx="4301544" cy="341064"/>
          </a:xfrm>
          <a:prstGeom prst="rect">
            <a:avLst/>
          </a:prstGeom>
        </p:spPr>
        <p:txBody>
          <a:bodyPr vert="horz" lIns="95550" tIns="47775" rIns="95550" bIns="47775" rtlCol="0"/>
          <a:lstStyle>
            <a:lvl1pPr algn="r">
              <a:defRPr sz="1200"/>
            </a:lvl1pPr>
          </a:lstStyle>
          <a:p>
            <a:fld id="{77BB2CB4-990A-49C4-AADC-9B2CA19E50BC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306763" y="849313"/>
            <a:ext cx="3313112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50" tIns="47775" rIns="95550" bIns="4777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92665" y="3271383"/>
            <a:ext cx="7941310" cy="2676584"/>
          </a:xfrm>
          <a:prstGeom prst="rect">
            <a:avLst/>
          </a:prstGeom>
        </p:spPr>
        <p:txBody>
          <a:bodyPr vert="horz" lIns="95550" tIns="47775" rIns="95550" bIns="4777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6456613"/>
            <a:ext cx="4301544" cy="341063"/>
          </a:xfrm>
          <a:prstGeom prst="rect">
            <a:avLst/>
          </a:prstGeom>
        </p:spPr>
        <p:txBody>
          <a:bodyPr vert="horz" lIns="95550" tIns="47775" rIns="95550" bIns="4777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622798" y="6456613"/>
            <a:ext cx="4301544" cy="341063"/>
          </a:xfrm>
          <a:prstGeom prst="rect">
            <a:avLst/>
          </a:prstGeom>
        </p:spPr>
        <p:txBody>
          <a:bodyPr vert="horz" lIns="95550" tIns="47775" rIns="95550" bIns="47775" rtlCol="0" anchor="b"/>
          <a:lstStyle>
            <a:lvl1pPr algn="r">
              <a:defRPr sz="1200"/>
            </a:lvl1pPr>
          </a:lstStyle>
          <a:p>
            <a:fld id="{30F9B3CF-BB5E-499C-96DD-F47E22CF7B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0839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306763" y="849313"/>
            <a:ext cx="3313112" cy="2293937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9B3CF-BB5E-499C-96DD-F47E22CF7B26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2228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【</a:t>
            </a:r>
            <a:r>
              <a:rPr kumimoji="1" lang="ja-JP" altLang="en-US" dirty="0"/>
              <a:t>例題</a:t>
            </a:r>
            <a:r>
              <a:rPr kumimoji="1" lang="en-US" altLang="ja-JP" dirty="0"/>
              <a:t>1】</a:t>
            </a:r>
          </a:p>
          <a:p>
            <a:r>
              <a:rPr kumimoji="1" lang="en-US" altLang="ja-JP" dirty="0"/>
              <a:t>SELECT</a:t>
            </a:r>
          </a:p>
          <a:p>
            <a:r>
              <a:rPr kumimoji="1" lang="en-US" altLang="ja-JP" dirty="0"/>
              <a:t>    </a:t>
            </a:r>
            <a:r>
              <a:rPr kumimoji="1" lang="en-US" altLang="ja-JP" dirty="0" err="1"/>
              <a:t>GET_YakushokuName</a:t>
            </a:r>
            <a:r>
              <a:rPr kumimoji="1" lang="en-US" altLang="ja-JP" dirty="0"/>
              <a:t>(3);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【</a:t>
            </a:r>
            <a:r>
              <a:rPr kumimoji="1" lang="ja-JP" altLang="en-US" dirty="0"/>
              <a:t>例題</a:t>
            </a:r>
            <a:r>
              <a:rPr kumimoji="1" lang="en-US" altLang="ja-JP" dirty="0"/>
              <a:t>2】</a:t>
            </a:r>
          </a:p>
          <a:p>
            <a:r>
              <a:rPr kumimoji="1" lang="en-US" altLang="ja-JP" dirty="0"/>
              <a:t>CREATE FUNCTION `</a:t>
            </a:r>
            <a:r>
              <a:rPr kumimoji="1" lang="en-US" altLang="ja-JP" dirty="0" err="1"/>
              <a:t>GET_ShohinBunruiName_Nagano</a:t>
            </a:r>
            <a:r>
              <a:rPr kumimoji="1" lang="en-US" altLang="ja-JP" dirty="0"/>
              <a:t>`</a:t>
            </a:r>
          </a:p>
          <a:p>
            <a:r>
              <a:rPr kumimoji="1" lang="en-US" altLang="ja-JP" dirty="0"/>
              <a:t>(</a:t>
            </a:r>
          </a:p>
          <a:p>
            <a:r>
              <a:rPr kumimoji="1" lang="en-US" altLang="ja-JP" dirty="0"/>
              <a:t>    Pra_</a:t>
            </a:r>
            <a:r>
              <a:rPr kumimoji="1" lang="ja-JP" altLang="en-US" dirty="0"/>
              <a:t>商品分類</a:t>
            </a:r>
            <a:r>
              <a:rPr kumimoji="1" lang="en-US" altLang="ja-JP" dirty="0"/>
              <a:t>CD INT</a:t>
            </a:r>
          </a:p>
          <a:p>
            <a:r>
              <a:rPr kumimoji="1" lang="en-US" altLang="ja-JP" dirty="0"/>
              <a:t>) RETURNS varchar(60) CHARSET utf8mb4</a:t>
            </a:r>
          </a:p>
          <a:p>
            <a:r>
              <a:rPr kumimoji="1" lang="en-US" altLang="ja-JP" dirty="0"/>
              <a:t>BEGIN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    -- // </a:t>
            </a:r>
            <a:r>
              <a:rPr kumimoji="1" lang="ja-JP" altLang="en-US" dirty="0"/>
              <a:t>定数定義 </a:t>
            </a:r>
            <a:r>
              <a:rPr kumimoji="1" lang="en-US" altLang="ja-JP" dirty="0"/>
              <a:t>Start ================================================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    DECLARE </a:t>
            </a:r>
            <a:r>
              <a:rPr kumimoji="1" lang="en-US" altLang="ja-JP" dirty="0" err="1"/>
              <a:t>Cnst</a:t>
            </a:r>
            <a:r>
              <a:rPr kumimoji="1" lang="en-US" altLang="ja-JP" dirty="0"/>
              <a:t>_</a:t>
            </a:r>
            <a:r>
              <a:rPr kumimoji="1" lang="ja-JP" altLang="en-US" dirty="0"/>
              <a:t>削除</a:t>
            </a:r>
            <a:r>
              <a:rPr kumimoji="1" lang="en-US" altLang="ja-JP" dirty="0"/>
              <a:t>FLG_</a:t>
            </a:r>
            <a:r>
              <a:rPr kumimoji="1" lang="ja-JP" altLang="en-US" dirty="0"/>
              <a:t>未削除 </a:t>
            </a:r>
            <a:r>
              <a:rPr kumimoji="1" lang="en-US" altLang="ja-JP" dirty="0"/>
              <a:t>INT DEFAULT 0;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    -- // </a:t>
            </a:r>
            <a:r>
              <a:rPr kumimoji="1" lang="ja-JP" altLang="en-US" dirty="0"/>
              <a:t>定数定義 </a:t>
            </a:r>
            <a:r>
              <a:rPr kumimoji="1" lang="en-US" altLang="ja-JP" dirty="0"/>
              <a:t>End ==================================================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    -- // </a:t>
            </a:r>
            <a:r>
              <a:rPr kumimoji="1" lang="ja-JP" altLang="en-US" dirty="0"/>
              <a:t>変数定義 </a:t>
            </a:r>
            <a:r>
              <a:rPr kumimoji="1" lang="en-US" altLang="ja-JP" dirty="0"/>
              <a:t>Start ================================================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    DECLARE </a:t>
            </a:r>
            <a:r>
              <a:rPr kumimoji="1" lang="ja-JP" altLang="en-US" dirty="0"/>
              <a:t>変数</a:t>
            </a:r>
            <a:r>
              <a:rPr kumimoji="1" lang="en-US" altLang="ja-JP" dirty="0"/>
              <a:t>_</a:t>
            </a:r>
            <a:r>
              <a:rPr kumimoji="1" lang="ja-JP" altLang="en-US" dirty="0"/>
              <a:t>商品分類名 </a:t>
            </a:r>
            <a:r>
              <a:rPr kumimoji="1" lang="en-US" altLang="ja-JP" dirty="0"/>
              <a:t>VARCHAR(60);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    -- // </a:t>
            </a:r>
            <a:r>
              <a:rPr kumimoji="1" lang="ja-JP" altLang="en-US" dirty="0"/>
              <a:t>変数定義 </a:t>
            </a:r>
            <a:r>
              <a:rPr kumimoji="1" lang="en-US" altLang="ja-JP" dirty="0"/>
              <a:t>End ==================================================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    -- // </a:t>
            </a:r>
            <a:r>
              <a:rPr kumimoji="1" lang="ja-JP" altLang="en-US" dirty="0"/>
              <a:t>変数の初期化</a:t>
            </a:r>
          </a:p>
          <a:p>
            <a:r>
              <a:rPr kumimoji="1" lang="ja-JP" altLang="en-US" dirty="0"/>
              <a:t>    </a:t>
            </a:r>
            <a:r>
              <a:rPr kumimoji="1" lang="en-US" altLang="ja-JP" dirty="0"/>
              <a:t>SET </a:t>
            </a:r>
            <a:r>
              <a:rPr kumimoji="1" lang="ja-JP" altLang="en-US" dirty="0"/>
              <a:t>変数</a:t>
            </a:r>
            <a:r>
              <a:rPr kumimoji="1" lang="en-US" altLang="ja-JP" dirty="0"/>
              <a:t>_</a:t>
            </a:r>
            <a:r>
              <a:rPr kumimoji="1" lang="ja-JP" altLang="en-US" dirty="0"/>
              <a:t>商品分類名 </a:t>
            </a:r>
            <a:r>
              <a:rPr kumimoji="1" lang="en-US" altLang="ja-JP" dirty="0"/>
              <a:t>= '';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    -- // </a:t>
            </a:r>
            <a:r>
              <a:rPr kumimoji="1" lang="ja-JP" altLang="en-US" dirty="0"/>
              <a:t>パラメータのチェック</a:t>
            </a:r>
          </a:p>
          <a:p>
            <a:r>
              <a:rPr kumimoji="1" lang="ja-JP" altLang="en-US" dirty="0"/>
              <a:t>    </a:t>
            </a:r>
            <a:r>
              <a:rPr kumimoji="1" lang="en-US" altLang="ja-JP" dirty="0"/>
              <a:t>IF Pra_</a:t>
            </a:r>
            <a:r>
              <a:rPr kumimoji="1" lang="ja-JP" altLang="en-US" dirty="0"/>
              <a:t>商品分類</a:t>
            </a:r>
            <a:r>
              <a:rPr kumimoji="1" lang="en-US" altLang="ja-JP" dirty="0"/>
              <a:t>CD IS NULL THEN</a:t>
            </a:r>
          </a:p>
          <a:p>
            <a:r>
              <a:rPr kumimoji="1" lang="en-US" altLang="ja-JP" dirty="0"/>
              <a:t>        RETURN </a:t>
            </a:r>
            <a:r>
              <a:rPr kumimoji="1" lang="ja-JP" altLang="en-US" dirty="0"/>
              <a:t>変数</a:t>
            </a:r>
            <a:r>
              <a:rPr kumimoji="1" lang="en-US" altLang="ja-JP" dirty="0"/>
              <a:t>_</a:t>
            </a:r>
            <a:r>
              <a:rPr kumimoji="1" lang="ja-JP" altLang="en-US" dirty="0"/>
              <a:t>商品分類名</a:t>
            </a:r>
            <a:r>
              <a:rPr kumimoji="1" lang="en-US" altLang="ja-JP" dirty="0"/>
              <a:t>;</a:t>
            </a:r>
          </a:p>
          <a:p>
            <a:r>
              <a:rPr kumimoji="1" lang="en-US" altLang="ja-JP" dirty="0"/>
              <a:t>    END IF;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/*</a:t>
            </a:r>
          </a:p>
          <a:p>
            <a:r>
              <a:rPr kumimoji="1" lang="en-US" altLang="ja-JP" dirty="0"/>
              <a:t>      SELECT</a:t>
            </a:r>
          </a:p>
          <a:p>
            <a:r>
              <a:rPr kumimoji="1" lang="en-US" altLang="ja-JP" dirty="0"/>
              <a:t>        </a:t>
            </a:r>
            <a:r>
              <a:rPr kumimoji="1" lang="ja-JP" altLang="en-US" dirty="0"/>
              <a:t>商品分類名</a:t>
            </a:r>
          </a:p>
          <a:p>
            <a:r>
              <a:rPr kumimoji="1" lang="ja-JP" altLang="en-US" dirty="0"/>
              <a:t>    </a:t>
            </a:r>
            <a:r>
              <a:rPr kumimoji="1" lang="en-US" altLang="ja-JP" dirty="0"/>
              <a:t>INTO </a:t>
            </a:r>
            <a:r>
              <a:rPr kumimoji="1" lang="ja-JP" altLang="en-US" dirty="0"/>
              <a:t>変数</a:t>
            </a:r>
            <a:r>
              <a:rPr kumimoji="1" lang="en-US" altLang="ja-JP" dirty="0"/>
              <a:t>_</a:t>
            </a:r>
            <a:r>
              <a:rPr kumimoji="1" lang="ja-JP" altLang="en-US" dirty="0"/>
              <a:t>商品分類名</a:t>
            </a:r>
          </a:p>
          <a:p>
            <a:r>
              <a:rPr kumimoji="1" lang="ja-JP" altLang="en-US" dirty="0"/>
              <a:t>    </a:t>
            </a:r>
            <a:r>
              <a:rPr kumimoji="1" lang="en-US" altLang="ja-JP" dirty="0"/>
              <a:t>FROM m_</a:t>
            </a:r>
            <a:r>
              <a:rPr kumimoji="1" lang="ja-JP" altLang="en-US" dirty="0"/>
              <a:t>商品分類</a:t>
            </a:r>
          </a:p>
          <a:p>
            <a:r>
              <a:rPr kumimoji="1" lang="ja-JP" altLang="en-US" dirty="0"/>
              <a:t>    </a:t>
            </a:r>
            <a:r>
              <a:rPr kumimoji="1" lang="en-US" altLang="ja-JP" dirty="0"/>
              <a:t>WHERE </a:t>
            </a:r>
            <a:r>
              <a:rPr kumimoji="1" lang="ja-JP" altLang="en-US" dirty="0"/>
              <a:t>商品分類</a:t>
            </a:r>
            <a:r>
              <a:rPr kumimoji="1" lang="en-US" altLang="ja-JP" dirty="0"/>
              <a:t>CD = Pra_</a:t>
            </a:r>
            <a:r>
              <a:rPr kumimoji="1" lang="ja-JP" altLang="en-US" dirty="0"/>
              <a:t>商品分類</a:t>
            </a:r>
            <a:r>
              <a:rPr kumimoji="1" lang="en-US" altLang="ja-JP" dirty="0"/>
              <a:t>CD</a:t>
            </a:r>
          </a:p>
          <a:p>
            <a:r>
              <a:rPr kumimoji="1" lang="en-US" altLang="ja-JP" dirty="0"/>
              <a:t>      AND </a:t>
            </a:r>
            <a:r>
              <a:rPr kumimoji="1" lang="ja-JP" altLang="en-US" dirty="0"/>
              <a:t>削除</a:t>
            </a:r>
            <a:r>
              <a:rPr kumimoji="1" lang="en-US" altLang="ja-JP" dirty="0"/>
              <a:t>FLG = </a:t>
            </a:r>
            <a:r>
              <a:rPr kumimoji="1" lang="en-US" altLang="ja-JP" dirty="0" err="1"/>
              <a:t>Cnst</a:t>
            </a:r>
            <a:r>
              <a:rPr kumimoji="1" lang="en-US" altLang="ja-JP" dirty="0"/>
              <a:t>_</a:t>
            </a:r>
            <a:r>
              <a:rPr kumimoji="1" lang="ja-JP" altLang="en-US" dirty="0"/>
              <a:t>削除</a:t>
            </a:r>
            <a:r>
              <a:rPr kumimoji="1" lang="en-US" altLang="ja-JP" dirty="0"/>
              <a:t>FLG_</a:t>
            </a:r>
            <a:r>
              <a:rPr kumimoji="1" lang="ja-JP" altLang="en-US" dirty="0"/>
              <a:t>未削除</a:t>
            </a:r>
            <a:r>
              <a:rPr kumimoji="1" lang="en-US" altLang="ja-JP" dirty="0"/>
              <a:t>;</a:t>
            </a:r>
          </a:p>
          <a:p>
            <a:r>
              <a:rPr kumimoji="1" lang="en-US" altLang="ja-JP" dirty="0"/>
              <a:t>*/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  SET </a:t>
            </a:r>
            <a:r>
              <a:rPr kumimoji="1" lang="ja-JP" altLang="en-US" dirty="0"/>
              <a:t>変数</a:t>
            </a:r>
            <a:r>
              <a:rPr kumimoji="1" lang="en-US" altLang="ja-JP" dirty="0"/>
              <a:t>_</a:t>
            </a:r>
            <a:r>
              <a:rPr kumimoji="1" lang="ja-JP" altLang="en-US" dirty="0"/>
              <a:t>商品分類名 </a:t>
            </a:r>
            <a:r>
              <a:rPr kumimoji="1" lang="en-US" altLang="ja-JP" dirty="0"/>
              <a:t>=</a:t>
            </a:r>
          </a:p>
          <a:p>
            <a:r>
              <a:rPr kumimoji="1" lang="en-US" altLang="ja-JP" dirty="0"/>
              <a:t>    (</a:t>
            </a:r>
          </a:p>
          <a:p>
            <a:r>
              <a:rPr kumimoji="1" lang="en-US" altLang="ja-JP" dirty="0"/>
              <a:t>        SELECT</a:t>
            </a:r>
          </a:p>
          <a:p>
            <a:r>
              <a:rPr kumimoji="1" lang="en-US" altLang="ja-JP" dirty="0"/>
              <a:t>            </a:t>
            </a:r>
            <a:r>
              <a:rPr kumimoji="1" lang="ja-JP" altLang="en-US" dirty="0"/>
              <a:t>商品分類名</a:t>
            </a:r>
          </a:p>
          <a:p>
            <a:r>
              <a:rPr kumimoji="1" lang="ja-JP" altLang="en-US" dirty="0"/>
              <a:t>        </a:t>
            </a:r>
            <a:r>
              <a:rPr kumimoji="1" lang="en-US" altLang="ja-JP" dirty="0"/>
              <a:t>FROM m_</a:t>
            </a:r>
            <a:r>
              <a:rPr kumimoji="1" lang="ja-JP" altLang="en-US" dirty="0"/>
              <a:t>商品分類</a:t>
            </a:r>
          </a:p>
          <a:p>
            <a:r>
              <a:rPr kumimoji="1" lang="ja-JP" altLang="en-US" dirty="0"/>
              <a:t>        </a:t>
            </a:r>
            <a:r>
              <a:rPr kumimoji="1" lang="en-US" altLang="ja-JP" dirty="0"/>
              <a:t>WHERE </a:t>
            </a:r>
            <a:r>
              <a:rPr kumimoji="1" lang="ja-JP" altLang="en-US" dirty="0"/>
              <a:t>商品分類</a:t>
            </a:r>
            <a:r>
              <a:rPr kumimoji="1" lang="en-US" altLang="ja-JP" dirty="0"/>
              <a:t>CD = Pra_</a:t>
            </a:r>
            <a:r>
              <a:rPr kumimoji="1" lang="ja-JP" altLang="en-US" dirty="0"/>
              <a:t>商品分類</a:t>
            </a:r>
            <a:r>
              <a:rPr kumimoji="1" lang="en-US" altLang="ja-JP" dirty="0"/>
              <a:t>CD</a:t>
            </a:r>
          </a:p>
          <a:p>
            <a:r>
              <a:rPr kumimoji="1" lang="en-US" altLang="ja-JP" dirty="0"/>
              <a:t>          AND </a:t>
            </a:r>
            <a:r>
              <a:rPr kumimoji="1" lang="ja-JP" altLang="en-US" dirty="0"/>
              <a:t>削除</a:t>
            </a:r>
            <a:r>
              <a:rPr kumimoji="1" lang="en-US" altLang="ja-JP" dirty="0"/>
              <a:t>FLG = </a:t>
            </a:r>
            <a:r>
              <a:rPr kumimoji="1" lang="en-US" altLang="ja-JP" dirty="0" err="1"/>
              <a:t>Cnst</a:t>
            </a:r>
            <a:r>
              <a:rPr kumimoji="1" lang="en-US" altLang="ja-JP" dirty="0"/>
              <a:t>_</a:t>
            </a:r>
            <a:r>
              <a:rPr kumimoji="1" lang="ja-JP" altLang="en-US" dirty="0"/>
              <a:t>削除</a:t>
            </a:r>
            <a:r>
              <a:rPr kumimoji="1" lang="en-US" altLang="ja-JP" dirty="0"/>
              <a:t>FLG_</a:t>
            </a:r>
            <a:r>
              <a:rPr kumimoji="1" lang="ja-JP" altLang="en-US" dirty="0"/>
              <a:t>未削除</a:t>
            </a:r>
          </a:p>
          <a:p>
            <a:r>
              <a:rPr kumimoji="1" lang="ja-JP" altLang="en-US" dirty="0"/>
              <a:t>    </a:t>
            </a:r>
            <a:r>
              <a:rPr kumimoji="1" lang="en-US" altLang="ja-JP" dirty="0"/>
              <a:t>);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   RETURN </a:t>
            </a:r>
            <a:r>
              <a:rPr kumimoji="1" lang="ja-JP" altLang="en-US" dirty="0"/>
              <a:t>変数</a:t>
            </a:r>
            <a:r>
              <a:rPr kumimoji="1" lang="en-US" altLang="ja-JP" dirty="0"/>
              <a:t>_</a:t>
            </a:r>
            <a:r>
              <a:rPr kumimoji="1" lang="ja-JP" altLang="en-US" dirty="0"/>
              <a:t>商品分類名</a:t>
            </a:r>
            <a:r>
              <a:rPr kumimoji="1" lang="en-US" altLang="ja-JP" dirty="0"/>
              <a:t>;</a:t>
            </a:r>
          </a:p>
          <a:p>
            <a:r>
              <a:rPr kumimoji="1" lang="en-US" altLang="ja-JP" dirty="0"/>
              <a:t>END</a:t>
            </a:r>
          </a:p>
          <a:p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9B3CF-BB5E-499C-96DD-F47E22CF7B26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19632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【</a:t>
            </a:r>
            <a:r>
              <a:rPr kumimoji="1" lang="ja-JP" altLang="en-US" dirty="0"/>
              <a:t>例題</a:t>
            </a:r>
            <a:r>
              <a:rPr kumimoji="1" lang="en-US" altLang="ja-JP" dirty="0"/>
              <a:t>3】</a:t>
            </a:r>
          </a:p>
          <a:p>
            <a:r>
              <a:rPr kumimoji="1" lang="en-US" altLang="ja-JP" dirty="0"/>
              <a:t>CREATE PROCEDURE `</a:t>
            </a:r>
            <a:r>
              <a:rPr kumimoji="1" lang="en-US" altLang="ja-JP" dirty="0" err="1"/>
              <a:t>GET_UriageTax</a:t>
            </a:r>
            <a:r>
              <a:rPr kumimoji="1" lang="en-US" altLang="ja-JP" dirty="0"/>
              <a:t>`</a:t>
            </a:r>
          </a:p>
          <a:p>
            <a:r>
              <a:rPr kumimoji="1" lang="en-US" altLang="ja-JP" dirty="0"/>
              <a:t>(</a:t>
            </a:r>
          </a:p>
          <a:p>
            <a:r>
              <a:rPr kumimoji="1" lang="en-US" altLang="ja-JP" dirty="0"/>
              <a:t>    IN Pra_</a:t>
            </a:r>
            <a:r>
              <a:rPr kumimoji="1" lang="ja-JP" altLang="en-US" dirty="0"/>
              <a:t>処理日時 </a:t>
            </a:r>
            <a:r>
              <a:rPr kumimoji="1" lang="en-US" altLang="ja-JP" dirty="0"/>
              <a:t>DATETIME</a:t>
            </a:r>
          </a:p>
          <a:p>
            <a:r>
              <a:rPr kumimoji="1" lang="en-US" altLang="ja-JP" dirty="0"/>
              <a:t>   ,IN Pra_</a:t>
            </a:r>
            <a:r>
              <a:rPr kumimoji="1" lang="ja-JP" altLang="en-US" dirty="0"/>
              <a:t>処理者名 </a:t>
            </a:r>
            <a:r>
              <a:rPr kumimoji="1" lang="en-US" altLang="ja-JP" dirty="0"/>
              <a:t>VARCHAR(60)</a:t>
            </a:r>
          </a:p>
          <a:p>
            <a:r>
              <a:rPr kumimoji="1" lang="en-US" altLang="ja-JP" dirty="0"/>
              <a:t>   ,IN Pra_</a:t>
            </a:r>
            <a:r>
              <a:rPr kumimoji="1" lang="ja-JP" altLang="en-US" dirty="0"/>
              <a:t>処理機能</a:t>
            </a:r>
            <a:r>
              <a:rPr kumimoji="1" lang="en-US" altLang="ja-JP" dirty="0"/>
              <a:t>ID INT</a:t>
            </a:r>
          </a:p>
          <a:p>
            <a:r>
              <a:rPr kumimoji="1" lang="en-US" altLang="ja-JP" dirty="0"/>
              <a:t>   ,IN Pra_</a:t>
            </a:r>
            <a:r>
              <a:rPr kumimoji="1" lang="ja-JP" altLang="en-US" dirty="0"/>
              <a:t>端末</a:t>
            </a:r>
            <a:r>
              <a:rPr kumimoji="1" lang="en-US" altLang="ja-JP" dirty="0"/>
              <a:t>IP VARCHAR(15)</a:t>
            </a:r>
          </a:p>
          <a:p>
            <a:r>
              <a:rPr kumimoji="1" lang="en-US" altLang="ja-JP" dirty="0"/>
              <a:t>   ,IN Pra_</a:t>
            </a:r>
            <a:r>
              <a:rPr kumimoji="1" lang="ja-JP" altLang="en-US" dirty="0"/>
              <a:t>指定年月 </a:t>
            </a:r>
            <a:r>
              <a:rPr kumimoji="1" lang="en-US" altLang="ja-JP" dirty="0"/>
              <a:t>VARCHAR(7)</a:t>
            </a:r>
          </a:p>
          <a:p>
            <a:r>
              <a:rPr kumimoji="1" lang="en-US" altLang="ja-JP" dirty="0"/>
              <a:t>   ,OUT Pra_</a:t>
            </a:r>
            <a:r>
              <a:rPr kumimoji="1" lang="ja-JP" altLang="en-US" dirty="0"/>
              <a:t>処理結果 </a:t>
            </a:r>
            <a:r>
              <a:rPr kumimoji="1" lang="en-US" altLang="ja-JP" dirty="0"/>
              <a:t>INT</a:t>
            </a:r>
          </a:p>
          <a:p>
            <a:r>
              <a:rPr kumimoji="1" lang="en-US" altLang="ja-JP" dirty="0"/>
              <a:t>)</a:t>
            </a:r>
          </a:p>
          <a:p>
            <a:r>
              <a:rPr kumimoji="1" lang="en-US" altLang="ja-JP" dirty="0"/>
              <a:t>BEGIN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    -- // </a:t>
            </a:r>
            <a:r>
              <a:rPr kumimoji="1" lang="ja-JP" altLang="en-US" dirty="0"/>
              <a:t>定数定義 </a:t>
            </a:r>
            <a:r>
              <a:rPr kumimoji="1" lang="en-US" altLang="ja-JP" dirty="0"/>
              <a:t>Start ================================================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    DECLARE </a:t>
            </a:r>
            <a:r>
              <a:rPr kumimoji="1" lang="en-US" altLang="ja-JP" dirty="0" err="1"/>
              <a:t>Cnst</a:t>
            </a:r>
            <a:r>
              <a:rPr kumimoji="1" lang="en-US" altLang="ja-JP" dirty="0"/>
              <a:t>_</a:t>
            </a:r>
            <a:r>
              <a:rPr kumimoji="1" lang="ja-JP" altLang="en-US" dirty="0"/>
              <a:t>処理結果</a:t>
            </a:r>
            <a:r>
              <a:rPr kumimoji="1" lang="en-US" altLang="ja-JP" dirty="0"/>
              <a:t>_</a:t>
            </a:r>
            <a:r>
              <a:rPr kumimoji="1" lang="ja-JP" altLang="en-US" dirty="0"/>
              <a:t>正常 </a:t>
            </a:r>
            <a:r>
              <a:rPr kumimoji="1" lang="en-US" altLang="ja-JP" dirty="0"/>
              <a:t>INT DEFAULT 1;</a:t>
            </a:r>
          </a:p>
          <a:p>
            <a:r>
              <a:rPr kumimoji="1" lang="en-US" altLang="ja-JP" dirty="0"/>
              <a:t>    DECLARE </a:t>
            </a:r>
            <a:r>
              <a:rPr kumimoji="1" lang="en-US" altLang="ja-JP" dirty="0" err="1"/>
              <a:t>Cnst</a:t>
            </a:r>
            <a:r>
              <a:rPr kumimoji="1" lang="en-US" altLang="ja-JP" dirty="0"/>
              <a:t>_</a:t>
            </a:r>
            <a:r>
              <a:rPr kumimoji="1" lang="ja-JP" altLang="en-US" dirty="0"/>
              <a:t>処理結果</a:t>
            </a:r>
            <a:r>
              <a:rPr kumimoji="1" lang="en-US" altLang="ja-JP" dirty="0"/>
              <a:t>_ERR INT DEFAULT -9;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    DECLARE </a:t>
            </a:r>
            <a:r>
              <a:rPr kumimoji="1" lang="en-US" altLang="ja-JP" dirty="0" err="1"/>
              <a:t>Cnst</a:t>
            </a:r>
            <a:r>
              <a:rPr kumimoji="1" lang="en-US" altLang="ja-JP" dirty="0"/>
              <a:t>_</a:t>
            </a:r>
            <a:r>
              <a:rPr kumimoji="1" lang="ja-JP" altLang="en-US" dirty="0"/>
              <a:t>削除</a:t>
            </a:r>
            <a:r>
              <a:rPr kumimoji="1" lang="en-US" altLang="ja-JP" dirty="0"/>
              <a:t>FLG_</a:t>
            </a:r>
            <a:r>
              <a:rPr kumimoji="1" lang="ja-JP" altLang="en-US" dirty="0"/>
              <a:t>未削除 </a:t>
            </a:r>
            <a:r>
              <a:rPr kumimoji="1" lang="en-US" altLang="ja-JP" dirty="0"/>
              <a:t>INT DEFAULT 0;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    -- // </a:t>
            </a:r>
            <a:r>
              <a:rPr kumimoji="1" lang="ja-JP" altLang="en-US" dirty="0"/>
              <a:t>定数定義 </a:t>
            </a:r>
            <a:r>
              <a:rPr kumimoji="1" lang="en-US" altLang="ja-JP" dirty="0"/>
              <a:t>End ==================================================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    -- // </a:t>
            </a:r>
            <a:r>
              <a:rPr kumimoji="1" lang="ja-JP" altLang="en-US" dirty="0"/>
              <a:t>変数定義 </a:t>
            </a:r>
            <a:r>
              <a:rPr kumimoji="1" lang="en-US" altLang="ja-JP" dirty="0"/>
              <a:t>Start ================================================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    DECLARE </a:t>
            </a:r>
            <a:r>
              <a:rPr kumimoji="1" lang="ja-JP" altLang="en-US" dirty="0"/>
              <a:t>変数</a:t>
            </a:r>
            <a:r>
              <a:rPr kumimoji="1" lang="en-US" altLang="ja-JP" dirty="0"/>
              <a:t>_</a:t>
            </a:r>
            <a:r>
              <a:rPr kumimoji="1" lang="ja-JP" altLang="en-US" dirty="0"/>
              <a:t>売上年月日</a:t>
            </a:r>
            <a:r>
              <a:rPr kumimoji="1" lang="en-US" altLang="ja-JP" dirty="0"/>
              <a:t>_</a:t>
            </a:r>
            <a:r>
              <a:rPr kumimoji="1" lang="ja-JP" altLang="en-US" dirty="0"/>
              <a:t>開始日 </a:t>
            </a:r>
            <a:r>
              <a:rPr kumimoji="1" lang="en-US" altLang="ja-JP" dirty="0"/>
              <a:t>VARCHAR(10);</a:t>
            </a:r>
          </a:p>
          <a:p>
            <a:r>
              <a:rPr kumimoji="1" lang="en-US" altLang="ja-JP" dirty="0"/>
              <a:t>    DECLARE </a:t>
            </a:r>
            <a:r>
              <a:rPr kumimoji="1" lang="ja-JP" altLang="en-US" dirty="0"/>
              <a:t>変数</a:t>
            </a:r>
            <a:r>
              <a:rPr kumimoji="1" lang="en-US" altLang="ja-JP" dirty="0"/>
              <a:t>_</a:t>
            </a:r>
            <a:r>
              <a:rPr kumimoji="1" lang="ja-JP" altLang="en-US" dirty="0"/>
              <a:t>売上年月日</a:t>
            </a:r>
            <a:r>
              <a:rPr kumimoji="1" lang="en-US" altLang="ja-JP" dirty="0"/>
              <a:t>_</a:t>
            </a:r>
            <a:r>
              <a:rPr kumimoji="1" lang="ja-JP" altLang="en-US" dirty="0"/>
              <a:t>終了日 </a:t>
            </a:r>
            <a:r>
              <a:rPr kumimoji="1" lang="en-US" altLang="ja-JP" dirty="0"/>
              <a:t>VARCHAR(10);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    -- // </a:t>
            </a:r>
            <a:r>
              <a:rPr kumimoji="1" lang="ja-JP" altLang="en-US" dirty="0"/>
              <a:t>変数定義 </a:t>
            </a:r>
            <a:r>
              <a:rPr kumimoji="1" lang="en-US" altLang="ja-JP" dirty="0"/>
              <a:t>End ==================================================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    -- /// </a:t>
            </a:r>
            <a:r>
              <a:rPr kumimoji="1" lang="ja-JP" altLang="en-US" dirty="0"/>
              <a:t>例外時処理設定</a:t>
            </a:r>
          </a:p>
          <a:p>
            <a:r>
              <a:rPr kumimoji="1" lang="ja-JP" altLang="en-US" dirty="0"/>
              <a:t>    </a:t>
            </a:r>
            <a:r>
              <a:rPr kumimoji="1" lang="en-US" altLang="ja-JP" dirty="0"/>
              <a:t>DECLARE EXIT HANDLER FOR SQLEXCEPTION</a:t>
            </a:r>
          </a:p>
          <a:p>
            <a:r>
              <a:rPr kumimoji="1" lang="en-US" altLang="ja-JP" dirty="0"/>
              <a:t>    BEGIN</a:t>
            </a:r>
          </a:p>
          <a:p>
            <a:r>
              <a:rPr kumimoji="1" lang="en-US" altLang="ja-JP" dirty="0"/>
              <a:t>        SET Pra_</a:t>
            </a:r>
            <a:r>
              <a:rPr kumimoji="1" lang="ja-JP" altLang="en-US" dirty="0"/>
              <a:t>処理結果 </a:t>
            </a:r>
            <a:r>
              <a:rPr kumimoji="1" lang="en-US" altLang="ja-JP" dirty="0"/>
              <a:t>= </a:t>
            </a:r>
            <a:r>
              <a:rPr kumimoji="1" lang="en-US" altLang="ja-JP" dirty="0" err="1"/>
              <a:t>Cnst</a:t>
            </a:r>
            <a:r>
              <a:rPr kumimoji="1" lang="en-US" altLang="ja-JP" dirty="0"/>
              <a:t>_</a:t>
            </a:r>
            <a:r>
              <a:rPr kumimoji="1" lang="ja-JP" altLang="en-US" dirty="0"/>
              <a:t>処理結果</a:t>
            </a:r>
            <a:r>
              <a:rPr kumimoji="1" lang="en-US" altLang="ja-JP" dirty="0"/>
              <a:t>_ERR;</a:t>
            </a:r>
          </a:p>
          <a:p>
            <a:r>
              <a:rPr kumimoji="1" lang="en-US" altLang="ja-JP" dirty="0"/>
              <a:t>    END;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    METHOD:BEGIN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        -- // </a:t>
            </a:r>
            <a:r>
              <a:rPr kumimoji="1" lang="ja-JP" altLang="en-US" dirty="0"/>
              <a:t>パラメータのチェック</a:t>
            </a:r>
          </a:p>
          <a:p>
            <a:r>
              <a:rPr kumimoji="1" lang="ja-JP" altLang="en-US" dirty="0"/>
              <a:t>        </a:t>
            </a:r>
            <a:r>
              <a:rPr kumimoji="1" lang="en-US" altLang="ja-JP" dirty="0"/>
              <a:t>IF IFNULL(Pra_</a:t>
            </a:r>
            <a:r>
              <a:rPr kumimoji="1" lang="ja-JP" altLang="en-US" dirty="0"/>
              <a:t>端末</a:t>
            </a:r>
            <a:r>
              <a:rPr kumimoji="1" lang="en-US" altLang="ja-JP" dirty="0"/>
              <a:t>IP, '') = '' THEN</a:t>
            </a:r>
          </a:p>
          <a:p>
            <a:r>
              <a:rPr kumimoji="1" lang="en-US" altLang="ja-JP" dirty="0"/>
              <a:t>            SET Pra_</a:t>
            </a:r>
            <a:r>
              <a:rPr kumimoji="1" lang="ja-JP" altLang="en-US" dirty="0"/>
              <a:t>処理結果 </a:t>
            </a:r>
            <a:r>
              <a:rPr kumimoji="1" lang="en-US" altLang="ja-JP" dirty="0"/>
              <a:t>= </a:t>
            </a:r>
            <a:r>
              <a:rPr kumimoji="1" lang="en-US" altLang="ja-JP" dirty="0" err="1"/>
              <a:t>Cnst</a:t>
            </a:r>
            <a:r>
              <a:rPr kumimoji="1" lang="en-US" altLang="ja-JP" dirty="0"/>
              <a:t>_</a:t>
            </a:r>
            <a:r>
              <a:rPr kumimoji="1" lang="ja-JP" altLang="en-US" dirty="0"/>
              <a:t>処理結果</a:t>
            </a:r>
            <a:r>
              <a:rPr kumimoji="1" lang="en-US" altLang="ja-JP" dirty="0"/>
              <a:t>_ERR;</a:t>
            </a:r>
          </a:p>
          <a:p>
            <a:r>
              <a:rPr kumimoji="1" lang="en-US" altLang="ja-JP" dirty="0"/>
              <a:t>            LEAVE METHOD;</a:t>
            </a:r>
          </a:p>
          <a:p>
            <a:r>
              <a:rPr kumimoji="1" lang="en-US" altLang="ja-JP" dirty="0"/>
              <a:t>        END IF;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        IF IFNULL(Pra_</a:t>
            </a:r>
            <a:r>
              <a:rPr kumimoji="1" lang="ja-JP" altLang="en-US" dirty="0"/>
              <a:t>指定年月</a:t>
            </a:r>
            <a:r>
              <a:rPr kumimoji="1" lang="en-US" altLang="ja-JP" dirty="0"/>
              <a:t>, '') = '' THEN</a:t>
            </a:r>
          </a:p>
          <a:p>
            <a:r>
              <a:rPr kumimoji="1" lang="en-US" altLang="ja-JP" dirty="0"/>
              <a:t>            SET Pra_</a:t>
            </a:r>
            <a:r>
              <a:rPr kumimoji="1" lang="ja-JP" altLang="en-US" dirty="0"/>
              <a:t>処理結果 </a:t>
            </a:r>
            <a:r>
              <a:rPr kumimoji="1" lang="en-US" altLang="ja-JP" dirty="0"/>
              <a:t>= </a:t>
            </a:r>
            <a:r>
              <a:rPr kumimoji="1" lang="en-US" altLang="ja-JP" dirty="0" err="1"/>
              <a:t>Cnst</a:t>
            </a:r>
            <a:r>
              <a:rPr kumimoji="1" lang="en-US" altLang="ja-JP" dirty="0"/>
              <a:t>_</a:t>
            </a:r>
            <a:r>
              <a:rPr kumimoji="1" lang="ja-JP" altLang="en-US" dirty="0"/>
              <a:t>処理結果</a:t>
            </a:r>
            <a:r>
              <a:rPr kumimoji="1" lang="en-US" altLang="ja-JP" dirty="0"/>
              <a:t>_ERR;</a:t>
            </a:r>
          </a:p>
          <a:p>
            <a:r>
              <a:rPr kumimoji="1" lang="en-US" altLang="ja-JP" dirty="0"/>
              <a:t>            LEAVE METHOD;</a:t>
            </a:r>
          </a:p>
          <a:p>
            <a:r>
              <a:rPr kumimoji="1" lang="en-US" altLang="ja-JP" dirty="0"/>
              <a:t>        ELSEIF DAYOFYEAR(CONCAT(Pra_</a:t>
            </a:r>
            <a:r>
              <a:rPr kumimoji="1" lang="ja-JP" altLang="en-US" dirty="0"/>
              <a:t>指定年月</a:t>
            </a:r>
            <a:r>
              <a:rPr kumimoji="1" lang="en-US" altLang="ja-JP" dirty="0"/>
              <a:t>, '/01')) IS NULL THEN</a:t>
            </a:r>
          </a:p>
          <a:p>
            <a:r>
              <a:rPr kumimoji="1" lang="en-US" altLang="ja-JP" dirty="0"/>
              <a:t>            SET Pra_</a:t>
            </a:r>
            <a:r>
              <a:rPr kumimoji="1" lang="ja-JP" altLang="en-US" dirty="0"/>
              <a:t>処理結果 </a:t>
            </a:r>
            <a:r>
              <a:rPr kumimoji="1" lang="en-US" altLang="ja-JP" dirty="0"/>
              <a:t>= </a:t>
            </a:r>
            <a:r>
              <a:rPr kumimoji="1" lang="en-US" altLang="ja-JP" dirty="0" err="1"/>
              <a:t>Cnst</a:t>
            </a:r>
            <a:r>
              <a:rPr kumimoji="1" lang="en-US" altLang="ja-JP" dirty="0"/>
              <a:t>_</a:t>
            </a:r>
            <a:r>
              <a:rPr kumimoji="1" lang="ja-JP" altLang="en-US" dirty="0"/>
              <a:t>処理結果</a:t>
            </a:r>
            <a:r>
              <a:rPr kumimoji="1" lang="en-US" altLang="ja-JP" dirty="0"/>
              <a:t>_ERR;</a:t>
            </a:r>
          </a:p>
          <a:p>
            <a:r>
              <a:rPr kumimoji="1" lang="en-US" altLang="ja-JP" dirty="0"/>
              <a:t>            LEAVE METHOD;</a:t>
            </a:r>
          </a:p>
          <a:p>
            <a:r>
              <a:rPr kumimoji="1" lang="en-US" altLang="ja-JP" dirty="0"/>
              <a:t>        END IF;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        -- // </a:t>
            </a:r>
            <a:r>
              <a:rPr kumimoji="1" lang="ja-JP" altLang="en-US" dirty="0"/>
              <a:t>取得範囲の算出</a:t>
            </a:r>
          </a:p>
          <a:p>
            <a:r>
              <a:rPr kumimoji="1" lang="ja-JP" altLang="en-US" dirty="0"/>
              <a:t>        </a:t>
            </a:r>
            <a:r>
              <a:rPr kumimoji="1" lang="en-US" altLang="ja-JP" dirty="0"/>
              <a:t>SET </a:t>
            </a:r>
            <a:r>
              <a:rPr kumimoji="1" lang="ja-JP" altLang="en-US" dirty="0"/>
              <a:t>変数</a:t>
            </a:r>
            <a:r>
              <a:rPr kumimoji="1" lang="en-US" altLang="ja-JP" dirty="0"/>
              <a:t>_</a:t>
            </a:r>
            <a:r>
              <a:rPr kumimoji="1" lang="ja-JP" altLang="en-US" dirty="0"/>
              <a:t>売上年月日</a:t>
            </a:r>
            <a:r>
              <a:rPr kumimoji="1" lang="en-US" altLang="ja-JP" dirty="0"/>
              <a:t>_</a:t>
            </a:r>
            <a:r>
              <a:rPr kumimoji="1" lang="ja-JP" altLang="en-US" dirty="0"/>
              <a:t>開始日 </a:t>
            </a:r>
            <a:r>
              <a:rPr kumimoji="1" lang="en-US" altLang="ja-JP" dirty="0"/>
              <a:t>= CONCAT(Pra_</a:t>
            </a:r>
            <a:r>
              <a:rPr kumimoji="1" lang="ja-JP" altLang="en-US" dirty="0"/>
              <a:t>指定年月</a:t>
            </a:r>
            <a:r>
              <a:rPr kumimoji="1" lang="en-US" altLang="ja-JP" dirty="0"/>
              <a:t>, '/01');</a:t>
            </a:r>
          </a:p>
          <a:p>
            <a:r>
              <a:rPr kumimoji="1" lang="en-US" altLang="ja-JP" dirty="0"/>
              <a:t>        SET </a:t>
            </a:r>
            <a:r>
              <a:rPr kumimoji="1" lang="ja-JP" altLang="en-US" dirty="0"/>
              <a:t>変数</a:t>
            </a:r>
            <a:r>
              <a:rPr kumimoji="1" lang="en-US" altLang="ja-JP" dirty="0"/>
              <a:t>_</a:t>
            </a:r>
            <a:r>
              <a:rPr kumimoji="1" lang="ja-JP" altLang="en-US" dirty="0"/>
              <a:t>売上年月日</a:t>
            </a:r>
            <a:r>
              <a:rPr kumimoji="1" lang="en-US" altLang="ja-JP" dirty="0"/>
              <a:t>_</a:t>
            </a:r>
            <a:r>
              <a:rPr kumimoji="1" lang="ja-JP" altLang="en-US" dirty="0"/>
              <a:t>終了日 </a:t>
            </a:r>
            <a:r>
              <a:rPr kumimoji="1" lang="en-US" altLang="ja-JP" dirty="0"/>
              <a:t>= DATE_FORMAT(DATE_ADD(DATE_ADD(CONCAT(Pra_</a:t>
            </a:r>
            <a:r>
              <a:rPr kumimoji="1" lang="ja-JP" altLang="en-US" dirty="0"/>
              <a:t>指定年月</a:t>
            </a:r>
            <a:r>
              <a:rPr kumimoji="1" lang="en-US" altLang="ja-JP" dirty="0"/>
              <a:t>, '/01'), INTERVAL 1 MONTH), INTERVAL -1 DAY), '%Y/%m/%d');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        -- // w_</a:t>
            </a:r>
            <a:r>
              <a:rPr kumimoji="1" lang="ja-JP" altLang="en-US" dirty="0"/>
              <a:t>得意先別消費税 </a:t>
            </a:r>
            <a:r>
              <a:rPr kumimoji="1" lang="en-US" altLang="ja-JP" dirty="0"/>
              <a:t>DELETE</a:t>
            </a:r>
          </a:p>
          <a:p>
            <a:r>
              <a:rPr kumimoji="1" lang="en-US" altLang="ja-JP" dirty="0"/>
              <a:t>        DELETE FROM w_</a:t>
            </a:r>
            <a:r>
              <a:rPr kumimoji="1" lang="ja-JP" altLang="en-US" dirty="0"/>
              <a:t>得意先別消費税</a:t>
            </a:r>
          </a:p>
          <a:p>
            <a:r>
              <a:rPr kumimoji="1" lang="ja-JP" altLang="en-US" dirty="0"/>
              <a:t>        </a:t>
            </a:r>
            <a:r>
              <a:rPr kumimoji="1" lang="en-US" altLang="ja-JP" dirty="0"/>
              <a:t>WHERE </a:t>
            </a:r>
            <a:r>
              <a:rPr kumimoji="1" lang="ja-JP" altLang="en-US" dirty="0"/>
              <a:t>端末</a:t>
            </a:r>
            <a:r>
              <a:rPr kumimoji="1" lang="en-US" altLang="ja-JP" dirty="0"/>
              <a:t>IP = Pra_</a:t>
            </a:r>
            <a:r>
              <a:rPr kumimoji="1" lang="ja-JP" altLang="en-US" dirty="0"/>
              <a:t>端末</a:t>
            </a:r>
            <a:r>
              <a:rPr kumimoji="1" lang="en-US" altLang="ja-JP" dirty="0"/>
              <a:t>IP;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        -- // w_</a:t>
            </a:r>
            <a:r>
              <a:rPr kumimoji="1" lang="ja-JP" altLang="en-US" dirty="0"/>
              <a:t>得意先別消費税 </a:t>
            </a:r>
            <a:r>
              <a:rPr kumimoji="1" lang="en-US" altLang="ja-JP" dirty="0"/>
              <a:t>INSERT</a:t>
            </a:r>
          </a:p>
          <a:p>
            <a:r>
              <a:rPr kumimoji="1" lang="en-US" altLang="ja-JP" dirty="0"/>
              <a:t>        INSERT INTO w_</a:t>
            </a:r>
            <a:r>
              <a:rPr kumimoji="1" lang="ja-JP" altLang="en-US" dirty="0"/>
              <a:t>得意先別消費税</a:t>
            </a:r>
          </a:p>
          <a:p>
            <a:r>
              <a:rPr kumimoji="1" lang="ja-JP" altLang="en-US" dirty="0"/>
              <a:t>        </a:t>
            </a:r>
            <a:r>
              <a:rPr kumimoji="1" lang="en-US" altLang="ja-JP" dirty="0"/>
              <a:t>(</a:t>
            </a:r>
          </a:p>
          <a:p>
            <a:r>
              <a:rPr kumimoji="1" lang="en-US" altLang="ja-JP" dirty="0"/>
              <a:t>           </a:t>
            </a:r>
            <a:r>
              <a:rPr kumimoji="1" lang="ja-JP" altLang="en-US" dirty="0"/>
              <a:t>登録日時</a:t>
            </a:r>
          </a:p>
          <a:p>
            <a:r>
              <a:rPr kumimoji="1" lang="ja-JP" altLang="en-US" dirty="0"/>
              <a:t>          </a:t>
            </a:r>
            <a:r>
              <a:rPr kumimoji="1" lang="en-US" altLang="ja-JP" dirty="0"/>
              <a:t>,</a:t>
            </a:r>
            <a:r>
              <a:rPr kumimoji="1" lang="ja-JP" altLang="en-US" dirty="0"/>
              <a:t>登録者</a:t>
            </a:r>
          </a:p>
          <a:p>
            <a:r>
              <a:rPr kumimoji="1" lang="ja-JP" altLang="en-US" dirty="0"/>
              <a:t>          </a:t>
            </a:r>
            <a:r>
              <a:rPr kumimoji="1" lang="en-US" altLang="ja-JP" dirty="0"/>
              <a:t>,</a:t>
            </a:r>
            <a:r>
              <a:rPr kumimoji="1" lang="ja-JP" altLang="en-US" dirty="0"/>
              <a:t>登録機能</a:t>
            </a:r>
            <a:r>
              <a:rPr kumimoji="1" lang="en-US" altLang="ja-JP" dirty="0"/>
              <a:t>ID</a:t>
            </a:r>
          </a:p>
          <a:p>
            <a:r>
              <a:rPr kumimoji="1" lang="en-US" altLang="ja-JP" dirty="0"/>
              <a:t>          ,</a:t>
            </a:r>
            <a:r>
              <a:rPr kumimoji="1" lang="ja-JP" altLang="en-US" dirty="0"/>
              <a:t>更新日時</a:t>
            </a:r>
          </a:p>
          <a:p>
            <a:r>
              <a:rPr kumimoji="1" lang="ja-JP" altLang="en-US" dirty="0"/>
              <a:t>          </a:t>
            </a:r>
            <a:r>
              <a:rPr kumimoji="1" lang="en-US" altLang="ja-JP" dirty="0"/>
              <a:t>,</a:t>
            </a:r>
            <a:r>
              <a:rPr kumimoji="1" lang="ja-JP" altLang="en-US" dirty="0"/>
              <a:t>更新者</a:t>
            </a:r>
          </a:p>
          <a:p>
            <a:r>
              <a:rPr kumimoji="1" lang="ja-JP" altLang="en-US" dirty="0"/>
              <a:t>          </a:t>
            </a:r>
            <a:r>
              <a:rPr kumimoji="1" lang="en-US" altLang="ja-JP" dirty="0"/>
              <a:t>,</a:t>
            </a:r>
            <a:r>
              <a:rPr kumimoji="1" lang="ja-JP" altLang="en-US" dirty="0"/>
              <a:t>更新機能</a:t>
            </a:r>
            <a:r>
              <a:rPr kumimoji="1" lang="en-US" altLang="ja-JP" dirty="0"/>
              <a:t>ID</a:t>
            </a:r>
          </a:p>
          <a:p>
            <a:r>
              <a:rPr kumimoji="1" lang="en-US" altLang="ja-JP" dirty="0"/>
              <a:t>          ,</a:t>
            </a:r>
            <a:r>
              <a:rPr kumimoji="1" lang="ja-JP" altLang="en-US" dirty="0"/>
              <a:t>内部更新日時</a:t>
            </a:r>
          </a:p>
          <a:p>
            <a:r>
              <a:rPr kumimoji="1" lang="ja-JP" altLang="en-US" dirty="0"/>
              <a:t>          </a:t>
            </a:r>
            <a:r>
              <a:rPr kumimoji="1" lang="en-US" altLang="ja-JP" dirty="0"/>
              <a:t>,</a:t>
            </a:r>
            <a:r>
              <a:rPr kumimoji="1" lang="ja-JP" altLang="en-US" dirty="0"/>
              <a:t>内部更新者</a:t>
            </a:r>
          </a:p>
          <a:p>
            <a:r>
              <a:rPr kumimoji="1" lang="ja-JP" altLang="en-US" dirty="0"/>
              <a:t>          </a:t>
            </a:r>
            <a:r>
              <a:rPr kumimoji="1" lang="en-US" altLang="ja-JP" dirty="0"/>
              <a:t>,</a:t>
            </a:r>
            <a:r>
              <a:rPr kumimoji="1" lang="ja-JP" altLang="en-US" dirty="0"/>
              <a:t>内部更新機能</a:t>
            </a:r>
            <a:r>
              <a:rPr kumimoji="1" lang="en-US" altLang="ja-JP" dirty="0"/>
              <a:t>ID</a:t>
            </a:r>
          </a:p>
          <a:p>
            <a:r>
              <a:rPr kumimoji="1" lang="en-US" altLang="ja-JP" dirty="0"/>
              <a:t>          ,</a:t>
            </a:r>
            <a:r>
              <a:rPr kumimoji="1" lang="ja-JP" altLang="en-US" dirty="0"/>
              <a:t>削除</a:t>
            </a:r>
            <a:r>
              <a:rPr kumimoji="1" lang="en-US" altLang="ja-JP" dirty="0"/>
              <a:t>FLG</a:t>
            </a:r>
          </a:p>
          <a:p>
            <a:r>
              <a:rPr kumimoji="1" lang="en-US" altLang="ja-JP" dirty="0"/>
              <a:t>          ,</a:t>
            </a:r>
            <a:r>
              <a:rPr kumimoji="1" lang="ja-JP" altLang="en-US" dirty="0"/>
              <a:t>端末</a:t>
            </a:r>
            <a:r>
              <a:rPr kumimoji="1" lang="en-US" altLang="ja-JP" dirty="0"/>
              <a:t>IP</a:t>
            </a:r>
          </a:p>
          <a:p>
            <a:r>
              <a:rPr kumimoji="1" lang="en-US" altLang="ja-JP" dirty="0"/>
              <a:t>          ,</a:t>
            </a:r>
            <a:r>
              <a:rPr kumimoji="1" lang="ja-JP" altLang="en-US" dirty="0"/>
              <a:t>売上年月</a:t>
            </a:r>
          </a:p>
          <a:p>
            <a:r>
              <a:rPr kumimoji="1" lang="ja-JP" altLang="en-US" dirty="0"/>
              <a:t>          </a:t>
            </a:r>
            <a:r>
              <a:rPr kumimoji="1" lang="en-US" altLang="ja-JP" dirty="0"/>
              <a:t>,</a:t>
            </a:r>
            <a:r>
              <a:rPr kumimoji="1" lang="ja-JP" altLang="en-US" dirty="0"/>
              <a:t>得意先</a:t>
            </a:r>
            <a:r>
              <a:rPr kumimoji="1" lang="en-US" altLang="ja-JP" dirty="0"/>
              <a:t>CD</a:t>
            </a:r>
          </a:p>
          <a:p>
            <a:r>
              <a:rPr kumimoji="1" lang="en-US" altLang="ja-JP" dirty="0"/>
              <a:t>          ,</a:t>
            </a:r>
            <a:r>
              <a:rPr kumimoji="1" lang="ja-JP" altLang="en-US" dirty="0"/>
              <a:t>消費税額</a:t>
            </a:r>
          </a:p>
          <a:p>
            <a:r>
              <a:rPr kumimoji="1" lang="ja-JP" altLang="en-US" dirty="0"/>
              <a:t>        </a:t>
            </a:r>
            <a:r>
              <a:rPr kumimoji="1" lang="en-US" altLang="ja-JP" dirty="0"/>
              <a:t>)</a:t>
            </a:r>
          </a:p>
          <a:p>
            <a:r>
              <a:rPr kumimoji="1" lang="en-US" altLang="ja-JP" dirty="0"/>
              <a:t>        SELECT</a:t>
            </a:r>
          </a:p>
          <a:p>
            <a:r>
              <a:rPr kumimoji="1" lang="en-US" altLang="ja-JP" dirty="0"/>
              <a:t>            Pra_</a:t>
            </a:r>
            <a:r>
              <a:rPr kumimoji="1" lang="ja-JP" altLang="en-US" dirty="0"/>
              <a:t>処理日時 </a:t>
            </a:r>
            <a:r>
              <a:rPr kumimoji="1" lang="en-US" altLang="ja-JP" dirty="0"/>
              <a:t>AS </a:t>
            </a:r>
            <a:r>
              <a:rPr kumimoji="1" lang="ja-JP" altLang="en-US" dirty="0"/>
              <a:t>登録日時</a:t>
            </a:r>
          </a:p>
          <a:p>
            <a:r>
              <a:rPr kumimoji="1" lang="ja-JP" altLang="en-US" dirty="0"/>
              <a:t>           </a:t>
            </a:r>
            <a:r>
              <a:rPr kumimoji="1" lang="en-US" altLang="ja-JP" dirty="0"/>
              <a:t>,Pra_</a:t>
            </a:r>
            <a:r>
              <a:rPr kumimoji="1" lang="ja-JP" altLang="en-US" dirty="0"/>
              <a:t>処理者名 </a:t>
            </a:r>
            <a:r>
              <a:rPr kumimoji="1" lang="en-US" altLang="ja-JP" dirty="0"/>
              <a:t>AS </a:t>
            </a:r>
            <a:r>
              <a:rPr kumimoji="1" lang="ja-JP" altLang="en-US" dirty="0"/>
              <a:t>登録者</a:t>
            </a:r>
          </a:p>
          <a:p>
            <a:r>
              <a:rPr kumimoji="1" lang="ja-JP" altLang="en-US" dirty="0"/>
              <a:t>           </a:t>
            </a:r>
            <a:r>
              <a:rPr kumimoji="1" lang="en-US" altLang="ja-JP" dirty="0"/>
              <a:t>,Pra_</a:t>
            </a:r>
            <a:r>
              <a:rPr kumimoji="1" lang="ja-JP" altLang="en-US" dirty="0"/>
              <a:t>処理機能</a:t>
            </a:r>
            <a:r>
              <a:rPr kumimoji="1" lang="en-US" altLang="ja-JP" dirty="0"/>
              <a:t>ID AS </a:t>
            </a:r>
            <a:r>
              <a:rPr kumimoji="1" lang="ja-JP" altLang="en-US" dirty="0"/>
              <a:t>登録機能</a:t>
            </a:r>
            <a:r>
              <a:rPr kumimoji="1" lang="en-US" altLang="ja-JP" dirty="0"/>
              <a:t>ID</a:t>
            </a:r>
          </a:p>
          <a:p>
            <a:r>
              <a:rPr kumimoji="1" lang="en-US" altLang="ja-JP" dirty="0"/>
              <a:t>           ,Pra_</a:t>
            </a:r>
            <a:r>
              <a:rPr kumimoji="1" lang="ja-JP" altLang="en-US" dirty="0"/>
              <a:t>処理日時 </a:t>
            </a:r>
            <a:r>
              <a:rPr kumimoji="1" lang="en-US" altLang="ja-JP" dirty="0"/>
              <a:t>AS </a:t>
            </a:r>
            <a:r>
              <a:rPr kumimoji="1" lang="ja-JP" altLang="en-US" dirty="0"/>
              <a:t>更新日時</a:t>
            </a:r>
          </a:p>
          <a:p>
            <a:r>
              <a:rPr kumimoji="1" lang="ja-JP" altLang="en-US" dirty="0"/>
              <a:t>           </a:t>
            </a:r>
            <a:r>
              <a:rPr kumimoji="1" lang="en-US" altLang="ja-JP" dirty="0"/>
              <a:t>,Pra_</a:t>
            </a:r>
            <a:r>
              <a:rPr kumimoji="1" lang="ja-JP" altLang="en-US" dirty="0"/>
              <a:t>処理者名 </a:t>
            </a:r>
            <a:r>
              <a:rPr kumimoji="1" lang="en-US" altLang="ja-JP" dirty="0"/>
              <a:t>AS </a:t>
            </a:r>
            <a:r>
              <a:rPr kumimoji="1" lang="ja-JP" altLang="en-US" dirty="0"/>
              <a:t>更新者</a:t>
            </a:r>
          </a:p>
          <a:p>
            <a:r>
              <a:rPr kumimoji="1" lang="ja-JP" altLang="en-US" dirty="0"/>
              <a:t>           </a:t>
            </a:r>
            <a:r>
              <a:rPr kumimoji="1" lang="en-US" altLang="ja-JP" dirty="0"/>
              <a:t>,Pra_</a:t>
            </a:r>
            <a:r>
              <a:rPr kumimoji="1" lang="ja-JP" altLang="en-US" dirty="0"/>
              <a:t>処理機能</a:t>
            </a:r>
            <a:r>
              <a:rPr kumimoji="1" lang="en-US" altLang="ja-JP" dirty="0"/>
              <a:t>ID AS </a:t>
            </a:r>
            <a:r>
              <a:rPr kumimoji="1" lang="ja-JP" altLang="en-US" dirty="0"/>
              <a:t>更新機能</a:t>
            </a:r>
            <a:r>
              <a:rPr kumimoji="1" lang="en-US" altLang="ja-JP" dirty="0"/>
              <a:t>ID</a:t>
            </a:r>
          </a:p>
          <a:p>
            <a:r>
              <a:rPr kumimoji="1" lang="en-US" altLang="ja-JP" dirty="0"/>
              <a:t>           ,Pra_</a:t>
            </a:r>
            <a:r>
              <a:rPr kumimoji="1" lang="ja-JP" altLang="en-US" dirty="0"/>
              <a:t>処理日時 </a:t>
            </a:r>
            <a:r>
              <a:rPr kumimoji="1" lang="en-US" altLang="ja-JP" dirty="0"/>
              <a:t>AS </a:t>
            </a:r>
            <a:r>
              <a:rPr kumimoji="1" lang="ja-JP" altLang="en-US" dirty="0"/>
              <a:t>内部更新日時</a:t>
            </a:r>
          </a:p>
          <a:p>
            <a:r>
              <a:rPr kumimoji="1" lang="ja-JP" altLang="en-US" dirty="0"/>
              <a:t>           </a:t>
            </a:r>
            <a:r>
              <a:rPr kumimoji="1" lang="en-US" altLang="ja-JP" dirty="0"/>
              <a:t>,Pra_</a:t>
            </a:r>
            <a:r>
              <a:rPr kumimoji="1" lang="ja-JP" altLang="en-US" dirty="0"/>
              <a:t>処理者名 </a:t>
            </a:r>
            <a:r>
              <a:rPr kumimoji="1" lang="en-US" altLang="ja-JP" dirty="0"/>
              <a:t>AS </a:t>
            </a:r>
            <a:r>
              <a:rPr kumimoji="1" lang="ja-JP" altLang="en-US" dirty="0"/>
              <a:t>内部更新者</a:t>
            </a:r>
          </a:p>
          <a:p>
            <a:r>
              <a:rPr kumimoji="1" lang="ja-JP" altLang="en-US" dirty="0"/>
              <a:t>           </a:t>
            </a:r>
            <a:r>
              <a:rPr kumimoji="1" lang="en-US" altLang="ja-JP" dirty="0"/>
              <a:t>,Pra_</a:t>
            </a:r>
            <a:r>
              <a:rPr kumimoji="1" lang="ja-JP" altLang="en-US" dirty="0"/>
              <a:t>処理機能</a:t>
            </a:r>
            <a:r>
              <a:rPr kumimoji="1" lang="en-US" altLang="ja-JP" dirty="0"/>
              <a:t>ID AS </a:t>
            </a:r>
            <a:r>
              <a:rPr kumimoji="1" lang="ja-JP" altLang="en-US" dirty="0"/>
              <a:t>内部更新機能</a:t>
            </a:r>
            <a:r>
              <a:rPr kumimoji="1" lang="en-US" altLang="ja-JP" dirty="0"/>
              <a:t>ID</a:t>
            </a:r>
          </a:p>
          <a:p>
            <a:r>
              <a:rPr kumimoji="1" lang="en-US" altLang="ja-JP" dirty="0"/>
              <a:t>           ,</a:t>
            </a:r>
            <a:r>
              <a:rPr kumimoji="1" lang="en-US" altLang="ja-JP" dirty="0" err="1"/>
              <a:t>Cnst</a:t>
            </a:r>
            <a:r>
              <a:rPr kumimoji="1" lang="en-US" altLang="ja-JP" dirty="0"/>
              <a:t>_</a:t>
            </a:r>
            <a:r>
              <a:rPr kumimoji="1" lang="ja-JP" altLang="en-US" dirty="0"/>
              <a:t>削除</a:t>
            </a:r>
            <a:r>
              <a:rPr kumimoji="1" lang="en-US" altLang="ja-JP" dirty="0"/>
              <a:t>FLG_</a:t>
            </a:r>
            <a:r>
              <a:rPr kumimoji="1" lang="ja-JP" altLang="en-US" dirty="0"/>
              <a:t>未削除 </a:t>
            </a:r>
            <a:r>
              <a:rPr kumimoji="1" lang="en-US" altLang="ja-JP" dirty="0"/>
              <a:t>AS </a:t>
            </a:r>
            <a:r>
              <a:rPr kumimoji="1" lang="ja-JP" altLang="en-US" dirty="0"/>
              <a:t>削除</a:t>
            </a:r>
            <a:r>
              <a:rPr kumimoji="1" lang="en-US" altLang="ja-JP" dirty="0"/>
              <a:t>FLG</a:t>
            </a:r>
          </a:p>
          <a:p>
            <a:r>
              <a:rPr kumimoji="1" lang="en-US" altLang="ja-JP" dirty="0"/>
              <a:t>           ,Pra_</a:t>
            </a:r>
            <a:r>
              <a:rPr kumimoji="1" lang="ja-JP" altLang="en-US" dirty="0"/>
              <a:t>端末</a:t>
            </a:r>
            <a:r>
              <a:rPr kumimoji="1" lang="en-US" altLang="ja-JP" dirty="0"/>
              <a:t>IP AS </a:t>
            </a:r>
            <a:r>
              <a:rPr kumimoji="1" lang="ja-JP" altLang="en-US" dirty="0"/>
              <a:t>端末</a:t>
            </a:r>
            <a:r>
              <a:rPr kumimoji="1" lang="en-US" altLang="ja-JP" dirty="0"/>
              <a:t>IP</a:t>
            </a:r>
          </a:p>
          <a:p>
            <a:r>
              <a:rPr kumimoji="1" lang="en-US" altLang="ja-JP" dirty="0"/>
              <a:t>           ,SUBSTRING(</a:t>
            </a:r>
            <a:r>
              <a:rPr kumimoji="1" lang="en-US" altLang="ja-JP" dirty="0" err="1"/>
              <a:t>t_uri</a:t>
            </a:r>
            <a:r>
              <a:rPr kumimoji="1" lang="en-US" altLang="ja-JP" dirty="0"/>
              <a:t>.</a:t>
            </a:r>
            <a:r>
              <a:rPr kumimoji="1" lang="ja-JP" altLang="en-US" dirty="0"/>
              <a:t>売上日</a:t>
            </a:r>
            <a:r>
              <a:rPr kumimoji="1" lang="en-US" altLang="ja-JP" dirty="0"/>
              <a:t>, 1, 7) AS </a:t>
            </a:r>
            <a:r>
              <a:rPr kumimoji="1" lang="ja-JP" altLang="en-US" dirty="0"/>
              <a:t>売上年月</a:t>
            </a:r>
          </a:p>
          <a:p>
            <a:r>
              <a:rPr kumimoji="1" lang="ja-JP" altLang="en-US" dirty="0"/>
              <a:t>           </a:t>
            </a:r>
            <a:r>
              <a:rPr kumimoji="1" lang="en-US" altLang="ja-JP" dirty="0"/>
              <a:t>,</a:t>
            </a:r>
            <a:r>
              <a:rPr kumimoji="1" lang="en-US" altLang="ja-JP" dirty="0" err="1"/>
              <a:t>t_uri</a:t>
            </a:r>
            <a:r>
              <a:rPr kumimoji="1" lang="en-US" altLang="ja-JP" dirty="0"/>
              <a:t>.</a:t>
            </a:r>
            <a:r>
              <a:rPr kumimoji="1" lang="ja-JP" altLang="en-US" dirty="0"/>
              <a:t>得意先</a:t>
            </a:r>
            <a:r>
              <a:rPr kumimoji="1" lang="en-US" altLang="ja-JP" dirty="0"/>
              <a:t>CD</a:t>
            </a:r>
          </a:p>
          <a:p>
            <a:r>
              <a:rPr kumimoji="1" lang="en-US" altLang="ja-JP" dirty="0"/>
              <a:t>           ,SUM(ROUND(ROUND(</a:t>
            </a:r>
            <a:r>
              <a:rPr kumimoji="1" lang="en-US" altLang="ja-JP" dirty="0" err="1"/>
              <a:t>t_uri</a:t>
            </a:r>
            <a:r>
              <a:rPr kumimoji="1" lang="en-US" altLang="ja-JP" dirty="0"/>
              <a:t>.</a:t>
            </a:r>
            <a:r>
              <a:rPr kumimoji="1" lang="ja-JP" altLang="en-US" dirty="0"/>
              <a:t>販売数量 * </a:t>
            </a:r>
            <a:r>
              <a:rPr kumimoji="1" lang="en-US" altLang="ja-JP" dirty="0" err="1"/>
              <a:t>m_sho</a:t>
            </a:r>
            <a:r>
              <a:rPr kumimoji="1" lang="en-US" altLang="ja-JP" dirty="0"/>
              <a:t>.</a:t>
            </a:r>
            <a:r>
              <a:rPr kumimoji="1" lang="ja-JP" altLang="en-US" dirty="0"/>
              <a:t>税抜販売価格</a:t>
            </a:r>
            <a:r>
              <a:rPr kumimoji="1" lang="en-US" altLang="ja-JP" dirty="0"/>
              <a:t>, 0) * 0.1, 0)) AS </a:t>
            </a:r>
            <a:r>
              <a:rPr kumimoji="1" lang="ja-JP" altLang="en-US" dirty="0"/>
              <a:t>消費税額</a:t>
            </a:r>
          </a:p>
          <a:p>
            <a:r>
              <a:rPr kumimoji="1" lang="ja-JP" altLang="en-US" dirty="0"/>
              <a:t>        </a:t>
            </a:r>
            <a:r>
              <a:rPr kumimoji="1" lang="en-US" altLang="ja-JP" dirty="0"/>
              <a:t>FROM t_</a:t>
            </a:r>
            <a:r>
              <a:rPr kumimoji="1" lang="ja-JP" altLang="en-US" dirty="0"/>
              <a:t>売上 </a:t>
            </a:r>
            <a:r>
              <a:rPr kumimoji="1" lang="en-US" altLang="ja-JP" dirty="0" err="1"/>
              <a:t>t_uri</a:t>
            </a:r>
            <a:endParaRPr kumimoji="1" lang="en-US" altLang="ja-JP" dirty="0"/>
          </a:p>
          <a:p>
            <a:r>
              <a:rPr kumimoji="1" lang="en-US" altLang="ja-JP" dirty="0"/>
              <a:t>        LEFT JOIN m_</a:t>
            </a:r>
            <a:r>
              <a:rPr kumimoji="1" lang="ja-JP" altLang="en-US" dirty="0"/>
              <a:t>商品 </a:t>
            </a:r>
            <a:r>
              <a:rPr kumimoji="1" lang="en-US" altLang="ja-JP" dirty="0" err="1"/>
              <a:t>m_sho</a:t>
            </a:r>
            <a:endParaRPr kumimoji="1" lang="en-US" altLang="ja-JP" dirty="0"/>
          </a:p>
          <a:p>
            <a:r>
              <a:rPr kumimoji="1" lang="en-US" altLang="ja-JP" dirty="0"/>
              <a:t>            ON </a:t>
            </a:r>
            <a:r>
              <a:rPr kumimoji="1" lang="en-US" altLang="ja-JP" dirty="0" err="1"/>
              <a:t>t_uri</a:t>
            </a:r>
            <a:r>
              <a:rPr kumimoji="1" lang="en-US" altLang="ja-JP" dirty="0"/>
              <a:t>.</a:t>
            </a:r>
            <a:r>
              <a:rPr kumimoji="1" lang="ja-JP" altLang="en-US" dirty="0"/>
              <a:t>商品</a:t>
            </a:r>
            <a:r>
              <a:rPr kumimoji="1" lang="en-US" altLang="ja-JP" dirty="0"/>
              <a:t>CD = </a:t>
            </a:r>
            <a:r>
              <a:rPr kumimoji="1" lang="en-US" altLang="ja-JP" dirty="0" err="1"/>
              <a:t>m_sho</a:t>
            </a:r>
            <a:r>
              <a:rPr kumimoji="1" lang="en-US" altLang="ja-JP" dirty="0"/>
              <a:t>.</a:t>
            </a:r>
            <a:r>
              <a:rPr kumimoji="1" lang="ja-JP" altLang="en-US" dirty="0"/>
              <a:t>商品</a:t>
            </a:r>
            <a:r>
              <a:rPr kumimoji="1" lang="en-US" altLang="ja-JP" dirty="0"/>
              <a:t>CD</a:t>
            </a:r>
          </a:p>
          <a:p>
            <a:r>
              <a:rPr kumimoji="1" lang="en-US" altLang="ja-JP" dirty="0"/>
              <a:t>        WHERE </a:t>
            </a:r>
            <a:r>
              <a:rPr kumimoji="1" lang="en-US" altLang="ja-JP" dirty="0" err="1"/>
              <a:t>t_uri</a:t>
            </a:r>
            <a:r>
              <a:rPr kumimoji="1" lang="en-US" altLang="ja-JP" dirty="0"/>
              <a:t>.</a:t>
            </a:r>
            <a:r>
              <a:rPr kumimoji="1" lang="ja-JP" altLang="en-US" dirty="0"/>
              <a:t>売上日 </a:t>
            </a:r>
            <a:r>
              <a:rPr kumimoji="1" lang="en-US" altLang="ja-JP" dirty="0"/>
              <a:t>&gt;= </a:t>
            </a:r>
            <a:r>
              <a:rPr kumimoji="1" lang="ja-JP" altLang="en-US" dirty="0"/>
              <a:t>変数</a:t>
            </a:r>
            <a:r>
              <a:rPr kumimoji="1" lang="en-US" altLang="ja-JP" dirty="0"/>
              <a:t>_</a:t>
            </a:r>
            <a:r>
              <a:rPr kumimoji="1" lang="ja-JP" altLang="en-US" dirty="0"/>
              <a:t>売上年月日</a:t>
            </a:r>
            <a:r>
              <a:rPr kumimoji="1" lang="en-US" altLang="ja-JP" dirty="0"/>
              <a:t>_</a:t>
            </a:r>
            <a:r>
              <a:rPr kumimoji="1" lang="ja-JP" altLang="en-US" dirty="0"/>
              <a:t>開始日</a:t>
            </a:r>
          </a:p>
          <a:p>
            <a:r>
              <a:rPr kumimoji="1" lang="ja-JP" altLang="en-US" dirty="0"/>
              <a:t>          </a:t>
            </a:r>
            <a:r>
              <a:rPr kumimoji="1" lang="en-US" altLang="ja-JP" dirty="0"/>
              <a:t>AND </a:t>
            </a:r>
            <a:r>
              <a:rPr kumimoji="1" lang="en-US" altLang="ja-JP" dirty="0" err="1"/>
              <a:t>t_uri</a:t>
            </a:r>
            <a:r>
              <a:rPr kumimoji="1" lang="en-US" altLang="ja-JP" dirty="0"/>
              <a:t>.</a:t>
            </a:r>
            <a:r>
              <a:rPr kumimoji="1" lang="ja-JP" altLang="en-US" dirty="0"/>
              <a:t>売上日 </a:t>
            </a:r>
            <a:r>
              <a:rPr kumimoji="1" lang="en-US" altLang="ja-JP" dirty="0"/>
              <a:t>&lt;= </a:t>
            </a:r>
            <a:r>
              <a:rPr kumimoji="1" lang="ja-JP" altLang="en-US" dirty="0"/>
              <a:t>変数</a:t>
            </a:r>
            <a:r>
              <a:rPr kumimoji="1" lang="en-US" altLang="ja-JP" dirty="0"/>
              <a:t>_</a:t>
            </a:r>
            <a:r>
              <a:rPr kumimoji="1" lang="ja-JP" altLang="en-US" dirty="0"/>
              <a:t>売上年月日</a:t>
            </a:r>
            <a:r>
              <a:rPr kumimoji="1" lang="en-US" altLang="ja-JP" dirty="0"/>
              <a:t>_</a:t>
            </a:r>
            <a:r>
              <a:rPr kumimoji="1" lang="ja-JP" altLang="en-US" dirty="0"/>
              <a:t>終了日</a:t>
            </a:r>
          </a:p>
          <a:p>
            <a:r>
              <a:rPr kumimoji="1" lang="ja-JP" altLang="en-US" dirty="0"/>
              <a:t>          </a:t>
            </a:r>
            <a:r>
              <a:rPr kumimoji="1" lang="en-US" altLang="ja-JP" dirty="0"/>
              <a:t>AND </a:t>
            </a:r>
            <a:r>
              <a:rPr kumimoji="1" lang="en-US" altLang="ja-JP" dirty="0" err="1"/>
              <a:t>t_uri</a:t>
            </a:r>
            <a:r>
              <a:rPr kumimoji="1" lang="en-US" altLang="ja-JP" dirty="0"/>
              <a:t>.</a:t>
            </a:r>
            <a:r>
              <a:rPr kumimoji="1" lang="ja-JP" altLang="en-US" dirty="0"/>
              <a:t>削除</a:t>
            </a:r>
            <a:r>
              <a:rPr kumimoji="1" lang="en-US" altLang="ja-JP" dirty="0"/>
              <a:t>FLG = </a:t>
            </a:r>
            <a:r>
              <a:rPr kumimoji="1" lang="en-US" altLang="ja-JP" dirty="0" err="1"/>
              <a:t>Cnst</a:t>
            </a:r>
            <a:r>
              <a:rPr kumimoji="1" lang="en-US" altLang="ja-JP" dirty="0"/>
              <a:t>_</a:t>
            </a:r>
            <a:r>
              <a:rPr kumimoji="1" lang="ja-JP" altLang="en-US" dirty="0"/>
              <a:t>削除</a:t>
            </a:r>
            <a:r>
              <a:rPr kumimoji="1" lang="en-US" altLang="ja-JP" dirty="0"/>
              <a:t>FLG_</a:t>
            </a:r>
            <a:r>
              <a:rPr kumimoji="1" lang="ja-JP" altLang="en-US" dirty="0"/>
              <a:t>未削除</a:t>
            </a:r>
          </a:p>
          <a:p>
            <a:r>
              <a:rPr kumimoji="1" lang="ja-JP" altLang="en-US" dirty="0"/>
              <a:t>        </a:t>
            </a:r>
            <a:r>
              <a:rPr kumimoji="1" lang="en-US" altLang="ja-JP" dirty="0"/>
              <a:t>GROUP BY SUBSTRING(</a:t>
            </a:r>
            <a:r>
              <a:rPr kumimoji="1" lang="en-US" altLang="ja-JP" dirty="0" err="1"/>
              <a:t>t_uri</a:t>
            </a:r>
            <a:r>
              <a:rPr kumimoji="1" lang="en-US" altLang="ja-JP" dirty="0"/>
              <a:t>.</a:t>
            </a:r>
            <a:r>
              <a:rPr kumimoji="1" lang="ja-JP" altLang="en-US" dirty="0"/>
              <a:t>売上日</a:t>
            </a:r>
            <a:r>
              <a:rPr kumimoji="1" lang="en-US" altLang="ja-JP" dirty="0"/>
              <a:t>, 1, 7)</a:t>
            </a:r>
          </a:p>
          <a:p>
            <a:r>
              <a:rPr kumimoji="1" lang="en-US" altLang="ja-JP" dirty="0"/>
              <a:t>                ,</a:t>
            </a:r>
            <a:r>
              <a:rPr kumimoji="1" lang="en-US" altLang="ja-JP" dirty="0" err="1"/>
              <a:t>t_uri</a:t>
            </a:r>
            <a:r>
              <a:rPr kumimoji="1" lang="en-US" altLang="ja-JP" dirty="0"/>
              <a:t>.</a:t>
            </a:r>
            <a:r>
              <a:rPr kumimoji="1" lang="ja-JP" altLang="en-US" dirty="0"/>
              <a:t>得意先</a:t>
            </a:r>
            <a:r>
              <a:rPr kumimoji="1" lang="en-US" altLang="ja-JP" dirty="0"/>
              <a:t>CD;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        -- // </a:t>
            </a:r>
            <a:r>
              <a:rPr kumimoji="1" lang="ja-JP" altLang="en-US" dirty="0"/>
              <a:t>戻り値のセット</a:t>
            </a:r>
          </a:p>
          <a:p>
            <a:r>
              <a:rPr kumimoji="1" lang="ja-JP" altLang="en-US" dirty="0"/>
              <a:t>        </a:t>
            </a:r>
            <a:r>
              <a:rPr kumimoji="1" lang="en-US" altLang="ja-JP" dirty="0"/>
              <a:t>SET Pra_</a:t>
            </a:r>
            <a:r>
              <a:rPr kumimoji="1" lang="ja-JP" altLang="en-US" dirty="0"/>
              <a:t>処理結果 </a:t>
            </a:r>
            <a:r>
              <a:rPr kumimoji="1" lang="en-US" altLang="ja-JP" dirty="0"/>
              <a:t>= </a:t>
            </a:r>
            <a:r>
              <a:rPr kumimoji="1" lang="en-US" altLang="ja-JP" dirty="0" err="1"/>
              <a:t>Cnst</a:t>
            </a:r>
            <a:r>
              <a:rPr kumimoji="1" lang="en-US" altLang="ja-JP" dirty="0"/>
              <a:t>_</a:t>
            </a:r>
            <a:r>
              <a:rPr kumimoji="1" lang="ja-JP" altLang="en-US" dirty="0"/>
              <a:t>処理結果</a:t>
            </a:r>
            <a:r>
              <a:rPr kumimoji="1" lang="en-US" altLang="ja-JP" dirty="0"/>
              <a:t>_</a:t>
            </a:r>
            <a:r>
              <a:rPr kumimoji="1" lang="ja-JP" altLang="en-US" dirty="0"/>
              <a:t>正常</a:t>
            </a:r>
            <a:r>
              <a:rPr kumimoji="1" lang="en-US" altLang="ja-JP" dirty="0"/>
              <a:t>;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    END METHOD;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END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9B3CF-BB5E-499C-96DD-F47E22CF7B26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3775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906396"/>
            <a:ext cx="8420100" cy="72136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3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2820795"/>
            <a:ext cx="7429500" cy="72644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197" indent="0" algn="ctr">
              <a:buNone/>
              <a:defRPr sz="2000"/>
            </a:lvl2pPr>
            <a:lvl3pPr marL="914395" indent="0" algn="ctr">
              <a:buNone/>
              <a:defRPr sz="1800"/>
            </a:lvl3pPr>
            <a:lvl4pPr marL="1371592" indent="0" algn="ctr">
              <a:buNone/>
              <a:defRPr sz="1600"/>
            </a:lvl4pPr>
            <a:lvl5pPr marL="1828789" indent="0" algn="ctr">
              <a:buNone/>
              <a:defRPr sz="1600"/>
            </a:lvl5pPr>
            <a:lvl6pPr marL="2285987" indent="0" algn="ctr">
              <a:buNone/>
              <a:defRPr sz="1600"/>
            </a:lvl6pPr>
            <a:lvl7pPr marL="2743184" indent="0" algn="ctr">
              <a:buNone/>
              <a:defRPr sz="1600"/>
            </a:lvl7pPr>
            <a:lvl8pPr marL="3200381" indent="0" algn="ctr">
              <a:buNone/>
              <a:defRPr sz="1600"/>
            </a:lvl8pPr>
            <a:lvl9pPr marL="3657579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68260" y="6519600"/>
            <a:ext cx="2228850" cy="324000"/>
          </a:xfrm>
        </p:spPr>
        <p:txBody>
          <a:bodyPr/>
          <a:lstStyle>
            <a:lvl1pPr>
              <a:defRPr sz="11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fld id="{0BDC6CC0-337C-4DEC-BAED-08CE4EABF7AC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10" name="図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3440" y="37797"/>
            <a:ext cx="2672018" cy="46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828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12543" y="62073"/>
            <a:ext cx="9784308" cy="444366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lnSpc>
                <a:spcPts val="3360"/>
              </a:lnSpc>
              <a:defRPr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7668000" y="6543434"/>
            <a:ext cx="2228850" cy="276999"/>
          </a:xfrm>
        </p:spPr>
        <p:txBody>
          <a:bodyPr vert="horz">
            <a:noAutofit/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fld id="{0BDC6CC0-337C-4DEC-BAED-08CE4EABF7AC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65540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/>
          <p:cNvSpPr/>
          <p:nvPr userDrawn="1"/>
        </p:nvSpPr>
        <p:spPr>
          <a:xfrm>
            <a:off x="0" y="0"/>
            <a:ext cx="9906000" cy="540000"/>
          </a:xfrm>
          <a:prstGeom prst="rect">
            <a:avLst/>
          </a:prstGeom>
          <a:solidFill>
            <a:srgbClr val="55A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8000" y="6519932"/>
            <a:ext cx="2228850" cy="32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DC6CC0-337C-4DEC-BAED-08CE4EABF7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8" name="直線コネクタ 7"/>
          <p:cNvCxnSpPr/>
          <p:nvPr userDrawn="1"/>
        </p:nvCxnSpPr>
        <p:spPr>
          <a:xfrm>
            <a:off x="0" y="6478807"/>
            <a:ext cx="9906000" cy="0"/>
          </a:xfrm>
          <a:prstGeom prst="line">
            <a:avLst/>
          </a:prstGeom>
          <a:ln w="38100">
            <a:solidFill>
              <a:srgbClr val="55AC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4037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hf hdr="0" ftr="0" dt="0"/>
  <p:txStyles>
    <p:titleStyle>
      <a:lvl1pPr algn="l" defTabSz="914395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9" indent="-228599" algn="l" defTabSz="91439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6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93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91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8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85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3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80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77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9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7" algn="l" defTabSz="91439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5" algn="l" defTabSz="91439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2" algn="l" defTabSz="91439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9" algn="l" defTabSz="91439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7" algn="l" defTabSz="91439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4" algn="l" defTabSz="91439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1" algn="l" defTabSz="91439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79" algn="l" defTabSz="91439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42950" y="2170555"/>
            <a:ext cx="8420100" cy="721361"/>
          </a:xfrm>
        </p:spPr>
        <p:txBody>
          <a:bodyPr>
            <a:normAutofit/>
          </a:bodyPr>
          <a:lstStyle/>
          <a:p>
            <a:r>
              <a:rPr lang="en-US" altLang="ja-JP" sz="2800" dirty="0"/>
              <a:t>【</a:t>
            </a:r>
            <a:r>
              <a:rPr lang="ja-JP" altLang="en-US" sz="2800" dirty="0"/>
              <a:t>第</a:t>
            </a:r>
            <a:r>
              <a:rPr lang="en-US" altLang="ja-JP" sz="2800" dirty="0"/>
              <a:t>8</a:t>
            </a:r>
            <a:r>
              <a:rPr lang="ja-JP" altLang="en-US" sz="2800" dirty="0"/>
              <a:t>回</a:t>
            </a:r>
            <a:r>
              <a:rPr lang="en-US" altLang="ja-JP" sz="2800" dirty="0"/>
              <a:t>】</a:t>
            </a:r>
            <a:r>
              <a:rPr lang="ja-JP" altLang="en-US" sz="2800" dirty="0"/>
              <a:t>ファンクション・プロシージャについて</a:t>
            </a:r>
            <a:endParaRPr kumimoji="1" lang="ja-JP" altLang="en-US" sz="2800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6CC0-337C-4DEC-BAED-08CE4EABF7AC}" type="slidenum">
              <a:rPr lang="ja-JP" altLang="en-US" smtClean="0"/>
              <a:pPr/>
              <a:t>1</a:t>
            </a:fld>
            <a:endParaRPr lang="ja-JP" altLang="en-US"/>
          </a:p>
        </p:txBody>
      </p:sp>
      <p:sp>
        <p:nvSpPr>
          <p:cNvPr id="6" name="字幕 5">
            <a:extLst>
              <a:ext uri="{FF2B5EF4-FFF2-40B4-BE49-F238E27FC236}">
                <a16:creationId xmlns:a16="http://schemas.microsoft.com/office/drawing/2014/main" id="{965CA2C2-7036-4887-B651-FDDDA96932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7760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F9091-6F42-244F-E19A-17186AF21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1. FUNCTION(</a:t>
            </a:r>
            <a:r>
              <a:rPr kumimoji="1" lang="ja-JP" altLang="en-US" dirty="0"/>
              <a:t>ファンクション</a:t>
            </a:r>
            <a:r>
              <a:rPr kumimoji="1" lang="en-US" altLang="ja-JP" dirty="0"/>
              <a:t>)</a:t>
            </a:r>
            <a:r>
              <a:rPr kumimoji="1" lang="ja-JP" altLang="en-US" dirty="0"/>
              <a:t>について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7C23008-39BF-D632-E213-277D0199F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6CC0-337C-4DEC-BAED-08CE4EABF7AC}" type="slidenum">
              <a:rPr lang="ja-JP" altLang="en-US" smtClean="0"/>
              <a:pPr/>
              <a:t>2</a:t>
            </a:fld>
            <a:endParaRPr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B94D069-77E8-6064-227C-F7B668D3A08B}"/>
              </a:ext>
            </a:extLst>
          </p:cNvPr>
          <p:cNvSpPr txBox="1"/>
          <p:nvPr/>
        </p:nvSpPr>
        <p:spPr>
          <a:xfrm>
            <a:off x="112541" y="576001"/>
            <a:ext cx="9636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1-1. FUNCTION(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ファンクション</a:t>
            </a:r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とは？</a:t>
            </a:r>
            <a:endParaRPr lang="en-US" altLang="ja-JP" sz="1400" u="sng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80A354C-6E7A-51B1-A941-6B1ED47CB682}"/>
              </a:ext>
            </a:extLst>
          </p:cNvPr>
          <p:cNvSpPr txBox="1"/>
          <p:nvPr/>
        </p:nvSpPr>
        <p:spPr>
          <a:xfrm>
            <a:off x="112541" y="953339"/>
            <a:ext cx="963636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 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FUNCTION(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ファンクション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とは、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引数</a:t>
            </a:r>
            <a:r>
              <a:rPr lang="en-US" altLang="ja-JP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(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パラメータ</a:t>
            </a:r>
            <a:r>
              <a:rPr lang="en-US" altLang="ja-JP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を受け取って、一定の処理を行い、処理の結果を単一の値</a:t>
            </a:r>
            <a:endParaRPr lang="en-US" altLang="ja-JP" sz="1400" b="1" u="sng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で返す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ようにプログラミングされたオブジェクトのこと。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FUNCTION(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ファンクション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は、データベースを使用するユーザーが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一定の処理</a:t>
            </a:r>
            <a:r>
              <a:rPr lang="en-US" altLang="ja-JP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(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条件分岐や繰り返し</a:t>
            </a:r>
            <a:r>
              <a:rPr lang="en-US" altLang="ja-JP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を</a:t>
            </a:r>
            <a:endParaRPr lang="en-US" altLang="ja-JP" sz="1400" b="1" u="sng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</a:t>
            </a:r>
            <a:r>
              <a:rPr lang="en-US" altLang="ja-JP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PL/SQL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という形でプログラミングし、定義できる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ため、予め準備されている組み込み関数以上の機能を実装す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ることができる。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また、複雑な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SQL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文の処理をファンクション化すると、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クライアント側で処理するのではなく、性能の高いサー</a:t>
            </a:r>
            <a:endParaRPr lang="en-US" altLang="ja-JP" sz="1400" b="1" u="sng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バー側で処理される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ため、レスポンスの向上が期待できる。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3DB5E80-F4F3-190D-73F8-ADDC0A6CE479}"/>
              </a:ext>
            </a:extLst>
          </p:cNvPr>
          <p:cNvSpPr txBox="1"/>
          <p:nvPr/>
        </p:nvSpPr>
        <p:spPr>
          <a:xfrm>
            <a:off x="112541" y="3054225"/>
            <a:ext cx="9636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1-2. FUNCTION(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ファンクション</a:t>
            </a:r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の作り方</a:t>
            </a:r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AF63DEB-8A79-8D3D-902C-FFBC22498141}"/>
              </a:ext>
            </a:extLst>
          </p:cNvPr>
          <p:cNvSpPr txBox="1"/>
          <p:nvPr/>
        </p:nvSpPr>
        <p:spPr>
          <a:xfrm>
            <a:off x="112541" y="3433922"/>
            <a:ext cx="963636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FUNCTION(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ファンクション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は、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CREATE FUNCTION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ステートメントを利用して作成することができる。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CREATE FUNCTION [FUNCTION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名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(</a:t>
            </a:r>
          </a:p>
          <a:p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                 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引数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 RETURNS 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戻り値の型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BEGIN</a:t>
            </a:r>
          </a:p>
          <a:p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    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ファンクションで処理する内容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       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RETURN 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戻り値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];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END;</a:t>
            </a:r>
          </a:p>
        </p:txBody>
      </p:sp>
    </p:spTree>
    <p:extLst>
      <p:ext uri="{BB962C8B-B14F-4D97-AF65-F5344CB8AC3E}">
        <p14:creationId xmlns:p14="http://schemas.microsoft.com/office/powerpoint/2010/main" val="2458726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3960B-FE62-9133-B04D-4F584DE8F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B2E9CB-1F36-BE57-0C8F-E5333C9E3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1. FUNCTION(</a:t>
            </a:r>
            <a:r>
              <a:rPr kumimoji="1" lang="ja-JP" altLang="en-US" dirty="0"/>
              <a:t>ファンクション</a:t>
            </a:r>
            <a:r>
              <a:rPr kumimoji="1" lang="en-US" altLang="ja-JP" dirty="0"/>
              <a:t>)</a:t>
            </a:r>
            <a:r>
              <a:rPr kumimoji="1" lang="ja-JP" altLang="en-US" dirty="0"/>
              <a:t>について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E424C5B-FCFF-5014-D954-49D344B47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6CC0-337C-4DEC-BAED-08CE4EABF7AC}" type="slidenum">
              <a:rPr lang="ja-JP" altLang="en-US" smtClean="0"/>
              <a:pPr/>
              <a:t>3</a:t>
            </a:fld>
            <a:endParaRPr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200A4A9-EA64-F0DC-B0FF-3CD98F8D8C57}"/>
              </a:ext>
            </a:extLst>
          </p:cNvPr>
          <p:cNvSpPr txBox="1"/>
          <p:nvPr/>
        </p:nvSpPr>
        <p:spPr>
          <a:xfrm>
            <a:off x="112541" y="576001"/>
            <a:ext cx="9636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1-3. FUNCTION(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ファンクション</a:t>
            </a:r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の作成例</a:t>
            </a:r>
            <a:endParaRPr lang="en-US" altLang="ja-JP" sz="1400" u="sng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968BC49-2AA6-9497-F036-094DC5B149AF}"/>
              </a:ext>
            </a:extLst>
          </p:cNvPr>
          <p:cNvSpPr txBox="1"/>
          <p:nvPr/>
        </p:nvSpPr>
        <p:spPr>
          <a:xfrm>
            <a:off x="112541" y="953340"/>
            <a:ext cx="9636369" cy="533992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CREATE FUNCTION `</a:t>
            </a:r>
            <a:r>
              <a:rPr lang="en-US" altLang="ja-JP" sz="1100" dirty="0" err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GET_YakushokuName</a:t>
            </a:r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`</a:t>
            </a:r>
          </a:p>
          <a:p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(</a:t>
            </a:r>
          </a:p>
          <a:p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Pra_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役職</a:t>
            </a:r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CD INT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← </a:t>
            </a:r>
            <a:r>
              <a:rPr lang="ja-JP" altLang="en-US" sz="11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パラメータの定義</a:t>
            </a:r>
            <a:r>
              <a:rPr lang="en-US" altLang="ja-JP" sz="11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(</a:t>
            </a:r>
            <a:r>
              <a:rPr lang="ja-JP" altLang="en-US" sz="11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パラメータ名は任意に付けられる。パラメータ名の定義と型の定義をセットに記述する</a:t>
            </a:r>
            <a:r>
              <a:rPr lang="en-US" altLang="ja-JP" sz="11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RETURNS VARCHAR(60)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← </a:t>
            </a:r>
            <a:r>
              <a:rPr lang="ja-JP" altLang="en-US" sz="11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戻り値の定義</a:t>
            </a:r>
            <a:r>
              <a:rPr lang="en-US" altLang="ja-JP" sz="11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(</a:t>
            </a:r>
            <a:r>
              <a:rPr lang="ja-JP" altLang="en-US" sz="11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戻り値の型を指定する</a:t>
            </a:r>
            <a:r>
              <a:rPr lang="en-US" altLang="ja-JP" sz="11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BEGIN</a:t>
            </a:r>
          </a:p>
          <a:p>
            <a:endParaRPr lang="en-US" altLang="ja-JP" sz="11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-- // 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定数定義 </a:t>
            </a:r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Start ================================================</a:t>
            </a:r>
          </a:p>
          <a:p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DECLARE </a:t>
            </a:r>
            <a:r>
              <a:rPr lang="en-US" altLang="ja-JP" sz="1100" dirty="0" err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Cnst</a:t>
            </a:r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_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削除</a:t>
            </a:r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FLG_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未削除 </a:t>
            </a:r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INT DEFAULT 0;</a:t>
            </a:r>
          </a:p>
          <a:p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-- // 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定数定義 </a:t>
            </a:r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End ==================================================</a:t>
            </a:r>
          </a:p>
          <a:p>
            <a:endParaRPr lang="en-US" altLang="ja-JP" sz="11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-- // 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変数定義 </a:t>
            </a:r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Start ================================================</a:t>
            </a:r>
          </a:p>
          <a:p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DECLARE 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変数</a:t>
            </a:r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_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役職名 </a:t>
            </a:r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VARCHAR(60);</a:t>
            </a:r>
          </a:p>
          <a:p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-- // 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変数定義 </a:t>
            </a:r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End ==================================================</a:t>
            </a:r>
          </a:p>
          <a:p>
            <a:endParaRPr lang="en-US" altLang="ja-JP" sz="11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-- // 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変数の初期化</a:t>
            </a:r>
          </a:p>
          <a:p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</a:t>
            </a:r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SET 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変数</a:t>
            </a:r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_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役職名 </a:t>
            </a:r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= '';</a:t>
            </a:r>
          </a:p>
          <a:p>
            <a:endParaRPr lang="en-US" altLang="ja-JP" sz="11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-- // 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パラメータのチェック</a:t>
            </a:r>
          </a:p>
          <a:p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</a:t>
            </a:r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IF Pra_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役職</a:t>
            </a:r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CD IS NULL THEN</a:t>
            </a:r>
          </a:p>
          <a:p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    RETURN 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変数</a:t>
            </a:r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_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役職名</a:t>
            </a:r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;</a:t>
            </a:r>
          </a:p>
          <a:p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END IF;</a:t>
            </a:r>
          </a:p>
          <a:p>
            <a:endParaRPr lang="en-US" altLang="ja-JP" sz="11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SELECT</a:t>
            </a:r>
          </a:p>
          <a:p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    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役職名</a:t>
            </a:r>
          </a:p>
          <a:p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</a:t>
            </a:r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INTO 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変数</a:t>
            </a:r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_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役職名</a:t>
            </a:r>
          </a:p>
          <a:p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</a:t>
            </a:r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FROM m_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役職</a:t>
            </a:r>
          </a:p>
          <a:p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</a:t>
            </a:r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WHERE 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役職</a:t>
            </a:r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CD = Pra_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役職</a:t>
            </a:r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CD</a:t>
            </a:r>
          </a:p>
          <a:p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  AND 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削除</a:t>
            </a:r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FLG = </a:t>
            </a:r>
            <a:r>
              <a:rPr lang="en-US" altLang="ja-JP" sz="1100" dirty="0" err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Cnst</a:t>
            </a:r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_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削除</a:t>
            </a:r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FLG_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未削除</a:t>
            </a:r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;</a:t>
            </a:r>
          </a:p>
          <a:p>
            <a:endParaRPr lang="en-US" altLang="ja-JP" sz="11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RETURN 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変数</a:t>
            </a:r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_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役職名</a:t>
            </a:r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;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← </a:t>
            </a:r>
            <a:r>
              <a:rPr lang="ja-JP" altLang="en-US" sz="11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戻り値の返却</a:t>
            </a:r>
            <a:endParaRPr lang="en-US" altLang="ja-JP" sz="1100" b="1" u="sng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END</a:t>
            </a:r>
          </a:p>
        </p:txBody>
      </p:sp>
      <p:sp>
        <p:nvSpPr>
          <p:cNvPr id="8" name="右中かっこ 7">
            <a:extLst>
              <a:ext uri="{FF2B5EF4-FFF2-40B4-BE49-F238E27FC236}">
                <a16:creationId xmlns:a16="http://schemas.microsoft.com/office/drawing/2014/main" id="{29F3D089-C04D-52DB-1272-39AFEEF87B8C}"/>
              </a:ext>
            </a:extLst>
          </p:cNvPr>
          <p:cNvSpPr/>
          <p:nvPr/>
        </p:nvSpPr>
        <p:spPr>
          <a:xfrm>
            <a:off x="7340600" y="2041525"/>
            <a:ext cx="295511" cy="1092200"/>
          </a:xfrm>
          <a:prstGeom prst="righ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E7AF5E8-739D-B05B-7D7D-06443C2C4FB2}"/>
              </a:ext>
            </a:extLst>
          </p:cNvPr>
          <p:cNvSpPr txBox="1"/>
          <p:nvPr/>
        </p:nvSpPr>
        <p:spPr>
          <a:xfrm>
            <a:off x="7668000" y="2264459"/>
            <a:ext cx="1994160" cy="646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ファンクション内で使用する定数・変数を定義する</a:t>
            </a:r>
            <a:endParaRPr kumimoji="1" lang="ja-JP" altLang="en-US" sz="12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右中かっこ 4">
            <a:extLst>
              <a:ext uri="{FF2B5EF4-FFF2-40B4-BE49-F238E27FC236}">
                <a16:creationId xmlns:a16="http://schemas.microsoft.com/office/drawing/2014/main" id="{28B0F67C-4A6F-427E-D186-9D9D8D8349C2}"/>
              </a:ext>
            </a:extLst>
          </p:cNvPr>
          <p:cNvSpPr/>
          <p:nvPr/>
        </p:nvSpPr>
        <p:spPr>
          <a:xfrm>
            <a:off x="2577329" y="3852909"/>
            <a:ext cx="295511" cy="632005"/>
          </a:xfrm>
          <a:prstGeom prst="righ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1791B52-6C0A-7F6C-E1C0-54AE57C79399}"/>
              </a:ext>
            </a:extLst>
          </p:cNvPr>
          <p:cNvSpPr txBox="1"/>
          <p:nvPr/>
        </p:nvSpPr>
        <p:spPr>
          <a:xfrm>
            <a:off x="2872839" y="3934382"/>
            <a:ext cx="4555571" cy="46166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与えられた引数の値のチェック</a:t>
            </a:r>
            <a:endParaRPr kumimoji="1" lang="en-US" altLang="ja-JP" sz="12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引数が</a:t>
            </a:r>
            <a:r>
              <a:rPr lang="en-US" altLang="ja-JP" sz="12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NULL</a:t>
            </a:r>
            <a:r>
              <a:rPr lang="ja-JP" altLang="en-US" sz="12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の場合には、何も処理をせず、戻り値を返却する</a:t>
            </a:r>
            <a:endParaRPr kumimoji="1" lang="ja-JP" altLang="en-US" sz="12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右中かっこ 9">
            <a:extLst>
              <a:ext uri="{FF2B5EF4-FFF2-40B4-BE49-F238E27FC236}">
                <a16:creationId xmlns:a16="http://schemas.microsoft.com/office/drawing/2014/main" id="{3440469E-ED97-80FE-C4A3-06801431B117}"/>
              </a:ext>
            </a:extLst>
          </p:cNvPr>
          <p:cNvSpPr/>
          <p:nvPr/>
        </p:nvSpPr>
        <p:spPr>
          <a:xfrm>
            <a:off x="3302512" y="4712649"/>
            <a:ext cx="295511" cy="965340"/>
          </a:xfrm>
          <a:prstGeom prst="righ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1BF7E8B-0C3F-7777-440E-3322438F91E2}"/>
              </a:ext>
            </a:extLst>
          </p:cNvPr>
          <p:cNvSpPr txBox="1"/>
          <p:nvPr/>
        </p:nvSpPr>
        <p:spPr>
          <a:xfrm>
            <a:off x="3598023" y="4964486"/>
            <a:ext cx="4555571" cy="46166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与えられた引数のに応じた役職名を</a:t>
            </a:r>
            <a:r>
              <a:rPr kumimoji="1" lang="en-US" altLang="ja-JP" sz="12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SELECT</a:t>
            </a:r>
            <a:r>
              <a:rPr kumimoji="1" lang="ja-JP" altLang="en-US" sz="12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し、戻り値用の変数に代入する</a:t>
            </a:r>
          </a:p>
        </p:txBody>
      </p:sp>
    </p:spTree>
    <p:extLst>
      <p:ext uri="{BB962C8B-B14F-4D97-AF65-F5344CB8AC3E}">
        <p14:creationId xmlns:p14="http://schemas.microsoft.com/office/powerpoint/2010/main" val="380569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0E82D-33C8-989C-3DB4-F9374CF57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3EA56F-508A-A1D8-7627-6D0CC724B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1. FUNCTION(</a:t>
            </a:r>
            <a:r>
              <a:rPr kumimoji="1" lang="ja-JP" altLang="en-US" dirty="0"/>
              <a:t>ファンクション</a:t>
            </a:r>
            <a:r>
              <a:rPr kumimoji="1" lang="en-US" altLang="ja-JP" dirty="0"/>
              <a:t>)</a:t>
            </a:r>
            <a:r>
              <a:rPr kumimoji="1" lang="ja-JP" altLang="en-US" dirty="0"/>
              <a:t>について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9F9DD1D-B3EC-DD14-BB5E-F61307426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6CC0-337C-4DEC-BAED-08CE4EABF7AC}" type="slidenum">
              <a:rPr lang="ja-JP" altLang="en-US" smtClean="0"/>
              <a:pPr/>
              <a:t>4</a:t>
            </a:fld>
            <a:endParaRPr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14925BE-5AEC-75A6-015E-7972275A3353}"/>
              </a:ext>
            </a:extLst>
          </p:cNvPr>
          <p:cNvSpPr txBox="1"/>
          <p:nvPr/>
        </p:nvSpPr>
        <p:spPr>
          <a:xfrm>
            <a:off x="112541" y="576001"/>
            <a:ext cx="9636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1-4. FUNCTION(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ファンクション</a:t>
            </a:r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の使い方</a:t>
            </a:r>
            <a:endParaRPr lang="en-US" altLang="ja-JP" sz="1400" u="sng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6BEE9DA-7F58-06F3-2D5E-CCA1EE35C19E}"/>
              </a:ext>
            </a:extLst>
          </p:cNvPr>
          <p:cNvSpPr txBox="1"/>
          <p:nvPr/>
        </p:nvSpPr>
        <p:spPr>
          <a:xfrm>
            <a:off x="112541" y="953339"/>
            <a:ext cx="963636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   定義された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FUNCTION(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ファンクション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は、</a:t>
            </a:r>
            <a:r>
              <a:rPr lang="en-US" altLang="ja-JP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文の</a:t>
            </a:r>
            <a:r>
              <a:rPr lang="en-US" altLang="ja-JP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句で使用する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ことができる。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    [FUNCTION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名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]([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引数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])</a:t>
            </a:r>
          </a:p>
          <a:p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【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例題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1】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en-US" altLang="ja-JP" sz="1400" dirty="0" err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itb_sql_lecure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スキーマの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役職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CD]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3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役職名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を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en-US" altLang="ja-JP" sz="1400" dirty="0" err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GET_YakushokuName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を使用して取得する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を作成しなさい。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【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例題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2】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en-US" altLang="ja-JP" sz="1400" dirty="0" err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itb_sql_lecure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スキーマに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商品分類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CD]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を引数として、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商品分類名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を取得し返す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FUNCTION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を作成しなさい。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84980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3B354-186B-3CCC-CF1C-06BAFD73B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659F45-9BB4-582B-F704-84D8998D2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2. PROCEDURE(</a:t>
            </a:r>
            <a:r>
              <a:rPr kumimoji="1" lang="ja-JP" altLang="en-US" dirty="0"/>
              <a:t>プロシージャ</a:t>
            </a:r>
            <a:r>
              <a:rPr kumimoji="1" lang="en-US" altLang="ja-JP" dirty="0"/>
              <a:t>)</a:t>
            </a:r>
            <a:r>
              <a:rPr kumimoji="1" lang="ja-JP" altLang="en-US" dirty="0"/>
              <a:t>について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39F8869-9A5C-99E9-321E-6557CAD4E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6CC0-337C-4DEC-BAED-08CE4EABF7AC}" type="slidenum">
              <a:rPr lang="ja-JP" altLang="en-US" smtClean="0"/>
              <a:pPr/>
              <a:t>5</a:t>
            </a:fld>
            <a:endParaRPr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401BF47-F419-2906-D96A-DA99EF7F1E05}"/>
              </a:ext>
            </a:extLst>
          </p:cNvPr>
          <p:cNvSpPr txBox="1"/>
          <p:nvPr/>
        </p:nvSpPr>
        <p:spPr>
          <a:xfrm>
            <a:off x="112541" y="576001"/>
            <a:ext cx="9636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2-1. PROCEDURE(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プロシージャ</a:t>
            </a:r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とは？</a:t>
            </a:r>
            <a:endParaRPr lang="en-US" altLang="ja-JP" sz="1400" u="sng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EE347BB-3A75-B406-9695-67DF601002F4}"/>
              </a:ext>
            </a:extLst>
          </p:cNvPr>
          <p:cNvSpPr txBox="1"/>
          <p:nvPr/>
        </p:nvSpPr>
        <p:spPr>
          <a:xfrm>
            <a:off x="112541" y="953339"/>
            <a:ext cx="963636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 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PROCEDURE(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プロシージャ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とは、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データベース内で動作する一連の</a:t>
            </a:r>
            <a:r>
              <a:rPr lang="en-US" altLang="ja-JP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SQL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文による処理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をプログラミングされた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オブジェクトのこと。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PROCEDURE(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プロシージャ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は、データベースを使用するユーザーが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一定の処理</a:t>
            </a:r>
            <a:r>
              <a:rPr lang="en-US" altLang="ja-JP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(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条件分岐や繰り返し</a:t>
            </a:r>
            <a:r>
              <a:rPr lang="en-US" altLang="ja-JP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を</a:t>
            </a:r>
            <a:endParaRPr lang="en-US" altLang="ja-JP" sz="1400" b="1" u="sng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</a:t>
            </a:r>
            <a:r>
              <a:rPr lang="en-US" altLang="ja-JP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PL/SQL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という形でプログラミングし、定義できる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ため、予め準備されている組み込み関数以上の機能を実装す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ることができる。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また、複雑な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SQL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文の処理をプロシージャ化すると、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クライアント側で処理するのではなく、性能の高いサー</a:t>
            </a:r>
            <a:endParaRPr lang="en-US" altLang="ja-JP" sz="1400" b="1" u="sng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バー側で処理される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ため、レスポンスの向上が期待できる。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FUNCTION(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ファンクション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と同様に引数を定義し、処理に必要な値を動的に受け渡すことができる。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また、戻り値用の引数も指定可能で、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PROCEDURE(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プロシージャ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内で指定の引数に値を代入するし、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PROCEDURE(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プロシージャ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実行後に引数の値を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することで代入された値を取得することができる。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75798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DF3EC-6B6B-D893-3FF8-C1BA2E9C5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8A43F72-DE03-3A36-849B-8D5F3597868E}"/>
              </a:ext>
            </a:extLst>
          </p:cNvPr>
          <p:cNvSpPr txBox="1"/>
          <p:nvPr/>
        </p:nvSpPr>
        <p:spPr>
          <a:xfrm>
            <a:off x="112541" y="576001"/>
            <a:ext cx="9636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2-2. PROCEDURE(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プロシージャ</a:t>
            </a:r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の作り方</a:t>
            </a:r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74D0E47-386D-C7E5-3336-63FF32AAA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2. PROCEDURE(</a:t>
            </a:r>
            <a:r>
              <a:rPr kumimoji="1" lang="ja-JP" altLang="en-US" dirty="0"/>
              <a:t>プロシージャ</a:t>
            </a:r>
            <a:r>
              <a:rPr kumimoji="1" lang="en-US" altLang="ja-JP" dirty="0"/>
              <a:t>)</a:t>
            </a:r>
            <a:r>
              <a:rPr kumimoji="1" lang="ja-JP" altLang="en-US" dirty="0"/>
              <a:t>について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4D7570B-D243-D319-1E52-218D4C6A2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6CC0-337C-4DEC-BAED-08CE4EABF7AC}" type="slidenum">
              <a:rPr lang="ja-JP" altLang="en-US" smtClean="0"/>
              <a:pPr/>
              <a:t>6</a:t>
            </a:fld>
            <a:endParaRPr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AC7CC1D-17B5-BF54-EB52-C30A020B73CF}"/>
              </a:ext>
            </a:extLst>
          </p:cNvPr>
          <p:cNvSpPr txBox="1"/>
          <p:nvPr/>
        </p:nvSpPr>
        <p:spPr>
          <a:xfrm>
            <a:off x="112541" y="953340"/>
            <a:ext cx="9636369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PROCEDURE(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プロシージャ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は、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CREATE PROCEDURE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ステートメントを利用して作成することができる。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CREATE PROCEDURE [PROCEDURE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名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(</a:t>
            </a:r>
          </a:p>
          <a:p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                 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引数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BEGIN</a:t>
            </a:r>
          </a:p>
          <a:p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    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プロシージャで処理する内容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END;</a:t>
            </a:r>
          </a:p>
          <a:p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※ </a:t>
            </a:r>
            <a:r>
              <a:rPr lang="ja-JP" altLang="en-US" sz="1400" b="1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引数の指定について</a:t>
            </a:r>
            <a:endParaRPr lang="en-US" altLang="ja-JP" sz="1400" b="1" u="sng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FUNCTION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の引数は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INPUT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しかないが、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PROCEDURE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の引数は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INPUT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・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OUTPUT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の両方を指定することがで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きるため、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FUNCTION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と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PROCEDURE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では引数の指定方法が異なる。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CREATE FUNCTION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FUNCTION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名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(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        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引数の変数名 引数の型</a:t>
            </a:r>
            <a:endParaRPr lang="en-US" altLang="ja-JP" sz="1400" b="1" u="sng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CREATE PROCEDURE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PROCEDURE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名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(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        </a:t>
            </a:r>
            <a:r>
              <a:rPr lang="en-US" altLang="ja-JP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IN 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引数の変数名 引数の型・</a:t>
            </a:r>
            <a:r>
              <a:rPr lang="en-US" altLang="ja-JP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OUT 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引数の変数名 引数の型</a:t>
            </a:r>
            <a:endParaRPr lang="en-US" altLang="ja-JP" sz="1400" b="1" u="sng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11966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16A73-995E-58DB-0908-5C1567CD6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4A9004-A152-E519-1F27-F9179DE46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2. PROCEDURE(</a:t>
            </a:r>
            <a:r>
              <a:rPr kumimoji="1" lang="ja-JP" altLang="en-US" dirty="0"/>
              <a:t>プロシージャ</a:t>
            </a:r>
            <a:r>
              <a:rPr kumimoji="1" lang="en-US" altLang="ja-JP" dirty="0"/>
              <a:t>)</a:t>
            </a:r>
            <a:r>
              <a:rPr kumimoji="1" lang="ja-JP" altLang="en-US" dirty="0"/>
              <a:t>について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6237805-5BE9-4392-306D-485B7D029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6CC0-337C-4DEC-BAED-08CE4EABF7AC}" type="slidenum">
              <a:rPr lang="ja-JP" altLang="en-US" smtClean="0"/>
              <a:pPr/>
              <a:t>7</a:t>
            </a:fld>
            <a:endParaRPr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CA31F58-9B7E-632D-0B8D-05D3BD452347}"/>
              </a:ext>
            </a:extLst>
          </p:cNvPr>
          <p:cNvSpPr txBox="1"/>
          <p:nvPr/>
        </p:nvSpPr>
        <p:spPr>
          <a:xfrm>
            <a:off x="112541" y="576001"/>
            <a:ext cx="9636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2-3. PROCEDURE(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プロシージャ</a:t>
            </a:r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の使用方法と使用例</a:t>
            </a:r>
            <a:endParaRPr lang="en-US" altLang="ja-JP" sz="1400" u="sng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8EE388D-717C-642E-138D-5A150CFBF736}"/>
              </a:ext>
            </a:extLst>
          </p:cNvPr>
          <p:cNvSpPr txBox="1"/>
          <p:nvPr/>
        </p:nvSpPr>
        <p:spPr>
          <a:xfrm>
            <a:off x="574766" y="1546122"/>
            <a:ext cx="9174144" cy="28931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SET @Pra_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処理結果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= 0;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← 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プロシージャの出力結果を格納する変数を定義</a:t>
            </a:r>
            <a:endParaRPr lang="en-US" altLang="ja-JP" sz="1400" b="1" u="sng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en-US" altLang="ja-JP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CALL </a:t>
            </a:r>
            <a:r>
              <a:rPr lang="en-US" altLang="ja-JP" sz="1400" b="1" u="sng" dirty="0" err="1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GET_UriageData</a:t>
            </a:r>
            <a:endParaRPr lang="en-US" altLang="ja-JP" sz="1400" b="1" u="sng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(</a:t>
            </a:r>
          </a:p>
          <a:p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   GETDATE()</a:t>
            </a:r>
          </a:p>
          <a:p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  ,'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永野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’</a:t>
            </a:r>
          </a:p>
          <a:p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  ,9999</a:t>
            </a:r>
          </a:p>
          <a:p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  ,'192.168.5.61’</a:t>
            </a:r>
          </a:p>
          <a:p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  ,'2025/04’</a:t>
            </a:r>
          </a:p>
          <a:p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  ,@Pra_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処理結果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);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←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パラメータを指定して、プロシージャを実行</a:t>
            </a:r>
            <a:endParaRPr lang="en-US" altLang="ja-JP" sz="1400" b="1" u="sng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 @Pra_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処理結果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;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← 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プロシージャの出力結果の変数を</a:t>
            </a:r>
            <a:r>
              <a:rPr lang="en-US" altLang="ja-JP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して結果を確認</a:t>
            </a:r>
            <a:endParaRPr lang="en-US" altLang="ja-JP" sz="1400" b="1" u="sng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0D2F7F5-A52E-21E2-BFD7-58236AA99BE8}"/>
              </a:ext>
            </a:extLst>
          </p:cNvPr>
          <p:cNvSpPr txBox="1"/>
          <p:nvPr/>
        </p:nvSpPr>
        <p:spPr>
          <a:xfrm>
            <a:off x="112541" y="953340"/>
            <a:ext cx="9636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PROCEDURE(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プロシージャ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は、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FUNCTION(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ファンクション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と異なり、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文の中で使用することはできず、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</a:t>
            </a:r>
            <a:r>
              <a:rPr lang="en-US" altLang="ja-JP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CALL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文を使用して実行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する。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714FE02-EBC3-C3F2-46A0-8479E22A0561}"/>
              </a:ext>
            </a:extLst>
          </p:cNvPr>
          <p:cNvSpPr txBox="1"/>
          <p:nvPr/>
        </p:nvSpPr>
        <p:spPr>
          <a:xfrm>
            <a:off x="112541" y="4573214"/>
            <a:ext cx="96363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【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例題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3】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en-US" altLang="ja-JP" sz="1400" dirty="0" err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itb_sql_lecure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スキーマの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[t_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売上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のデータを元に、売上年月ごとの得意先コードごとの消費税額を算出し、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[w_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得意先別消費税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に一時データとして登録するプロシージャを作成しなさい。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08888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4589</TotalTime>
  <Words>2196</Words>
  <Application>Microsoft Office PowerPoint</Application>
  <PresentationFormat>A4 210 x 297 mm</PresentationFormat>
  <Paragraphs>304</Paragraphs>
  <Slides>7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メイリオ</vt:lpstr>
      <vt:lpstr>Arial</vt:lpstr>
      <vt:lpstr>Calibri</vt:lpstr>
      <vt:lpstr>Office テーマ</vt:lpstr>
      <vt:lpstr>【第8回】ファンクション・プロシージャについて</vt:lpstr>
      <vt:lpstr>1. FUNCTION(ファンクション)について</vt:lpstr>
      <vt:lpstr>1. FUNCTION(ファンクション)について</vt:lpstr>
      <vt:lpstr>1. FUNCTION(ファンクション)について</vt:lpstr>
      <vt:lpstr>2. PROCEDURE(プロシージャ)について</vt:lpstr>
      <vt:lpstr>2. PROCEDURE(プロシージャ)について</vt:lpstr>
      <vt:lpstr>2. PROCEDURE(プロシージャ)について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nagano</dc:creator>
  <cp:lastModifiedBy>ibcl177</cp:lastModifiedBy>
  <cp:revision>462</cp:revision>
  <cp:lastPrinted>2025-06-19T22:39:45Z</cp:lastPrinted>
  <dcterms:created xsi:type="dcterms:W3CDTF">2018-12-05T10:12:33Z</dcterms:created>
  <dcterms:modified xsi:type="dcterms:W3CDTF">2025-12-22T10:32:33Z</dcterms:modified>
</cp:coreProperties>
</file>