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1" r:id="rId3"/>
    <p:sldId id="275" r:id="rId4"/>
    <p:sldId id="276" r:id="rId5"/>
    <p:sldId id="277" r:id="rId6"/>
    <p:sldId id="278" r:id="rId7"/>
    <p:sldId id="279" r:id="rId8"/>
    <p:sldId id="262" r:id="rId9"/>
    <p:sldId id="280" r:id="rId10"/>
  </p:sldIdLst>
  <p:sldSz cx="9906000" cy="6858000" type="A4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548F347-E632-4B36-A0C2-9CCD7ED3F5B1}">
          <p14:sldIdLst>
            <p14:sldId id="256"/>
            <p14:sldId id="261"/>
            <p14:sldId id="275"/>
            <p14:sldId id="276"/>
            <p14:sldId id="277"/>
            <p14:sldId id="278"/>
            <p14:sldId id="279"/>
            <p14:sldId id="262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4171D5"/>
    <a:srgbClr val="419BD5"/>
    <a:srgbClr val="898989"/>
    <a:srgbClr val="55A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>
        <p:scale>
          <a:sx n="125" d="100"/>
          <a:sy n="125" d="100"/>
        </p:scale>
        <p:origin x="108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3402" y="0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/>
          <a:lstStyle>
            <a:lvl1pPr algn="r">
              <a:defRPr sz="800"/>
            </a:lvl1pPr>
          </a:lstStyle>
          <a:p>
            <a:fld id="{E2576A4B-778B-4444-AC61-1986328B18B1}" type="datetimeFigureOut">
              <a:rPr kumimoji="1" lang="ja-JP" altLang="en-US" smtClean="0"/>
              <a:t>2025/11/24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6457265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 anchor="b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3402" y="6457265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 anchor="b"/>
          <a:lstStyle>
            <a:lvl1pPr algn="r">
              <a:defRPr sz="800"/>
            </a:lvl1pPr>
          </a:lstStyle>
          <a:p>
            <a:fld id="{0FADC253-00B3-415C-B4FD-22E7CAD8C2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14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4" cy="341064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4" cy="341064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r">
              <a:defRPr sz="1200"/>
            </a:lvl1pPr>
          </a:lstStyle>
          <a:p>
            <a:fld id="{77BB2CB4-990A-49C4-AADC-9B2CA19E50BC}" type="datetimeFigureOut">
              <a:rPr kumimoji="1" lang="ja-JP" altLang="en-US" smtClean="0"/>
              <a:t>2025/11/24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9313"/>
            <a:ext cx="3313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0" tIns="47775" rIns="95550" bIns="4777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5" y="3271383"/>
            <a:ext cx="7941310" cy="2676584"/>
          </a:xfrm>
          <a:prstGeom prst="rect">
            <a:avLst/>
          </a:prstGeom>
        </p:spPr>
        <p:txBody>
          <a:bodyPr vert="horz" lIns="95550" tIns="47775" rIns="95550" bIns="4777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456613"/>
            <a:ext cx="4301544" cy="341063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798" y="6456613"/>
            <a:ext cx="4301544" cy="341063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r">
              <a:defRPr sz="1200"/>
            </a:lvl1pPr>
          </a:lstStyle>
          <a:p>
            <a:fld id="{30F9B3CF-BB5E-499C-96DD-F47E22CF7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83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06763" y="849313"/>
            <a:ext cx="3313112" cy="229393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228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06396"/>
            <a:ext cx="8420100" cy="7213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820795"/>
            <a:ext cx="7429500" cy="7264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197" indent="0" algn="ctr">
              <a:buNone/>
              <a:defRPr sz="2000"/>
            </a:lvl2pPr>
            <a:lvl3pPr marL="914395" indent="0" algn="ctr">
              <a:buNone/>
              <a:defRPr sz="1800"/>
            </a:lvl3pPr>
            <a:lvl4pPr marL="1371592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7" indent="0" algn="ctr">
              <a:buNone/>
              <a:defRPr sz="1600"/>
            </a:lvl6pPr>
            <a:lvl7pPr marL="2743184" indent="0" algn="ctr">
              <a:buNone/>
              <a:defRPr sz="1600"/>
            </a:lvl7pPr>
            <a:lvl8pPr marL="3200381" indent="0" algn="ctr">
              <a:buNone/>
              <a:defRPr sz="1600"/>
            </a:lvl8pPr>
            <a:lvl9pPr marL="3657579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260" y="6519600"/>
            <a:ext cx="2228850" cy="324000"/>
          </a:xfrm>
        </p:spPr>
        <p:txBody>
          <a:bodyPr/>
          <a:lstStyle>
            <a:lvl1pPr>
              <a:defRPr sz="11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37797"/>
            <a:ext cx="2672018" cy="4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28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2543" y="62073"/>
            <a:ext cx="9784308" cy="444366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lnSpc>
                <a:spcPts val="3360"/>
              </a:lnSpc>
              <a:defRPr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668000" y="6543434"/>
            <a:ext cx="2228850" cy="276999"/>
          </a:xfrm>
        </p:spPr>
        <p:txBody>
          <a:bodyPr vert="horz">
            <a:no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554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540000"/>
          </a:xfrm>
          <a:prstGeom prst="rect">
            <a:avLst/>
          </a:prstGeom>
          <a:solidFill>
            <a:srgbClr val="55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8000" y="6519932"/>
            <a:ext cx="2228850" cy="32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C6CC0-337C-4DEC-BAED-08CE4EABF7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6478807"/>
            <a:ext cx="9906000" cy="0"/>
          </a:xfrm>
          <a:prstGeom prst="line">
            <a:avLst/>
          </a:prstGeom>
          <a:ln w="38100">
            <a:solidFill>
              <a:srgbClr val="55A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03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395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70555"/>
            <a:ext cx="8420100" cy="721361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【</a:t>
            </a:r>
            <a:r>
              <a:rPr lang="ja-JP" altLang="en-US" sz="2800" dirty="0"/>
              <a:t>第</a:t>
            </a:r>
            <a:r>
              <a:rPr lang="en-US" altLang="ja-JP" sz="2800" dirty="0"/>
              <a:t>4</a:t>
            </a:r>
            <a:r>
              <a:rPr lang="ja-JP" altLang="en-US" sz="2800" dirty="0"/>
              <a:t>回</a:t>
            </a:r>
            <a:r>
              <a:rPr lang="en-US" altLang="ja-JP" sz="2800" dirty="0"/>
              <a:t>】INSERT</a:t>
            </a:r>
            <a:r>
              <a:rPr lang="ja-JP" altLang="en-US" sz="2800" dirty="0"/>
              <a:t>文・</a:t>
            </a:r>
            <a:r>
              <a:rPr lang="en-US" altLang="ja-JP" sz="2800" dirty="0"/>
              <a:t>UPDATE</a:t>
            </a:r>
            <a:r>
              <a:rPr lang="ja-JP" altLang="en-US" sz="2800" dirty="0"/>
              <a:t>文について</a:t>
            </a:r>
            <a:endParaRPr kumimoji="1" lang="ja-JP" altLang="en-US" sz="280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6" name="字幕 5">
            <a:extLst>
              <a:ext uri="{FF2B5EF4-FFF2-40B4-BE49-F238E27FC236}">
                <a16:creationId xmlns:a16="http://schemas.microsoft.com/office/drawing/2014/main" id="{965CA2C2-7036-4887-B651-FDDDA9693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76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F9091-6F42-244F-E19A-17186AF2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INSERT</a:t>
            </a:r>
            <a:r>
              <a:rPr kumimoji="1" lang="ja-JP" altLang="en-US" dirty="0"/>
              <a:t>文の基本について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C23008-39BF-D632-E213-277D0199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94D069-77E8-6064-227C-F7B668D3A08B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1-1. INSERT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文でできること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0A354C-6E7A-51B1-A941-6B1ED47CB682}"/>
              </a:ext>
            </a:extLst>
          </p:cNvPr>
          <p:cNvSpPr txBox="1"/>
          <p:nvPr/>
        </p:nvSpPr>
        <p:spPr>
          <a:xfrm>
            <a:off x="112541" y="953339"/>
            <a:ext cx="9636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文を使用すると、指定したデータを指定したテーブルに新規で追加することができる。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他の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文と同様に、データベースの種類により記述する際の文法等は異なるが、基本的な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文の構造や要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素は多くのデータベースで共通していることが多い。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DB5E80-F4F3-190D-73F8-ADDC0A6CE479}"/>
              </a:ext>
            </a:extLst>
          </p:cNvPr>
          <p:cNvSpPr txBox="1"/>
          <p:nvPr/>
        </p:nvSpPr>
        <p:spPr>
          <a:xfrm>
            <a:off x="112541" y="1761564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1-2. INSERT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文の基本的な構造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F63DEB-8A79-8D3D-902C-FFBC22498141}"/>
              </a:ext>
            </a:extLst>
          </p:cNvPr>
          <p:cNvSpPr txBox="1"/>
          <p:nvPr/>
        </p:nvSpPr>
        <p:spPr>
          <a:xfrm>
            <a:off x="112541" y="2138902"/>
            <a:ext cx="963636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文を記述するには、データベースごとに一定の文法に従って記述する必要がある。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文を構成する基本的な要素は以下の通りである。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 INTO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 VALUES (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追加する値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追加する値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①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対象のテーブルのデータを追加するフィールドを記述する部分。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原則、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句には指定のテーブルの全フィールドを記述するが、追加する値が存在するフィールドのみを記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述しても実行することが可能である。一部のフィールドのみを記述した際には、記述されていないフィールド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の値は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NULL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で追加される。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また、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句は完全に省略して記述することも可能であり、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句を完全に省略した際には、以下の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句では対象のテーブルの全フィールドの値を指定する必要がある。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右中かっこ 9">
            <a:extLst>
              <a:ext uri="{FF2B5EF4-FFF2-40B4-BE49-F238E27FC236}">
                <a16:creationId xmlns:a16="http://schemas.microsoft.com/office/drawing/2014/main" id="{032E0E41-25CB-4323-8770-CC66CA004B14}"/>
              </a:ext>
            </a:extLst>
          </p:cNvPr>
          <p:cNvSpPr/>
          <p:nvPr/>
        </p:nvSpPr>
        <p:spPr>
          <a:xfrm>
            <a:off x="5332233" y="3228498"/>
            <a:ext cx="570819" cy="456957"/>
          </a:xfrm>
          <a:prstGeom prst="rightBrace">
            <a:avLst>
              <a:gd name="adj1" fmla="val 4996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889E37A-ED06-4A32-A093-E6AE6F2477BC}"/>
              </a:ext>
            </a:extLst>
          </p:cNvPr>
          <p:cNvCxnSpPr/>
          <p:nvPr/>
        </p:nvCxnSpPr>
        <p:spPr>
          <a:xfrm flipH="1">
            <a:off x="3741556" y="3233520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01036F7-1C0F-68A6-AD3C-6662DCF1AEBA}"/>
              </a:ext>
            </a:extLst>
          </p:cNvPr>
          <p:cNvCxnSpPr/>
          <p:nvPr/>
        </p:nvCxnSpPr>
        <p:spPr>
          <a:xfrm flipH="1">
            <a:off x="3741556" y="3685459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DD4257-15FF-BECC-FF4D-8AEF2119D180}"/>
              </a:ext>
            </a:extLst>
          </p:cNvPr>
          <p:cNvSpPr txBox="1"/>
          <p:nvPr/>
        </p:nvSpPr>
        <p:spPr>
          <a:xfrm>
            <a:off x="5950679" y="331273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</a:p>
        </p:txBody>
      </p:sp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C5666C46-D4EB-94A5-DF3B-A727067290B1}"/>
              </a:ext>
            </a:extLst>
          </p:cNvPr>
          <p:cNvSpPr/>
          <p:nvPr/>
        </p:nvSpPr>
        <p:spPr>
          <a:xfrm>
            <a:off x="5332233" y="3857148"/>
            <a:ext cx="570819" cy="456957"/>
          </a:xfrm>
          <a:prstGeom prst="rightBrace">
            <a:avLst>
              <a:gd name="adj1" fmla="val 4996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40B0795-9E94-2AE0-8755-FE6C7E7CC9B2}"/>
              </a:ext>
            </a:extLst>
          </p:cNvPr>
          <p:cNvCxnSpPr/>
          <p:nvPr/>
        </p:nvCxnSpPr>
        <p:spPr>
          <a:xfrm flipH="1">
            <a:off x="3741556" y="3862170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F36F50D-F3B8-2C6A-BECE-4F9F3F1D0C16}"/>
              </a:ext>
            </a:extLst>
          </p:cNvPr>
          <p:cNvCxnSpPr/>
          <p:nvPr/>
        </p:nvCxnSpPr>
        <p:spPr>
          <a:xfrm flipH="1">
            <a:off x="3741556" y="4314109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03D767-CE3E-F426-06D4-999A9FF2D501}"/>
              </a:ext>
            </a:extLst>
          </p:cNvPr>
          <p:cNvSpPr txBox="1"/>
          <p:nvPr/>
        </p:nvSpPr>
        <p:spPr>
          <a:xfrm>
            <a:off x="5950679" y="394138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45872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C0AED-3DC8-A0DD-C015-E12536F3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537BF9-431B-10D6-7928-AFF6A4C54D00}"/>
              </a:ext>
            </a:extLst>
          </p:cNvPr>
          <p:cNvSpPr txBox="1"/>
          <p:nvPr/>
        </p:nvSpPr>
        <p:spPr>
          <a:xfrm>
            <a:off x="112541" y="953339"/>
            <a:ext cx="96363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②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対象のテーブルに追加する値を記述する部分。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句では、必ず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句で指定したフィールド数と同数の値を記述する必要がある。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また、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句では追加する対象のフィールドの型に合わせて値を指定する必要がある。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に以下のデータを追加する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・登録日時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現在日時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・登録者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自分の氏名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・登録機能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ID 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1234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・更新日時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現在日時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・更新者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自分の氏名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・更新機能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1234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・内部更新日時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現在日時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・内部更新者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自分の氏名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・内部更新機能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1234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・削除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FLG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現在の社員番号の最大値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+ 1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・氏名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自分の氏名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・氏名カナ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自分の氏名カナ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半角カナ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・所属部署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・役職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NULL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・性別区分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自分の性別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：男性 ・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：女性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・電話番号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0995-73-7788</a:t>
            </a:r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AA956AA-0ACA-1A9D-EE44-78D5309E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INSERT</a:t>
            </a:r>
            <a:r>
              <a:rPr kumimoji="1" lang="ja-JP" altLang="en-US" dirty="0"/>
              <a:t>文の基本について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ECCA7B-2DB3-8524-4789-1EE58580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048AFB8-BF4C-A843-C299-5A8AA8EFDFD9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1-2. INSERT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文の基本的な構造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605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61C0-8752-CD7A-5D70-210277544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DD48C6-E1FD-A31F-673C-7898D5523A4E}"/>
              </a:ext>
            </a:extLst>
          </p:cNvPr>
          <p:cNvSpPr txBox="1"/>
          <p:nvPr/>
        </p:nvSpPr>
        <p:spPr>
          <a:xfrm>
            <a:off x="112541" y="953339"/>
            <a:ext cx="96363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に以下のデータを追加する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現在の社員番号の最大値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+ 1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・氏名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自分の氏名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・氏名カナ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自分の氏名カナ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半角カナ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テーブルの構造上、主キーは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NULL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を追加することができないため、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文を作成する際の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句・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句には必ず主キーのフィールド指定が必要となる。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017C994-AEE2-3739-4C79-03E61972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INSERT</a:t>
            </a:r>
            <a:r>
              <a:rPr kumimoji="1" lang="ja-JP" altLang="en-US" dirty="0"/>
              <a:t>文の基本について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F545AE-3010-3013-AEC2-7C1FA6BB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4E3374-1130-E9BF-BB97-05B791B611F3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1-2. INSERT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文の基本的な構造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793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E95F-9400-97EF-9F90-44121690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B27D6A-2E78-48BB-6513-03905F8FF3C4}"/>
              </a:ext>
            </a:extLst>
          </p:cNvPr>
          <p:cNvSpPr txBox="1"/>
          <p:nvPr/>
        </p:nvSpPr>
        <p:spPr>
          <a:xfrm>
            <a:off x="112541" y="953339"/>
            <a:ext cx="963636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文を記述する際に、作成した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文を利用することにより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文の結果で取得したデータを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句の代わりに使用してデータを追加することができる。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 INTO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取得するフィールド名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取得するフィールド名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文を利用して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文を作成する際には、利用する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句では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句で指定し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たフィールド数と同数の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句を記述する必要がある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ブレイド　花江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のレコードを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した結果を、新しい社員番号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現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在の社員番号の最大値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+ 1)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で新規で追加する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181C292-F727-003E-B3B8-C882CCA8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INSERT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235E28-9E4A-E0DD-41F0-AB59AD10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7F78FE-2C4C-AE60-BDAA-EA12E0CB991D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2-1. 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文を利用した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文について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689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BFB02-6685-6B5B-7D0C-68C961FA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A02231-C310-4ED0-5602-C7DA33C3BDDB}"/>
              </a:ext>
            </a:extLst>
          </p:cNvPr>
          <p:cNvSpPr txBox="1"/>
          <p:nvPr/>
        </p:nvSpPr>
        <p:spPr>
          <a:xfrm>
            <a:off x="112541" y="953339"/>
            <a:ext cx="963636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文を記述する際に、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句をカンマ区切りで複数記述することで、指定の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句を一括で追加する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 INTO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 VALUES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追加する値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追加する値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,(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追加する値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追加する値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,…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このように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句を複数指定する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文の記述方法を</a:t>
            </a:r>
            <a:r>
              <a:rPr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マルチプル</a:t>
            </a:r>
            <a:r>
              <a:rPr lang="en-US" altLang="ja-JP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と呼び、同時に複数行を追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加する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文を利用する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文よりも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句を複数指定する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文の方が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の速度は高速で処理することができる。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817FA7B-8136-4BEE-3049-08F7C158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INSERT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1F4BA60-38EB-7CBB-20C8-72FD355F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9E8349-F3D4-CFCB-02D2-F83AA47D2013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2-2. 1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つの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句で複数の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句を指定する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文について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422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5EDE4-0DBA-2F8A-A90F-E3BCEC1E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0216BE-CDB8-C1DC-055A-FA7E250D12E0}"/>
              </a:ext>
            </a:extLst>
          </p:cNvPr>
          <p:cNvSpPr txBox="1"/>
          <p:nvPr/>
        </p:nvSpPr>
        <p:spPr>
          <a:xfrm>
            <a:off x="112541" y="953339"/>
            <a:ext cx="9636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に以下のデータを追加する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ただし、社員番号は現在の社員番号の最大値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+ 1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で追加することとする。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7FBD3DA-3F00-1744-DB53-9DDBF264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INSERT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3EBBB52-F5DC-D67C-0D9B-78225B28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6D7CED-E9EE-B3BF-B636-155601F0961E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2-2. 1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つの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句で複数の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VALUE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句を指定する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文について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7527E2E-2CFC-DDC0-4473-D86566B6F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648579"/>
              </p:ext>
            </p:extLst>
          </p:nvPr>
        </p:nvGraphicFramePr>
        <p:xfrm>
          <a:off x="684000" y="1761564"/>
          <a:ext cx="684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65851407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84061911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41267361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2002656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588143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社員名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社員名カナ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所属部署</a:t>
                      </a:r>
                      <a:r>
                        <a:rPr kumimoji="1" lang="en-US" altLang="ja-JP" sz="1400" dirty="0"/>
                        <a:t>CD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役職</a:t>
                      </a:r>
                      <a:r>
                        <a:rPr kumimoji="1" lang="en-US" altLang="ja-JP" sz="1400" dirty="0"/>
                        <a:t>CD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性別区分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7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ブレイド　</a:t>
                      </a:r>
                      <a:r>
                        <a:rPr kumimoji="1" lang="en-US" altLang="ja-JP" sz="1400" dirty="0"/>
                        <a:t>A</a:t>
                      </a:r>
                      <a:r>
                        <a:rPr kumimoji="1" lang="ja-JP" altLang="en-US" sz="1400" dirty="0"/>
                        <a:t>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ﾌﾞﾚｲﾄﾞ </a:t>
                      </a:r>
                      <a:r>
                        <a:rPr kumimoji="1" lang="en-US" altLang="ja-JP" sz="1400" dirty="0"/>
                        <a:t>A</a:t>
                      </a:r>
                      <a:r>
                        <a:rPr kumimoji="1" lang="ja-JP" altLang="en-US" sz="1400" dirty="0"/>
                        <a:t>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73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ブレイド　</a:t>
                      </a:r>
                      <a:r>
                        <a:rPr kumimoji="1" lang="en-US" altLang="ja-JP" sz="1400" dirty="0"/>
                        <a:t>B</a:t>
                      </a:r>
                      <a:r>
                        <a:rPr kumimoji="1" lang="ja-JP" altLang="en-US" sz="1400" dirty="0"/>
                        <a:t>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ﾌﾞﾚｲﾄﾞ </a:t>
                      </a:r>
                      <a:r>
                        <a:rPr kumimoji="1" lang="en-US" altLang="ja-JP" sz="1400" dirty="0"/>
                        <a:t>B</a:t>
                      </a:r>
                      <a:r>
                        <a:rPr kumimoji="1" lang="ja-JP" altLang="en-US" sz="1400" dirty="0"/>
                        <a:t>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NULL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ブレイド　</a:t>
                      </a:r>
                      <a:r>
                        <a:rPr kumimoji="1" lang="en-US" altLang="ja-JP" sz="1400" dirty="0"/>
                        <a:t>C</a:t>
                      </a:r>
                      <a:r>
                        <a:rPr kumimoji="1" lang="ja-JP" altLang="en-US" sz="1400" dirty="0"/>
                        <a:t>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ﾌﾞﾚｲﾄﾞ </a:t>
                      </a:r>
                      <a:r>
                        <a:rPr kumimoji="1" lang="en-US" altLang="ja-JP" sz="1400" dirty="0"/>
                        <a:t>C</a:t>
                      </a:r>
                      <a:r>
                        <a:rPr kumimoji="1" lang="ja-JP" altLang="en-US" sz="1400" dirty="0"/>
                        <a:t>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NULL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478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1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A71CB-9EE2-A789-55E8-FC95752C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3. UPDATE</a:t>
            </a:r>
            <a:r>
              <a:rPr lang="ja-JP" altLang="en-US" dirty="0"/>
              <a:t>文の基本について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4B5962-98FC-FC83-82A3-068C31C4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1E0CF3-A167-E647-4214-CE60AA90FAE5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3-1. UPDATE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文でできること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7C2F65-B6BF-6BA7-5E67-36804FA2C5A9}"/>
              </a:ext>
            </a:extLst>
          </p:cNvPr>
          <p:cNvSpPr txBox="1"/>
          <p:nvPr/>
        </p:nvSpPr>
        <p:spPr>
          <a:xfrm>
            <a:off x="112541" y="953339"/>
            <a:ext cx="9636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文を使用すると、登録済のデータの値を指定の値に変更することができる。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他の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文と同様に、データベースの種類により記述する際の文法等は異なるが、基本的な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文の構造や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要素は多くのデータベースで共通していることが多い。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F2A8C8-C6FC-4590-3B9B-D35F97E4ABCA}"/>
              </a:ext>
            </a:extLst>
          </p:cNvPr>
          <p:cNvSpPr txBox="1"/>
          <p:nvPr/>
        </p:nvSpPr>
        <p:spPr>
          <a:xfrm>
            <a:off x="112541" y="1761564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3-2. UPDATE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文の基本的な構造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0D03DFA-0AD6-3669-CDFB-DA4D2678848F}"/>
              </a:ext>
            </a:extLst>
          </p:cNvPr>
          <p:cNvSpPr txBox="1"/>
          <p:nvPr/>
        </p:nvSpPr>
        <p:spPr>
          <a:xfrm>
            <a:off x="112541" y="2138902"/>
            <a:ext cx="96363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文を記述するには、データベースごとに一定の文法に従って記述する必要がある。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文を構成する基本的な要素は以下の通りである。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SET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変更する値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変更する値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①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SET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対象のテーブルのデータを変更するフィールドと変更する値を記述する部分。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原則、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句には値を変更するフィールドとその値のみを記述する。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文を作成する際には、同時に変更対象の絞り込む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句を合わせて記述する必要があり、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句を記述していない場合には対象テーブルの全てのレコードに変更が実施される。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ブレイド　五郎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[3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：係長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に変更する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" name="右中かっこ 10">
            <a:extLst>
              <a:ext uri="{FF2B5EF4-FFF2-40B4-BE49-F238E27FC236}">
                <a16:creationId xmlns:a16="http://schemas.microsoft.com/office/drawing/2014/main" id="{6CB10E66-35DA-D008-C769-ACB8700186F5}"/>
              </a:ext>
            </a:extLst>
          </p:cNvPr>
          <p:cNvSpPr/>
          <p:nvPr/>
        </p:nvSpPr>
        <p:spPr>
          <a:xfrm>
            <a:off x="6772413" y="3015138"/>
            <a:ext cx="570819" cy="456957"/>
          </a:xfrm>
          <a:prstGeom prst="rightBrace">
            <a:avLst>
              <a:gd name="adj1" fmla="val 4996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6010B70-10AE-559A-487D-AAC6D37E0BA6}"/>
              </a:ext>
            </a:extLst>
          </p:cNvPr>
          <p:cNvCxnSpPr/>
          <p:nvPr/>
        </p:nvCxnSpPr>
        <p:spPr>
          <a:xfrm flipH="1">
            <a:off x="5181736" y="3020160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117F645-E544-039E-100E-A49DBE19D459}"/>
              </a:ext>
            </a:extLst>
          </p:cNvPr>
          <p:cNvCxnSpPr/>
          <p:nvPr/>
        </p:nvCxnSpPr>
        <p:spPr>
          <a:xfrm flipH="1">
            <a:off x="5181736" y="3472099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BCE1ACD-A967-F318-8A69-B4E3DC12999D}"/>
              </a:ext>
            </a:extLst>
          </p:cNvPr>
          <p:cNvSpPr txBox="1"/>
          <p:nvPr/>
        </p:nvSpPr>
        <p:spPr>
          <a:xfrm>
            <a:off x="7390859" y="309937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5867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CA16-DEF9-97F3-864A-7D6D0039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9BD722-D608-305E-E6D3-50D169B0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4. UPDATE</a:t>
            </a:r>
            <a:r>
              <a:rPr lang="ja-JP" altLang="en-US" dirty="0"/>
              <a:t>文の応用について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AB9D13A-516C-8ADC-17EC-2F9BD20C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852FBB-26F7-F50C-ED85-0E5FCDC00AF6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4-1.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別のテーブルの値を使用した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文について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5094E5-877D-0EF5-F48F-C61B14EE15A4}"/>
              </a:ext>
            </a:extLst>
          </p:cNvPr>
          <p:cNvSpPr txBox="1"/>
          <p:nvPr/>
        </p:nvSpPr>
        <p:spPr>
          <a:xfrm>
            <a:off x="112541" y="953339"/>
            <a:ext cx="96363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変更対象のテーブルと別のテーブルを結合することで結合したテーブルのフィールドの値を使用して値を変更す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AS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エイリアス名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(INNER 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LEFT 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RIGHT) JOIN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結合対象のテーブル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AS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結合対象テーブルのエイリアス名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ON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結合条件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エイリアス名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].[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結合対象テーブルのエイリアス名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].[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エイリアス名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].[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対象テーブルのフィールド名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結合対象テーブルのエイリアス名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].[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他テーブルとの結合を使用して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文を作成した場合には、同様の結合により取得できる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文で得られ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るレコードが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の対象となる。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また、他テーブルとの結合による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文でも通常の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文と同様に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句を指定することが可能であ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結合対象は通常のテーブルのみでなく、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文をサブクエリとして指定することで、複雑な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文の結果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を元に対象テーブルのデータを変更することが可能である。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ブレイド　五郎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[3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：係長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に変更する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80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4479</TotalTime>
  <Words>1822</Words>
  <Application>Microsoft Office PowerPoint</Application>
  <PresentationFormat>A4 210 x 297 mm</PresentationFormat>
  <Paragraphs>188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メイリオ</vt:lpstr>
      <vt:lpstr>Arial</vt:lpstr>
      <vt:lpstr>Calibri</vt:lpstr>
      <vt:lpstr>Office テーマ</vt:lpstr>
      <vt:lpstr>【第4回】INSERT文・UPDATE文について</vt:lpstr>
      <vt:lpstr>1. INSERT文の基本について</vt:lpstr>
      <vt:lpstr>1. INSERT文の基本について</vt:lpstr>
      <vt:lpstr>1. INSERT文の基本について</vt:lpstr>
      <vt:lpstr>2. INSERT文の応用について</vt:lpstr>
      <vt:lpstr>2. INSERT文の応用について</vt:lpstr>
      <vt:lpstr>2. INSERT文の応用について</vt:lpstr>
      <vt:lpstr>3. UPDATE文の基本について</vt:lpstr>
      <vt:lpstr>4. UPDATE文の応用について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nagano</dc:creator>
  <cp:lastModifiedBy>ibcl177</cp:lastModifiedBy>
  <cp:revision>472</cp:revision>
  <cp:lastPrinted>2025-06-19T22:39:45Z</cp:lastPrinted>
  <dcterms:created xsi:type="dcterms:W3CDTF">2018-12-05T10:12:33Z</dcterms:created>
  <dcterms:modified xsi:type="dcterms:W3CDTF">2025-11-24T00:04:51Z</dcterms:modified>
</cp:coreProperties>
</file>