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
  </p:notesMasterIdLst>
  <p:handoutMasterIdLst>
    <p:handoutMasterId r:id="rId11"/>
  </p:handoutMasterIdLst>
  <p:sldIdLst>
    <p:sldId id="256" r:id="rId2"/>
    <p:sldId id="261" r:id="rId3"/>
    <p:sldId id="275" r:id="rId4"/>
    <p:sldId id="276" r:id="rId5"/>
    <p:sldId id="277" r:id="rId6"/>
    <p:sldId id="278" r:id="rId7"/>
    <p:sldId id="279" r:id="rId8"/>
    <p:sldId id="280" r:id="rId9"/>
  </p:sldIdLst>
  <p:sldSz cx="9906000" cy="6858000" type="A4"/>
  <p:notesSz cx="9926638" cy="67976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B548F347-E632-4B36-A0C2-9CCD7ED3F5B1}">
          <p14:sldIdLst>
            <p14:sldId id="256"/>
            <p14:sldId id="261"/>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719C"/>
    <a:srgbClr val="4171D5"/>
    <a:srgbClr val="419BD5"/>
    <a:srgbClr val="898989"/>
    <a:srgbClr val="55A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74182" autoAdjust="0"/>
  </p:normalViewPr>
  <p:slideViewPr>
    <p:cSldViewPr snapToGrid="0">
      <p:cViewPr varScale="1">
        <p:scale>
          <a:sx n="82" d="100"/>
          <a:sy n="82" d="100"/>
        </p:scale>
        <p:origin x="2010" y="84"/>
      </p:cViewPr>
      <p:guideLst/>
    </p:cSldViewPr>
  </p:slideViewPr>
  <p:notesTextViewPr>
    <p:cViewPr>
      <p:scale>
        <a:sx n="1" d="1"/>
        <a:sy n="1" d="1"/>
      </p:scale>
      <p:origin x="0" y="-91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650" cy="340410"/>
          </a:xfrm>
          <a:prstGeom prst="rect">
            <a:avLst/>
          </a:prstGeom>
        </p:spPr>
        <p:txBody>
          <a:bodyPr vert="horz" lIns="62944" tIns="31473" rIns="62944" bIns="31473" rtlCol="0"/>
          <a:lstStyle>
            <a:lvl1pPr algn="l">
              <a:defRPr sz="800"/>
            </a:lvl1pPr>
          </a:lstStyle>
          <a:p>
            <a:endParaRPr kumimoji="1" lang="ja-JP" altLang="en-US"/>
          </a:p>
        </p:txBody>
      </p:sp>
      <p:sp>
        <p:nvSpPr>
          <p:cNvPr id="3" name="日付プレースホルダー 2"/>
          <p:cNvSpPr>
            <a:spLocks noGrp="1"/>
          </p:cNvSpPr>
          <p:nvPr>
            <p:ph type="dt" sz="quarter" idx="1"/>
          </p:nvPr>
        </p:nvSpPr>
        <p:spPr>
          <a:xfrm>
            <a:off x="5623402" y="0"/>
            <a:ext cx="4301650" cy="340410"/>
          </a:xfrm>
          <a:prstGeom prst="rect">
            <a:avLst/>
          </a:prstGeom>
        </p:spPr>
        <p:txBody>
          <a:bodyPr vert="horz" lIns="62944" tIns="31473" rIns="62944" bIns="31473" rtlCol="0"/>
          <a:lstStyle>
            <a:lvl1pPr algn="r">
              <a:defRPr sz="800"/>
            </a:lvl1pPr>
          </a:lstStyle>
          <a:p>
            <a:fld id="{E2576A4B-778B-4444-AC61-1986328B18B1}" type="datetimeFigureOut">
              <a:rPr kumimoji="1" lang="ja-JP" altLang="en-US" smtClean="0"/>
              <a:t>2025/11/26</a:t>
            </a:fld>
            <a:endParaRPr kumimoji="1" lang="ja-JP" altLang="en-US"/>
          </a:p>
        </p:txBody>
      </p:sp>
      <p:sp>
        <p:nvSpPr>
          <p:cNvPr id="4" name="フッター プレースホルダー 3"/>
          <p:cNvSpPr>
            <a:spLocks noGrp="1"/>
          </p:cNvSpPr>
          <p:nvPr>
            <p:ph type="ftr" sz="quarter" idx="2"/>
          </p:nvPr>
        </p:nvSpPr>
        <p:spPr>
          <a:xfrm>
            <a:off x="1" y="6457265"/>
            <a:ext cx="4301650" cy="340410"/>
          </a:xfrm>
          <a:prstGeom prst="rect">
            <a:avLst/>
          </a:prstGeom>
        </p:spPr>
        <p:txBody>
          <a:bodyPr vert="horz" lIns="62944" tIns="31473" rIns="62944" bIns="31473" rtlCol="0" anchor="b"/>
          <a:lstStyle>
            <a:lvl1pPr algn="l">
              <a:defRPr sz="800"/>
            </a:lvl1pPr>
          </a:lstStyle>
          <a:p>
            <a:endParaRPr kumimoji="1" lang="ja-JP" altLang="en-US"/>
          </a:p>
        </p:txBody>
      </p:sp>
      <p:sp>
        <p:nvSpPr>
          <p:cNvPr id="5" name="スライド番号プレースホルダー 4"/>
          <p:cNvSpPr>
            <a:spLocks noGrp="1"/>
          </p:cNvSpPr>
          <p:nvPr>
            <p:ph type="sldNum" sz="quarter" idx="3"/>
          </p:nvPr>
        </p:nvSpPr>
        <p:spPr>
          <a:xfrm>
            <a:off x="5623402" y="6457265"/>
            <a:ext cx="4301650" cy="340410"/>
          </a:xfrm>
          <a:prstGeom prst="rect">
            <a:avLst/>
          </a:prstGeom>
        </p:spPr>
        <p:txBody>
          <a:bodyPr vert="horz" lIns="62944" tIns="31473" rIns="62944" bIns="31473" rtlCol="0" anchor="b"/>
          <a:lstStyle>
            <a:lvl1pPr algn="r">
              <a:defRPr sz="800"/>
            </a:lvl1pPr>
          </a:lstStyle>
          <a:p>
            <a:fld id="{0FADC253-00B3-415C-B4FD-22E7CAD8C242}" type="slidenum">
              <a:rPr kumimoji="1" lang="ja-JP" altLang="en-US" smtClean="0"/>
              <a:t>‹#›</a:t>
            </a:fld>
            <a:endParaRPr kumimoji="1" lang="ja-JP" altLang="en-US"/>
          </a:p>
        </p:txBody>
      </p:sp>
    </p:spTree>
    <p:extLst>
      <p:ext uri="{BB962C8B-B14F-4D97-AF65-F5344CB8AC3E}">
        <p14:creationId xmlns:p14="http://schemas.microsoft.com/office/powerpoint/2010/main" val="4030714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544" cy="341064"/>
          </a:xfrm>
          <a:prstGeom prst="rect">
            <a:avLst/>
          </a:prstGeom>
        </p:spPr>
        <p:txBody>
          <a:bodyPr vert="horz" lIns="95550" tIns="47775" rIns="95550" bIns="47775"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2798" y="0"/>
            <a:ext cx="4301544" cy="341064"/>
          </a:xfrm>
          <a:prstGeom prst="rect">
            <a:avLst/>
          </a:prstGeom>
        </p:spPr>
        <p:txBody>
          <a:bodyPr vert="horz" lIns="95550" tIns="47775" rIns="95550" bIns="47775" rtlCol="0"/>
          <a:lstStyle>
            <a:lvl1pPr algn="r">
              <a:defRPr sz="1200"/>
            </a:lvl1pPr>
          </a:lstStyle>
          <a:p>
            <a:fld id="{77BB2CB4-990A-49C4-AADC-9B2CA19E50BC}" type="datetimeFigureOut">
              <a:rPr kumimoji="1" lang="ja-JP" altLang="en-US" smtClean="0"/>
              <a:t>2025/11/26</a:t>
            </a:fld>
            <a:endParaRPr kumimoji="1" lang="ja-JP" altLang="en-US"/>
          </a:p>
        </p:txBody>
      </p:sp>
      <p:sp>
        <p:nvSpPr>
          <p:cNvPr id="4" name="スライド イメージ プレースホルダー 3"/>
          <p:cNvSpPr>
            <a:spLocks noGrp="1" noRot="1" noChangeAspect="1"/>
          </p:cNvSpPr>
          <p:nvPr>
            <p:ph type="sldImg" idx="2"/>
          </p:nvPr>
        </p:nvSpPr>
        <p:spPr>
          <a:xfrm>
            <a:off x="3306763" y="849313"/>
            <a:ext cx="3313112" cy="2293937"/>
          </a:xfrm>
          <a:prstGeom prst="rect">
            <a:avLst/>
          </a:prstGeom>
          <a:noFill/>
          <a:ln w="12700">
            <a:solidFill>
              <a:prstClr val="black"/>
            </a:solidFill>
          </a:ln>
        </p:spPr>
        <p:txBody>
          <a:bodyPr vert="horz" lIns="95550" tIns="47775" rIns="95550" bIns="47775" rtlCol="0" anchor="ctr"/>
          <a:lstStyle/>
          <a:p>
            <a:endParaRPr lang="ja-JP" altLang="en-US"/>
          </a:p>
        </p:txBody>
      </p:sp>
      <p:sp>
        <p:nvSpPr>
          <p:cNvPr id="5" name="ノート プレースホルダー 4"/>
          <p:cNvSpPr>
            <a:spLocks noGrp="1"/>
          </p:cNvSpPr>
          <p:nvPr>
            <p:ph type="body" sz="quarter" idx="3"/>
          </p:nvPr>
        </p:nvSpPr>
        <p:spPr>
          <a:xfrm>
            <a:off x="992665" y="3271383"/>
            <a:ext cx="7941310" cy="2676584"/>
          </a:xfrm>
          <a:prstGeom prst="rect">
            <a:avLst/>
          </a:prstGeom>
        </p:spPr>
        <p:txBody>
          <a:bodyPr vert="horz" lIns="95550" tIns="47775" rIns="95550" bIns="4777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6456613"/>
            <a:ext cx="4301544" cy="341063"/>
          </a:xfrm>
          <a:prstGeom prst="rect">
            <a:avLst/>
          </a:prstGeom>
        </p:spPr>
        <p:txBody>
          <a:bodyPr vert="horz" lIns="95550" tIns="47775" rIns="95550" bIns="4777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2798" y="6456613"/>
            <a:ext cx="4301544" cy="341063"/>
          </a:xfrm>
          <a:prstGeom prst="rect">
            <a:avLst/>
          </a:prstGeom>
        </p:spPr>
        <p:txBody>
          <a:bodyPr vert="horz" lIns="95550" tIns="47775" rIns="95550" bIns="47775" rtlCol="0" anchor="b"/>
          <a:lstStyle>
            <a:lvl1pPr algn="r">
              <a:defRPr sz="1200"/>
            </a:lvl1pPr>
          </a:lstStyle>
          <a:p>
            <a:fld id="{30F9B3CF-BB5E-499C-96DD-F47E22CF7B26}" type="slidenum">
              <a:rPr kumimoji="1" lang="ja-JP" altLang="en-US" smtClean="0"/>
              <a:t>‹#›</a:t>
            </a:fld>
            <a:endParaRPr kumimoji="1" lang="ja-JP" altLang="en-US"/>
          </a:p>
        </p:txBody>
      </p:sp>
    </p:spTree>
    <p:extLst>
      <p:ext uri="{BB962C8B-B14F-4D97-AF65-F5344CB8AC3E}">
        <p14:creationId xmlns:p14="http://schemas.microsoft.com/office/powerpoint/2010/main" val="39008399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306763" y="849313"/>
            <a:ext cx="3313112" cy="2293937"/>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30F9B3CF-BB5E-499C-96DD-F47E22CF7B26}" type="slidenum">
              <a:rPr kumimoji="1" lang="ja-JP" altLang="en-US" smtClean="0"/>
              <a:t>1</a:t>
            </a:fld>
            <a:endParaRPr kumimoji="1" lang="ja-JP" altLang="en-US"/>
          </a:p>
        </p:txBody>
      </p:sp>
    </p:spTree>
    <p:extLst>
      <p:ext uri="{BB962C8B-B14F-4D97-AF65-F5344CB8AC3E}">
        <p14:creationId xmlns:p14="http://schemas.microsoft.com/office/powerpoint/2010/main" val="192222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例題</a:t>
            </a:r>
            <a:r>
              <a:rPr kumimoji="1" lang="en-US" altLang="ja-JP" dirty="0"/>
              <a:t>1】</a:t>
            </a:r>
          </a:p>
          <a:p>
            <a:r>
              <a:rPr kumimoji="1" lang="en-US" altLang="ja-JP" dirty="0"/>
              <a:t>SELECT</a:t>
            </a:r>
          </a:p>
          <a:p>
            <a:r>
              <a:rPr kumimoji="1" lang="en-US" altLang="ja-JP" dirty="0"/>
              <a:t>    </a:t>
            </a:r>
            <a:r>
              <a:rPr kumimoji="1" lang="en-US" altLang="ja-JP" dirty="0" err="1"/>
              <a:t>m_sho_bun</a:t>
            </a:r>
            <a:r>
              <a:rPr kumimoji="1" lang="en-US" altLang="ja-JP" dirty="0"/>
              <a:t>.</a:t>
            </a:r>
            <a:r>
              <a:rPr kumimoji="1" lang="ja-JP" altLang="en-US" dirty="0"/>
              <a:t>商品分類</a:t>
            </a:r>
            <a:r>
              <a:rPr kumimoji="1" lang="en-US" altLang="ja-JP" dirty="0"/>
              <a:t>CD</a:t>
            </a:r>
          </a:p>
          <a:p>
            <a:r>
              <a:rPr kumimoji="1" lang="en-US" altLang="ja-JP" dirty="0"/>
              <a:t>   ,</a:t>
            </a:r>
            <a:r>
              <a:rPr kumimoji="1" lang="en-US" altLang="ja-JP" dirty="0" err="1"/>
              <a:t>m_sho_bun</a:t>
            </a:r>
            <a:r>
              <a:rPr kumimoji="1" lang="en-US" altLang="ja-JP" dirty="0"/>
              <a:t>.</a:t>
            </a:r>
            <a:r>
              <a:rPr kumimoji="1" lang="ja-JP" altLang="en-US" dirty="0"/>
              <a:t>商品分類名</a:t>
            </a:r>
          </a:p>
          <a:p>
            <a:r>
              <a:rPr kumimoji="1" lang="en-US" altLang="ja-JP" dirty="0"/>
              <a:t>FROM m_</a:t>
            </a:r>
            <a:r>
              <a:rPr kumimoji="1" lang="ja-JP" altLang="en-US" dirty="0"/>
              <a:t>商品分類 </a:t>
            </a:r>
            <a:r>
              <a:rPr kumimoji="1" lang="en-US" altLang="ja-JP" dirty="0" err="1"/>
              <a:t>m_sho_bun</a:t>
            </a:r>
            <a:endParaRPr kumimoji="1" lang="en-US" altLang="ja-JP" dirty="0"/>
          </a:p>
          <a:p>
            <a:r>
              <a:rPr kumimoji="1" lang="en-US" altLang="ja-JP" dirty="0"/>
              <a:t>INNER JOIN m_</a:t>
            </a:r>
            <a:r>
              <a:rPr kumimoji="1" lang="ja-JP" altLang="en-US" dirty="0"/>
              <a:t>商品 </a:t>
            </a:r>
            <a:r>
              <a:rPr kumimoji="1" lang="en-US" altLang="ja-JP" dirty="0" err="1"/>
              <a:t>m_sho</a:t>
            </a:r>
            <a:endParaRPr kumimoji="1" lang="en-US" altLang="ja-JP" dirty="0"/>
          </a:p>
          <a:p>
            <a:r>
              <a:rPr kumimoji="1" lang="en-US" altLang="ja-JP" dirty="0"/>
              <a:t>    ON </a:t>
            </a:r>
            <a:r>
              <a:rPr kumimoji="1" lang="en-US" altLang="ja-JP" dirty="0" err="1"/>
              <a:t>m_sho_bun</a:t>
            </a:r>
            <a:r>
              <a:rPr kumimoji="1" lang="en-US" altLang="ja-JP" dirty="0"/>
              <a:t>.</a:t>
            </a:r>
            <a:r>
              <a:rPr kumimoji="1" lang="ja-JP" altLang="en-US" dirty="0"/>
              <a:t>商品分類</a:t>
            </a:r>
            <a:r>
              <a:rPr kumimoji="1" lang="en-US" altLang="ja-JP" dirty="0"/>
              <a:t>CD = </a:t>
            </a:r>
            <a:r>
              <a:rPr kumimoji="1" lang="en-US" altLang="ja-JP" dirty="0" err="1"/>
              <a:t>m_sho</a:t>
            </a:r>
            <a:r>
              <a:rPr kumimoji="1" lang="en-US" altLang="ja-JP" dirty="0"/>
              <a:t>.</a:t>
            </a:r>
            <a:r>
              <a:rPr kumimoji="1" lang="ja-JP" altLang="en-US" dirty="0"/>
              <a:t>商品分類</a:t>
            </a:r>
            <a:r>
              <a:rPr kumimoji="1" lang="en-US" altLang="ja-JP" dirty="0"/>
              <a:t>CD</a:t>
            </a:r>
          </a:p>
          <a:p>
            <a:r>
              <a:rPr kumimoji="1" lang="en-US" altLang="ja-JP" dirty="0"/>
              <a:t>GROUP BY </a:t>
            </a:r>
            <a:r>
              <a:rPr kumimoji="1" lang="en-US" altLang="ja-JP" dirty="0" err="1"/>
              <a:t>m_sho_bun</a:t>
            </a:r>
            <a:r>
              <a:rPr kumimoji="1" lang="en-US" altLang="ja-JP" dirty="0"/>
              <a:t>.</a:t>
            </a:r>
            <a:r>
              <a:rPr kumimoji="1" lang="ja-JP" altLang="en-US" dirty="0"/>
              <a:t>商品分類</a:t>
            </a:r>
            <a:r>
              <a:rPr kumimoji="1" lang="en-US" altLang="ja-JP" dirty="0"/>
              <a:t>CD</a:t>
            </a:r>
          </a:p>
          <a:p>
            <a:r>
              <a:rPr kumimoji="1" lang="en-US" altLang="ja-JP" dirty="0"/>
              <a:t>        ,</a:t>
            </a:r>
            <a:r>
              <a:rPr kumimoji="1" lang="en-US" altLang="ja-JP" dirty="0" err="1"/>
              <a:t>m_sho_bun</a:t>
            </a:r>
            <a:r>
              <a:rPr kumimoji="1" lang="en-US" altLang="ja-JP" dirty="0"/>
              <a:t>.</a:t>
            </a:r>
            <a:r>
              <a:rPr kumimoji="1" lang="ja-JP" altLang="en-US" dirty="0"/>
              <a:t>商品分類名</a:t>
            </a:r>
            <a:endParaRPr kumimoji="1" lang="en-US" altLang="ja-JP" dirty="0"/>
          </a:p>
          <a:p>
            <a:endParaRPr kumimoji="1" lang="en-US" altLang="ja-JP" dirty="0"/>
          </a:p>
          <a:p>
            <a:r>
              <a:rPr kumimoji="1" lang="en-US" altLang="ja-JP" dirty="0"/>
              <a:t>【</a:t>
            </a:r>
            <a:r>
              <a:rPr kumimoji="1" lang="ja-JP" altLang="en-US" dirty="0"/>
              <a:t>例題</a:t>
            </a:r>
            <a:r>
              <a:rPr kumimoji="1" lang="en-US" altLang="ja-JP" dirty="0"/>
              <a:t>2】</a:t>
            </a:r>
          </a:p>
          <a:p>
            <a:r>
              <a:rPr kumimoji="1" lang="en-US" altLang="ja-JP" dirty="0"/>
              <a:t>SELECT</a:t>
            </a:r>
          </a:p>
          <a:p>
            <a:r>
              <a:rPr kumimoji="1" lang="en-US" altLang="ja-JP" dirty="0"/>
              <a:t>    </a:t>
            </a:r>
            <a:r>
              <a:rPr kumimoji="1" lang="en-US" altLang="ja-JP" dirty="0" err="1"/>
              <a:t>m_sya</a:t>
            </a:r>
            <a:r>
              <a:rPr kumimoji="1" lang="en-US" altLang="ja-JP" dirty="0"/>
              <a:t>.</a:t>
            </a:r>
            <a:r>
              <a:rPr kumimoji="1" lang="ja-JP" altLang="en-US" dirty="0"/>
              <a:t>社員</a:t>
            </a:r>
            <a:r>
              <a:rPr kumimoji="1" lang="en-US" altLang="ja-JP" dirty="0"/>
              <a:t>CD</a:t>
            </a:r>
          </a:p>
          <a:p>
            <a:r>
              <a:rPr kumimoji="1" lang="en-US" altLang="ja-JP" dirty="0"/>
              <a:t>   ,</a:t>
            </a:r>
            <a:r>
              <a:rPr kumimoji="1" lang="en-US" altLang="ja-JP" dirty="0" err="1"/>
              <a:t>m_sya</a:t>
            </a:r>
            <a:r>
              <a:rPr kumimoji="1" lang="en-US" altLang="ja-JP" dirty="0"/>
              <a:t>.</a:t>
            </a:r>
            <a:r>
              <a:rPr kumimoji="1" lang="ja-JP" altLang="en-US" dirty="0"/>
              <a:t>氏名</a:t>
            </a:r>
            <a:endParaRPr kumimoji="1" lang="en-US" altLang="ja-JP" dirty="0"/>
          </a:p>
          <a:p>
            <a:r>
              <a:rPr kumimoji="1" lang="en-US" altLang="ja-JP" dirty="0"/>
              <a:t>   ,</a:t>
            </a:r>
            <a:r>
              <a:rPr kumimoji="1" lang="en-US" altLang="ja-JP" dirty="0" err="1"/>
              <a:t>m_busho</a:t>
            </a:r>
            <a:r>
              <a:rPr kumimoji="1" lang="en-US" altLang="ja-JP" dirty="0"/>
              <a:t>.</a:t>
            </a:r>
            <a:r>
              <a:rPr kumimoji="1" lang="ja-JP" altLang="en-US" dirty="0"/>
              <a:t>所属部署名</a:t>
            </a:r>
          </a:p>
          <a:p>
            <a:r>
              <a:rPr kumimoji="1" lang="ja-JP" altLang="en-US" dirty="0"/>
              <a:t>   </a:t>
            </a:r>
            <a:r>
              <a:rPr kumimoji="1" lang="en-US" altLang="ja-JP" dirty="0"/>
              <a:t>,</a:t>
            </a:r>
            <a:r>
              <a:rPr kumimoji="1" lang="en-US" altLang="ja-JP" dirty="0" err="1"/>
              <a:t>m_yaku</a:t>
            </a:r>
            <a:r>
              <a:rPr kumimoji="1" lang="en-US" altLang="ja-JP" dirty="0"/>
              <a:t>.</a:t>
            </a:r>
            <a:r>
              <a:rPr kumimoji="1" lang="ja-JP" altLang="en-US" dirty="0"/>
              <a:t>役職名</a:t>
            </a:r>
          </a:p>
          <a:p>
            <a:r>
              <a:rPr kumimoji="1" lang="en-US" altLang="ja-JP" dirty="0"/>
              <a:t>FROM m_</a:t>
            </a:r>
            <a:r>
              <a:rPr kumimoji="1" lang="ja-JP" altLang="en-US" dirty="0"/>
              <a:t>社員 </a:t>
            </a:r>
            <a:r>
              <a:rPr kumimoji="1" lang="en-US" altLang="ja-JP" dirty="0" err="1"/>
              <a:t>m_sya</a:t>
            </a:r>
            <a:endParaRPr kumimoji="1" lang="en-US" altLang="ja-JP" dirty="0"/>
          </a:p>
          <a:p>
            <a:r>
              <a:rPr kumimoji="1" lang="en-US" altLang="ja-JP" dirty="0"/>
              <a:t>LEFT JOIN m_</a:t>
            </a:r>
            <a:r>
              <a:rPr kumimoji="1" lang="ja-JP" altLang="en-US" dirty="0"/>
              <a:t>所属部署 </a:t>
            </a:r>
            <a:r>
              <a:rPr kumimoji="1" lang="en-US" altLang="ja-JP" dirty="0" err="1"/>
              <a:t>m_busho</a:t>
            </a:r>
            <a:endParaRPr kumimoji="1" lang="en-US" altLang="ja-JP" dirty="0"/>
          </a:p>
          <a:p>
            <a:r>
              <a:rPr kumimoji="1" lang="en-US" altLang="ja-JP" dirty="0"/>
              <a:t>    ON </a:t>
            </a:r>
            <a:r>
              <a:rPr kumimoji="1" lang="en-US" altLang="ja-JP" dirty="0" err="1"/>
              <a:t>m_sya</a:t>
            </a:r>
            <a:r>
              <a:rPr kumimoji="1" lang="en-US" altLang="ja-JP" dirty="0"/>
              <a:t>.</a:t>
            </a:r>
            <a:r>
              <a:rPr kumimoji="1" lang="ja-JP" altLang="en-US" dirty="0"/>
              <a:t>所属部署</a:t>
            </a:r>
            <a:r>
              <a:rPr kumimoji="1" lang="en-US" altLang="ja-JP" dirty="0"/>
              <a:t>CD = </a:t>
            </a:r>
            <a:r>
              <a:rPr kumimoji="1" lang="en-US" altLang="ja-JP" dirty="0" err="1"/>
              <a:t>m_busho</a:t>
            </a:r>
            <a:r>
              <a:rPr kumimoji="1" lang="en-US" altLang="ja-JP" dirty="0"/>
              <a:t>.</a:t>
            </a:r>
            <a:r>
              <a:rPr kumimoji="1" lang="ja-JP" altLang="en-US" dirty="0"/>
              <a:t>所属部署</a:t>
            </a:r>
            <a:r>
              <a:rPr kumimoji="1" lang="en-US" altLang="ja-JP" dirty="0"/>
              <a:t>CD</a:t>
            </a:r>
          </a:p>
          <a:p>
            <a:r>
              <a:rPr kumimoji="1" lang="en-US" altLang="ja-JP" dirty="0"/>
              <a:t>LEFT JOIN m_</a:t>
            </a:r>
            <a:r>
              <a:rPr kumimoji="1" lang="ja-JP" altLang="en-US" dirty="0"/>
              <a:t>役職 </a:t>
            </a:r>
            <a:r>
              <a:rPr kumimoji="1" lang="en-US" altLang="ja-JP" dirty="0" err="1"/>
              <a:t>m_yaku</a:t>
            </a:r>
            <a:endParaRPr kumimoji="1" lang="en-US" altLang="ja-JP" dirty="0"/>
          </a:p>
          <a:p>
            <a:r>
              <a:rPr kumimoji="1" lang="en-US" altLang="ja-JP" dirty="0"/>
              <a:t>    ON </a:t>
            </a:r>
            <a:r>
              <a:rPr kumimoji="1" lang="en-US" altLang="ja-JP" dirty="0" err="1"/>
              <a:t>m_sya</a:t>
            </a:r>
            <a:r>
              <a:rPr kumimoji="1" lang="en-US" altLang="ja-JP" dirty="0"/>
              <a:t>.</a:t>
            </a:r>
            <a:r>
              <a:rPr kumimoji="1" lang="ja-JP" altLang="en-US" dirty="0"/>
              <a:t>役職</a:t>
            </a:r>
            <a:r>
              <a:rPr kumimoji="1" lang="en-US" altLang="ja-JP" dirty="0"/>
              <a:t>CD = </a:t>
            </a:r>
            <a:r>
              <a:rPr kumimoji="1" lang="en-US" altLang="ja-JP" dirty="0" err="1"/>
              <a:t>m_yaku</a:t>
            </a:r>
            <a:r>
              <a:rPr kumimoji="1" lang="en-US" altLang="ja-JP" dirty="0"/>
              <a:t>.</a:t>
            </a:r>
            <a:r>
              <a:rPr kumimoji="1" lang="ja-JP" altLang="en-US" dirty="0"/>
              <a:t>役職</a:t>
            </a:r>
            <a:r>
              <a:rPr kumimoji="1" lang="en-US" altLang="ja-JP" dirty="0"/>
              <a:t>CD</a:t>
            </a:r>
          </a:p>
          <a:p>
            <a:endParaRPr kumimoji="1" lang="ja-JP" altLang="en-US" dirty="0"/>
          </a:p>
        </p:txBody>
      </p:sp>
      <p:sp>
        <p:nvSpPr>
          <p:cNvPr id="4" name="スライド番号プレースホルダー 3"/>
          <p:cNvSpPr>
            <a:spLocks noGrp="1"/>
          </p:cNvSpPr>
          <p:nvPr>
            <p:ph type="sldNum" sz="quarter" idx="5"/>
          </p:nvPr>
        </p:nvSpPr>
        <p:spPr/>
        <p:txBody>
          <a:bodyPr/>
          <a:lstStyle/>
          <a:p>
            <a:fld id="{30F9B3CF-BB5E-499C-96DD-F47E22CF7B26}" type="slidenum">
              <a:rPr kumimoji="1" lang="ja-JP" altLang="en-US" smtClean="0"/>
              <a:t>5</a:t>
            </a:fld>
            <a:endParaRPr kumimoji="1" lang="ja-JP" altLang="en-US"/>
          </a:p>
        </p:txBody>
      </p:sp>
    </p:spTree>
    <p:extLst>
      <p:ext uri="{BB962C8B-B14F-4D97-AF65-F5344CB8AC3E}">
        <p14:creationId xmlns:p14="http://schemas.microsoft.com/office/powerpoint/2010/main" val="3439093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例題</a:t>
            </a:r>
            <a:r>
              <a:rPr kumimoji="1" lang="en-US" altLang="ja-JP" dirty="0"/>
              <a:t>3】</a:t>
            </a:r>
          </a:p>
          <a:p>
            <a:r>
              <a:rPr kumimoji="1" lang="en-US" altLang="ja-JP" dirty="0"/>
              <a:t>SELECT</a:t>
            </a:r>
          </a:p>
          <a:p>
            <a:r>
              <a:rPr kumimoji="1" lang="en-US" altLang="ja-JP" dirty="0"/>
              <a:t>    t_uri.*</a:t>
            </a:r>
          </a:p>
          <a:p>
            <a:r>
              <a:rPr kumimoji="1" lang="en-US" altLang="ja-JP" dirty="0"/>
              <a:t>FROM t_</a:t>
            </a:r>
            <a:r>
              <a:rPr kumimoji="1" lang="ja-JP" altLang="en-US" dirty="0"/>
              <a:t>売上 </a:t>
            </a:r>
            <a:r>
              <a:rPr kumimoji="1" lang="en-US" altLang="ja-JP" dirty="0" err="1"/>
              <a:t>t_uri</a:t>
            </a:r>
            <a:endParaRPr kumimoji="1" lang="en-US" altLang="ja-JP" dirty="0"/>
          </a:p>
          <a:p>
            <a:r>
              <a:rPr kumimoji="1" lang="en-US" altLang="ja-JP" dirty="0"/>
              <a:t>INNER JOIN</a:t>
            </a:r>
          </a:p>
          <a:p>
            <a:r>
              <a:rPr kumimoji="1" lang="en-US" altLang="ja-JP" dirty="0"/>
              <a:t>    (</a:t>
            </a:r>
          </a:p>
          <a:p>
            <a:r>
              <a:rPr kumimoji="1" lang="en-US" altLang="ja-JP" dirty="0"/>
              <a:t>        SELECT</a:t>
            </a:r>
          </a:p>
          <a:p>
            <a:r>
              <a:rPr kumimoji="1" lang="en-US" altLang="ja-JP" dirty="0"/>
              <a:t>            </a:t>
            </a:r>
            <a:r>
              <a:rPr kumimoji="1" lang="en-US" altLang="ja-JP" dirty="0" err="1"/>
              <a:t>t_uri_sub</a:t>
            </a:r>
            <a:r>
              <a:rPr kumimoji="1" lang="en-US" altLang="ja-JP" dirty="0"/>
              <a:t>.</a:t>
            </a:r>
            <a:r>
              <a:rPr kumimoji="1" lang="ja-JP" altLang="en-US" dirty="0"/>
              <a:t>売上伝票番号</a:t>
            </a:r>
          </a:p>
          <a:p>
            <a:r>
              <a:rPr kumimoji="1" lang="ja-JP" altLang="en-US" dirty="0"/>
              <a:t>           </a:t>
            </a:r>
            <a:r>
              <a:rPr kumimoji="1" lang="en-US" altLang="ja-JP" dirty="0"/>
              <a:t>,MIN(</a:t>
            </a:r>
            <a:r>
              <a:rPr kumimoji="1" lang="en-US" altLang="ja-JP" dirty="0" err="1"/>
              <a:t>t_uri_sub</a:t>
            </a:r>
            <a:r>
              <a:rPr kumimoji="1" lang="en-US" altLang="ja-JP" dirty="0"/>
              <a:t>.</a:t>
            </a:r>
            <a:r>
              <a:rPr kumimoji="1" lang="ja-JP" altLang="en-US" dirty="0"/>
              <a:t>明細番号</a:t>
            </a:r>
            <a:r>
              <a:rPr kumimoji="1" lang="en-US" altLang="ja-JP" dirty="0"/>
              <a:t>) AS </a:t>
            </a:r>
            <a:r>
              <a:rPr kumimoji="1" lang="ja-JP" altLang="en-US" dirty="0"/>
              <a:t>最小明細番号</a:t>
            </a:r>
          </a:p>
          <a:p>
            <a:r>
              <a:rPr kumimoji="1" lang="ja-JP" altLang="en-US" dirty="0"/>
              <a:t>        </a:t>
            </a:r>
            <a:r>
              <a:rPr kumimoji="1" lang="en-US" altLang="ja-JP" dirty="0"/>
              <a:t>FROM t_</a:t>
            </a:r>
            <a:r>
              <a:rPr kumimoji="1" lang="ja-JP" altLang="en-US" dirty="0"/>
              <a:t>売上 </a:t>
            </a:r>
            <a:r>
              <a:rPr kumimoji="1" lang="en-US" altLang="ja-JP" dirty="0" err="1"/>
              <a:t>t_uri_sub</a:t>
            </a:r>
            <a:endParaRPr kumimoji="1" lang="en-US" altLang="ja-JP" dirty="0"/>
          </a:p>
          <a:p>
            <a:r>
              <a:rPr kumimoji="1" lang="en-US" altLang="ja-JP" dirty="0"/>
              <a:t>        WHERE </a:t>
            </a:r>
            <a:r>
              <a:rPr kumimoji="1" lang="en-US" altLang="ja-JP" dirty="0" err="1"/>
              <a:t>t_uri_sub</a:t>
            </a:r>
            <a:r>
              <a:rPr kumimoji="1" lang="en-US" altLang="ja-JP" dirty="0"/>
              <a:t>.</a:t>
            </a:r>
            <a:r>
              <a:rPr kumimoji="1" lang="ja-JP" altLang="en-US" dirty="0"/>
              <a:t>売上日 </a:t>
            </a:r>
            <a:r>
              <a:rPr kumimoji="1" lang="en-US" altLang="ja-JP" dirty="0"/>
              <a:t>= '2025/04/01'</a:t>
            </a:r>
          </a:p>
          <a:p>
            <a:r>
              <a:rPr kumimoji="1" lang="en-US" altLang="ja-JP" dirty="0"/>
              <a:t>        GROUP BY </a:t>
            </a:r>
            <a:r>
              <a:rPr kumimoji="1" lang="en-US" altLang="ja-JP" dirty="0" err="1"/>
              <a:t>t_uri_sub</a:t>
            </a:r>
            <a:r>
              <a:rPr kumimoji="1" lang="en-US" altLang="ja-JP" dirty="0"/>
              <a:t>.</a:t>
            </a:r>
            <a:r>
              <a:rPr kumimoji="1" lang="ja-JP" altLang="en-US" dirty="0"/>
              <a:t>売上伝票番号</a:t>
            </a:r>
          </a:p>
          <a:p>
            <a:r>
              <a:rPr kumimoji="1" lang="ja-JP" altLang="en-US" dirty="0"/>
              <a:t>    </a:t>
            </a:r>
            <a:r>
              <a:rPr kumimoji="1" lang="en-US" altLang="ja-JP" dirty="0"/>
              <a:t>) </a:t>
            </a:r>
            <a:r>
              <a:rPr kumimoji="1" lang="en-US" altLang="ja-JP" dirty="0" err="1"/>
              <a:t>t_uri_min</a:t>
            </a:r>
            <a:endParaRPr kumimoji="1" lang="en-US" altLang="ja-JP" dirty="0"/>
          </a:p>
          <a:p>
            <a:r>
              <a:rPr kumimoji="1" lang="en-US" altLang="ja-JP" dirty="0"/>
              <a:t>    ON </a:t>
            </a:r>
            <a:r>
              <a:rPr kumimoji="1" lang="en-US" altLang="ja-JP" dirty="0" err="1"/>
              <a:t>t_uri</a:t>
            </a:r>
            <a:r>
              <a:rPr kumimoji="1" lang="en-US" altLang="ja-JP" dirty="0"/>
              <a:t>.</a:t>
            </a:r>
            <a:r>
              <a:rPr kumimoji="1" lang="ja-JP" altLang="en-US" dirty="0"/>
              <a:t>売上伝票番号 </a:t>
            </a:r>
            <a:r>
              <a:rPr kumimoji="1" lang="en-US" altLang="ja-JP" dirty="0"/>
              <a:t>= </a:t>
            </a:r>
            <a:r>
              <a:rPr kumimoji="1" lang="en-US" altLang="ja-JP" dirty="0" err="1"/>
              <a:t>t_uri_min</a:t>
            </a:r>
            <a:r>
              <a:rPr kumimoji="1" lang="en-US" altLang="ja-JP" dirty="0"/>
              <a:t>.</a:t>
            </a:r>
            <a:r>
              <a:rPr kumimoji="1" lang="ja-JP" altLang="en-US" dirty="0"/>
              <a:t>売上伝票番号</a:t>
            </a:r>
          </a:p>
          <a:p>
            <a:r>
              <a:rPr kumimoji="1" lang="ja-JP" altLang="en-US" dirty="0"/>
              <a:t>   </a:t>
            </a:r>
            <a:r>
              <a:rPr kumimoji="1" lang="en-US" altLang="ja-JP" dirty="0"/>
              <a:t>AND </a:t>
            </a:r>
            <a:r>
              <a:rPr kumimoji="1" lang="en-US" altLang="ja-JP" dirty="0" err="1"/>
              <a:t>t_uri</a:t>
            </a:r>
            <a:r>
              <a:rPr kumimoji="1" lang="en-US" altLang="ja-JP" dirty="0"/>
              <a:t>.</a:t>
            </a:r>
            <a:r>
              <a:rPr kumimoji="1" lang="ja-JP" altLang="en-US" dirty="0"/>
              <a:t>明細番号 </a:t>
            </a:r>
            <a:r>
              <a:rPr kumimoji="1" lang="en-US" altLang="ja-JP" dirty="0"/>
              <a:t>= </a:t>
            </a:r>
            <a:r>
              <a:rPr kumimoji="1" lang="en-US" altLang="ja-JP" dirty="0" err="1"/>
              <a:t>t_uri_min</a:t>
            </a:r>
            <a:r>
              <a:rPr kumimoji="1" lang="en-US" altLang="ja-JP" dirty="0"/>
              <a:t>.</a:t>
            </a:r>
            <a:r>
              <a:rPr kumimoji="1" lang="ja-JP" altLang="en-US" dirty="0"/>
              <a:t>最小明細番号</a:t>
            </a:r>
          </a:p>
          <a:p>
            <a:endParaRPr kumimoji="1" lang="en-US" altLang="ja-JP" dirty="0"/>
          </a:p>
          <a:p>
            <a:r>
              <a:rPr kumimoji="1" lang="en-US" altLang="ja-JP" dirty="0"/>
              <a:t>【</a:t>
            </a:r>
            <a:r>
              <a:rPr kumimoji="1" lang="ja-JP" altLang="en-US" dirty="0"/>
              <a:t>例題</a:t>
            </a:r>
            <a:r>
              <a:rPr kumimoji="1" lang="en-US" altLang="ja-JP" dirty="0"/>
              <a:t>4】</a:t>
            </a:r>
          </a:p>
          <a:p>
            <a:r>
              <a:rPr kumimoji="1" lang="en-US" altLang="ja-JP" dirty="0"/>
              <a:t>SELECT</a:t>
            </a:r>
          </a:p>
          <a:p>
            <a:r>
              <a:rPr kumimoji="1" lang="en-US" altLang="ja-JP" dirty="0"/>
              <a:t>    MIN(</a:t>
            </a:r>
            <a:r>
              <a:rPr kumimoji="1" lang="en-US" altLang="ja-JP" dirty="0" err="1"/>
              <a:t>t_uri_sum</a:t>
            </a:r>
            <a:r>
              <a:rPr kumimoji="1" lang="en-US" altLang="ja-JP" dirty="0"/>
              <a:t>.</a:t>
            </a:r>
            <a:r>
              <a:rPr kumimoji="1" lang="ja-JP" altLang="en-US" dirty="0"/>
              <a:t>販売数量計</a:t>
            </a:r>
            <a:r>
              <a:rPr kumimoji="1" lang="en-US" altLang="ja-JP" dirty="0"/>
              <a:t>) AS </a:t>
            </a:r>
            <a:r>
              <a:rPr kumimoji="1" lang="ja-JP" altLang="en-US" dirty="0"/>
              <a:t>販売数量計</a:t>
            </a:r>
          </a:p>
          <a:p>
            <a:r>
              <a:rPr kumimoji="1" lang="en-US" altLang="ja-JP" dirty="0"/>
              <a:t>FROM</a:t>
            </a:r>
          </a:p>
          <a:p>
            <a:r>
              <a:rPr kumimoji="1" lang="en-US" altLang="ja-JP" dirty="0"/>
              <a:t>    (</a:t>
            </a:r>
          </a:p>
          <a:p>
            <a:r>
              <a:rPr kumimoji="1" lang="en-US" altLang="ja-JP" dirty="0"/>
              <a:t>        SELECT</a:t>
            </a:r>
          </a:p>
          <a:p>
            <a:r>
              <a:rPr kumimoji="1" lang="en-US" altLang="ja-JP" dirty="0"/>
              <a:t>            SUBSTRING(</a:t>
            </a:r>
            <a:r>
              <a:rPr kumimoji="1" lang="en-US" altLang="ja-JP" dirty="0" err="1"/>
              <a:t>t_uri</a:t>
            </a:r>
            <a:r>
              <a:rPr kumimoji="1" lang="en-US" altLang="ja-JP" dirty="0"/>
              <a:t>.</a:t>
            </a:r>
            <a:r>
              <a:rPr kumimoji="1" lang="ja-JP" altLang="en-US" dirty="0"/>
              <a:t>売上日</a:t>
            </a:r>
            <a:r>
              <a:rPr kumimoji="1" lang="en-US" altLang="ja-JP" dirty="0"/>
              <a:t>, 1, 7) AS </a:t>
            </a:r>
            <a:r>
              <a:rPr kumimoji="1" lang="ja-JP" altLang="en-US" dirty="0"/>
              <a:t>売上年月</a:t>
            </a:r>
          </a:p>
          <a:p>
            <a:r>
              <a:rPr kumimoji="1" lang="ja-JP" altLang="en-US" dirty="0"/>
              <a:t>           </a:t>
            </a:r>
            <a:r>
              <a:rPr kumimoji="1" lang="en-US" altLang="ja-JP" dirty="0"/>
              <a:t>,SUM(</a:t>
            </a:r>
            <a:r>
              <a:rPr kumimoji="1" lang="en-US" altLang="ja-JP" dirty="0" err="1"/>
              <a:t>t_uri</a:t>
            </a:r>
            <a:r>
              <a:rPr kumimoji="1" lang="en-US" altLang="ja-JP" dirty="0"/>
              <a:t>.</a:t>
            </a:r>
            <a:r>
              <a:rPr kumimoji="1" lang="ja-JP" altLang="en-US" dirty="0"/>
              <a:t>販売数量</a:t>
            </a:r>
            <a:r>
              <a:rPr kumimoji="1" lang="en-US" altLang="ja-JP" dirty="0"/>
              <a:t>) AS </a:t>
            </a:r>
            <a:r>
              <a:rPr kumimoji="1" lang="ja-JP" altLang="en-US" dirty="0"/>
              <a:t>販売数量計</a:t>
            </a:r>
          </a:p>
          <a:p>
            <a:r>
              <a:rPr kumimoji="1" lang="ja-JP" altLang="en-US" dirty="0"/>
              <a:t>        </a:t>
            </a:r>
            <a:r>
              <a:rPr kumimoji="1" lang="en-US" altLang="ja-JP" dirty="0"/>
              <a:t>FROM t_</a:t>
            </a:r>
            <a:r>
              <a:rPr kumimoji="1" lang="ja-JP" altLang="en-US" dirty="0"/>
              <a:t>売上 </a:t>
            </a:r>
            <a:r>
              <a:rPr kumimoji="1" lang="en-US" altLang="ja-JP" dirty="0" err="1"/>
              <a:t>t_uri</a:t>
            </a:r>
            <a:endParaRPr kumimoji="1" lang="en-US" altLang="ja-JP" dirty="0"/>
          </a:p>
          <a:p>
            <a:r>
              <a:rPr kumimoji="1" lang="en-US" altLang="ja-JP" dirty="0"/>
              <a:t>        GROUP BY SUBSTRING(</a:t>
            </a:r>
            <a:r>
              <a:rPr kumimoji="1" lang="en-US" altLang="ja-JP" dirty="0" err="1"/>
              <a:t>t_uri</a:t>
            </a:r>
            <a:r>
              <a:rPr kumimoji="1" lang="en-US" altLang="ja-JP" dirty="0"/>
              <a:t>.</a:t>
            </a:r>
            <a:r>
              <a:rPr kumimoji="1" lang="ja-JP" altLang="en-US" dirty="0"/>
              <a:t>売上日</a:t>
            </a:r>
            <a:r>
              <a:rPr kumimoji="1" lang="en-US" altLang="ja-JP" dirty="0"/>
              <a:t>, 1, 7)</a:t>
            </a:r>
          </a:p>
          <a:p>
            <a:r>
              <a:rPr kumimoji="1" lang="en-US" altLang="ja-JP" dirty="0"/>
              <a:t>    ) </a:t>
            </a:r>
            <a:r>
              <a:rPr kumimoji="1" lang="en-US" altLang="ja-JP" dirty="0" err="1"/>
              <a:t>t_uri_sum</a:t>
            </a:r>
            <a:endParaRPr kumimoji="1" lang="en-US" altLang="ja-JP" dirty="0"/>
          </a:p>
          <a:p>
            <a:endParaRPr kumimoji="1" lang="en-US" altLang="ja-JP" dirty="0"/>
          </a:p>
          <a:p>
            <a:r>
              <a:rPr kumimoji="1" lang="en-US" altLang="ja-JP" dirty="0"/>
              <a:t>【</a:t>
            </a:r>
            <a:r>
              <a:rPr kumimoji="1" lang="ja-JP" altLang="en-US" dirty="0"/>
              <a:t>例題</a:t>
            </a:r>
            <a:r>
              <a:rPr kumimoji="1" lang="en-US" altLang="ja-JP" dirty="0"/>
              <a:t>5】</a:t>
            </a:r>
          </a:p>
          <a:p>
            <a:r>
              <a:rPr kumimoji="1" lang="en-US" altLang="ja-JP" dirty="0"/>
              <a:t>SELECT</a:t>
            </a:r>
          </a:p>
          <a:p>
            <a:r>
              <a:rPr kumimoji="1" lang="en-US" altLang="ja-JP" dirty="0"/>
              <a:t>    </a:t>
            </a:r>
            <a:r>
              <a:rPr kumimoji="1" lang="en-US" altLang="ja-JP" dirty="0" err="1"/>
              <a:t>t_uri_sum</a:t>
            </a:r>
            <a:r>
              <a:rPr kumimoji="1" lang="en-US" altLang="ja-JP" dirty="0"/>
              <a:t>.</a:t>
            </a:r>
            <a:r>
              <a:rPr kumimoji="1" lang="ja-JP" altLang="en-US" dirty="0"/>
              <a:t>売上年月</a:t>
            </a:r>
          </a:p>
          <a:p>
            <a:r>
              <a:rPr kumimoji="1" lang="ja-JP" altLang="en-US" dirty="0"/>
              <a:t>   </a:t>
            </a:r>
            <a:r>
              <a:rPr kumimoji="1" lang="en-US" altLang="ja-JP" dirty="0"/>
              <a:t>,</a:t>
            </a:r>
            <a:r>
              <a:rPr kumimoji="1" lang="en-US" altLang="ja-JP" dirty="0" err="1"/>
              <a:t>t_uri_sum</a:t>
            </a:r>
            <a:r>
              <a:rPr kumimoji="1" lang="en-US" altLang="ja-JP" dirty="0"/>
              <a:t>.</a:t>
            </a:r>
            <a:r>
              <a:rPr kumimoji="1" lang="ja-JP" altLang="en-US" dirty="0"/>
              <a:t>得意先</a:t>
            </a:r>
            <a:r>
              <a:rPr kumimoji="1" lang="en-US" altLang="ja-JP" dirty="0"/>
              <a:t>CD</a:t>
            </a:r>
          </a:p>
          <a:p>
            <a:r>
              <a:rPr kumimoji="1" lang="en-US" altLang="ja-JP" dirty="0"/>
              <a:t>   ,</a:t>
            </a:r>
            <a:r>
              <a:rPr kumimoji="1" lang="en-US" altLang="ja-JP" dirty="0" err="1"/>
              <a:t>m_tok</a:t>
            </a:r>
            <a:r>
              <a:rPr kumimoji="1" lang="en-US" altLang="ja-JP" dirty="0"/>
              <a:t>.</a:t>
            </a:r>
            <a:r>
              <a:rPr kumimoji="1" lang="ja-JP" altLang="en-US" dirty="0"/>
              <a:t>得意先名</a:t>
            </a:r>
          </a:p>
          <a:p>
            <a:r>
              <a:rPr kumimoji="1" lang="ja-JP" altLang="en-US" dirty="0"/>
              <a:t>   </a:t>
            </a:r>
            <a:r>
              <a:rPr kumimoji="1" lang="en-US" altLang="ja-JP" dirty="0"/>
              <a:t>,</a:t>
            </a:r>
            <a:r>
              <a:rPr kumimoji="1" lang="en-US" altLang="ja-JP" dirty="0" err="1"/>
              <a:t>t_uri_sum</a:t>
            </a:r>
            <a:r>
              <a:rPr kumimoji="1" lang="en-US" altLang="ja-JP" dirty="0"/>
              <a:t>.</a:t>
            </a:r>
            <a:r>
              <a:rPr kumimoji="1" lang="ja-JP" altLang="en-US" dirty="0"/>
              <a:t>商品</a:t>
            </a:r>
            <a:r>
              <a:rPr kumimoji="1" lang="en-US" altLang="ja-JP" dirty="0"/>
              <a:t>CD</a:t>
            </a:r>
          </a:p>
          <a:p>
            <a:r>
              <a:rPr kumimoji="1" lang="en-US" altLang="ja-JP" dirty="0"/>
              <a:t>   ,</a:t>
            </a:r>
            <a:r>
              <a:rPr kumimoji="1" lang="en-US" altLang="ja-JP" dirty="0" err="1"/>
              <a:t>m_sho</a:t>
            </a:r>
            <a:r>
              <a:rPr kumimoji="1" lang="en-US" altLang="ja-JP" dirty="0"/>
              <a:t>.</a:t>
            </a:r>
            <a:r>
              <a:rPr kumimoji="1" lang="ja-JP" altLang="en-US" dirty="0"/>
              <a:t>商品名</a:t>
            </a:r>
          </a:p>
          <a:p>
            <a:r>
              <a:rPr kumimoji="1" lang="ja-JP" altLang="en-US" dirty="0"/>
              <a:t>   </a:t>
            </a:r>
            <a:r>
              <a:rPr kumimoji="1" lang="en-US" altLang="ja-JP" dirty="0"/>
              <a:t>,</a:t>
            </a:r>
            <a:r>
              <a:rPr kumimoji="1" lang="en-US" altLang="ja-JP" dirty="0" err="1"/>
              <a:t>t_uri_sum</a:t>
            </a:r>
            <a:r>
              <a:rPr kumimoji="1" lang="en-US" altLang="ja-JP" dirty="0"/>
              <a:t>.</a:t>
            </a:r>
            <a:r>
              <a:rPr kumimoji="1" lang="ja-JP" altLang="en-US" dirty="0"/>
              <a:t>販売数量計</a:t>
            </a:r>
          </a:p>
          <a:p>
            <a:r>
              <a:rPr kumimoji="1" lang="ja-JP" altLang="en-US" dirty="0"/>
              <a:t>   </a:t>
            </a:r>
            <a:r>
              <a:rPr kumimoji="1" lang="en-US" altLang="ja-JP" dirty="0"/>
              <a:t>,</a:t>
            </a:r>
            <a:r>
              <a:rPr kumimoji="1" lang="en-US" altLang="ja-JP" dirty="0" err="1"/>
              <a:t>t_uri_sum</a:t>
            </a:r>
            <a:r>
              <a:rPr kumimoji="1" lang="en-US" altLang="ja-JP" dirty="0"/>
              <a:t>.</a:t>
            </a:r>
            <a:r>
              <a:rPr kumimoji="1" lang="ja-JP" altLang="en-US" dirty="0"/>
              <a:t>販売金額計</a:t>
            </a:r>
          </a:p>
          <a:p>
            <a:r>
              <a:rPr kumimoji="1" lang="en-US" altLang="ja-JP" dirty="0"/>
              <a:t>FROM</a:t>
            </a:r>
          </a:p>
          <a:p>
            <a:r>
              <a:rPr kumimoji="1" lang="en-US" altLang="ja-JP" dirty="0"/>
              <a:t>    (</a:t>
            </a:r>
          </a:p>
          <a:p>
            <a:r>
              <a:rPr kumimoji="1" lang="en-US" altLang="ja-JP" dirty="0"/>
              <a:t>        SELECT</a:t>
            </a:r>
          </a:p>
          <a:p>
            <a:r>
              <a:rPr kumimoji="1" lang="en-US" altLang="ja-JP" dirty="0"/>
              <a:t>            SUBSTRING(</a:t>
            </a:r>
            <a:r>
              <a:rPr kumimoji="1" lang="en-US" altLang="ja-JP" dirty="0" err="1"/>
              <a:t>t_uri</a:t>
            </a:r>
            <a:r>
              <a:rPr kumimoji="1" lang="en-US" altLang="ja-JP" dirty="0"/>
              <a:t>.</a:t>
            </a:r>
            <a:r>
              <a:rPr kumimoji="1" lang="ja-JP" altLang="en-US" dirty="0"/>
              <a:t>売上日</a:t>
            </a:r>
            <a:r>
              <a:rPr kumimoji="1" lang="en-US" altLang="ja-JP" dirty="0"/>
              <a:t>, 1, 7) AS </a:t>
            </a:r>
            <a:r>
              <a:rPr kumimoji="1" lang="ja-JP" altLang="en-US" dirty="0"/>
              <a:t>売上年月</a:t>
            </a:r>
          </a:p>
          <a:p>
            <a:r>
              <a:rPr kumimoji="1" lang="ja-JP" altLang="en-US" dirty="0"/>
              <a:t>           </a:t>
            </a:r>
            <a:r>
              <a:rPr kumimoji="1" lang="en-US" altLang="ja-JP" dirty="0"/>
              <a:t>,</a:t>
            </a:r>
            <a:r>
              <a:rPr kumimoji="1" lang="en-US" altLang="ja-JP" dirty="0" err="1"/>
              <a:t>t_uri</a:t>
            </a:r>
            <a:r>
              <a:rPr kumimoji="1" lang="en-US" altLang="ja-JP" dirty="0"/>
              <a:t>.</a:t>
            </a:r>
            <a:r>
              <a:rPr kumimoji="1" lang="ja-JP" altLang="en-US" dirty="0"/>
              <a:t>得意先</a:t>
            </a:r>
            <a:r>
              <a:rPr kumimoji="1" lang="en-US" altLang="ja-JP" dirty="0"/>
              <a:t>CD</a:t>
            </a:r>
          </a:p>
          <a:p>
            <a:r>
              <a:rPr kumimoji="1" lang="en-US" altLang="ja-JP" dirty="0"/>
              <a:t>           ,</a:t>
            </a:r>
            <a:r>
              <a:rPr kumimoji="1" lang="en-US" altLang="ja-JP" dirty="0" err="1"/>
              <a:t>t_uri</a:t>
            </a:r>
            <a:r>
              <a:rPr kumimoji="1" lang="en-US" altLang="ja-JP" dirty="0"/>
              <a:t>.</a:t>
            </a:r>
            <a:r>
              <a:rPr kumimoji="1" lang="ja-JP" altLang="en-US" dirty="0"/>
              <a:t>商品</a:t>
            </a:r>
            <a:r>
              <a:rPr kumimoji="1" lang="en-US" altLang="ja-JP" dirty="0"/>
              <a:t>CD</a:t>
            </a:r>
          </a:p>
          <a:p>
            <a:r>
              <a:rPr kumimoji="1" lang="en-US" altLang="ja-JP" dirty="0"/>
              <a:t>           ,SUM(</a:t>
            </a:r>
            <a:r>
              <a:rPr kumimoji="1" lang="en-US" altLang="ja-JP" dirty="0" err="1"/>
              <a:t>t_uri</a:t>
            </a:r>
            <a:r>
              <a:rPr kumimoji="1" lang="en-US" altLang="ja-JP" dirty="0"/>
              <a:t>.</a:t>
            </a:r>
            <a:r>
              <a:rPr kumimoji="1" lang="ja-JP" altLang="en-US" dirty="0"/>
              <a:t>販売数量</a:t>
            </a:r>
            <a:r>
              <a:rPr kumimoji="1" lang="en-US" altLang="ja-JP" dirty="0"/>
              <a:t>) AS </a:t>
            </a:r>
            <a:r>
              <a:rPr kumimoji="1" lang="ja-JP" altLang="en-US" dirty="0"/>
              <a:t>販売数量計</a:t>
            </a:r>
          </a:p>
          <a:p>
            <a:r>
              <a:rPr kumimoji="1" lang="ja-JP" altLang="en-US" dirty="0"/>
              <a:t>           </a:t>
            </a:r>
            <a:r>
              <a:rPr kumimoji="1" lang="en-US" altLang="ja-JP" dirty="0"/>
              <a:t>,SUM(ROUND(</a:t>
            </a:r>
            <a:r>
              <a:rPr kumimoji="1" lang="en-US" altLang="ja-JP" dirty="0" err="1"/>
              <a:t>t_uri</a:t>
            </a:r>
            <a:r>
              <a:rPr kumimoji="1" lang="en-US" altLang="ja-JP" dirty="0"/>
              <a:t>.</a:t>
            </a:r>
            <a:r>
              <a:rPr kumimoji="1" lang="ja-JP" altLang="en-US" dirty="0"/>
              <a:t>販売数量 * </a:t>
            </a:r>
            <a:r>
              <a:rPr kumimoji="1" lang="en-US" altLang="ja-JP" dirty="0"/>
              <a:t>IFNULL(</a:t>
            </a:r>
            <a:r>
              <a:rPr kumimoji="1" lang="en-US" altLang="ja-JP" dirty="0" err="1"/>
              <a:t>m_sho</a:t>
            </a:r>
            <a:r>
              <a:rPr kumimoji="1" lang="en-US" altLang="ja-JP" dirty="0"/>
              <a:t>.</a:t>
            </a:r>
            <a:r>
              <a:rPr kumimoji="1" lang="ja-JP" altLang="en-US" dirty="0"/>
              <a:t>税抜販売価格</a:t>
            </a:r>
            <a:r>
              <a:rPr kumimoji="1" lang="en-US" altLang="ja-JP" dirty="0"/>
              <a:t>, 0), 0)) AS </a:t>
            </a:r>
            <a:r>
              <a:rPr kumimoji="1" lang="ja-JP" altLang="en-US" dirty="0"/>
              <a:t>販売金額計</a:t>
            </a:r>
          </a:p>
          <a:p>
            <a:r>
              <a:rPr kumimoji="1" lang="ja-JP" altLang="en-US" dirty="0"/>
              <a:t>        </a:t>
            </a:r>
            <a:r>
              <a:rPr kumimoji="1" lang="en-US" altLang="ja-JP" dirty="0"/>
              <a:t>FROM t_</a:t>
            </a:r>
            <a:r>
              <a:rPr kumimoji="1" lang="ja-JP" altLang="en-US" dirty="0"/>
              <a:t>売上 </a:t>
            </a:r>
            <a:r>
              <a:rPr kumimoji="1" lang="en-US" altLang="ja-JP" dirty="0" err="1"/>
              <a:t>t_uri</a:t>
            </a:r>
            <a:endParaRPr kumimoji="1" lang="en-US" altLang="ja-JP" dirty="0"/>
          </a:p>
          <a:p>
            <a:r>
              <a:rPr kumimoji="1" lang="en-US" altLang="ja-JP" dirty="0"/>
              <a:t>        LEFT JOIN m_</a:t>
            </a:r>
            <a:r>
              <a:rPr kumimoji="1" lang="ja-JP" altLang="en-US" dirty="0"/>
              <a:t>商品 </a:t>
            </a:r>
            <a:r>
              <a:rPr kumimoji="1" lang="en-US" altLang="ja-JP" dirty="0" err="1"/>
              <a:t>m_sho</a:t>
            </a:r>
            <a:endParaRPr kumimoji="1" lang="en-US" altLang="ja-JP" dirty="0"/>
          </a:p>
          <a:p>
            <a:r>
              <a:rPr kumimoji="1" lang="en-US" altLang="ja-JP" dirty="0"/>
              <a:t>            ON </a:t>
            </a:r>
            <a:r>
              <a:rPr kumimoji="1" lang="en-US" altLang="ja-JP" dirty="0" err="1"/>
              <a:t>t_uri</a:t>
            </a:r>
            <a:r>
              <a:rPr kumimoji="1" lang="en-US" altLang="ja-JP" dirty="0"/>
              <a:t>.</a:t>
            </a:r>
            <a:r>
              <a:rPr kumimoji="1" lang="ja-JP" altLang="en-US" dirty="0"/>
              <a:t>商品</a:t>
            </a:r>
            <a:r>
              <a:rPr kumimoji="1" lang="en-US" altLang="ja-JP" dirty="0"/>
              <a:t>CD = </a:t>
            </a:r>
            <a:r>
              <a:rPr kumimoji="1" lang="en-US" altLang="ja-JP" dirty="0" err="1"/>
              <a:t>m_sho</a:t>
            </a:r>
            <a:r>
              <a:rPr kumimoji="1" lang="en-US" altLang="ja-JP" dirty="0"/>
              <a:t>.</a:t>
            </a:r>
            <a:r>
              <a:rPr kumimoji="1" lang="ja-JP" altLang="en-US" dirty="0"/>
              <a:t>商品</a:t>
            </a:r>
            <a:r>
              <a:rPr kumimoji="1" lang="en-US" altLang="ja-JP" dirty="0"/>
              <a:t>CD</a:t>
            </a:r>
          </a:p>
          <a:p>
            <a:r>
              <a:rPr kumimoji="1" lang="en-US" altLang="ja-JP" dirty="0"/>
              <a:t>        GROUP BY SUBSTRING(</a:t>
            </a:r>
            <a:r>
              <a:rPr kumimoji="1" lang="en-US" altLang="ja-JP" dirty="0" err="1"/>
              <a:t>t_uri</a:t>
            </a:r>
            <a:r>
              <a:rPr kumimoji="1" lang="en-US" altLang="ja-JP" dirty="0"/>
              <a:t>.</a:t>
            </a:r>
            <a:r>
              <a:rPr kumimoji="1" lang="ja-JP" altLang="en-US" dirty="0"/>
              <a:t>売上日</a:t>
            </a:r>
            <a:r>
              <a:rPr kumimoji="1" lang="en-US" altLang="ja-JP" dirty="0"/>
              <a:t>, 1, 7)</a:t>
            </a:r>
          </a:p>
          <a:p>
            <a:r>
              <a:rPr kumimoji="1" lang="en-US" altLang="ja-JP" dirty="0"/>
              <a:t>                ,</a:t>
            </a:r>
            <a:r>
              <a:rPr kumimoji="1" lang="en-US" altLang="ja-JP" dirty="0" err="1"/>
              <a:t>t_uri</a:t>
            </a:r>
            <a:r>
              <a:rPr kumimoji="1" lang="en-US" altLang="ja-JP" dirty="0"/>
              <a:t>.</a:t>
            </a:r>
            <a:r>
              <a:rPr kumimoji="1" lang="ja-JP" altLang="en-US" dirty="0"/>
              <a:t>得意先</a:t>
            </a:r>
            <a:r>
              <a:rPr kumimoji="1" lang="en-US" altLang="ja-JP" dirty="0"/>
              <a:t>CD</a:t>
            </a:r>
          </a:p>
          <a:p>
            <a:r>
              <a:rPr kumimoji="1" lang="en-US" altLang="ja-JP" dirty="0"/>
              <a:t>                ,</a:t>
            </a:r>
            <a:r>
              <a:rPr kumimoji="1" lang="en-US" altLang="ja-JP" dirty="0" err="1"/>
              <a:t>t_uri</a:t>
            </a:r>
            <a:r>
              <a:rPr kumimoji="1" lang="en-US" altLang="ja-JP" dirty="0"/>
              <a:t>.</a:t>
            </a:r>
            <a:r>
              <a:rPr kumimoji="1" lang="ja-JP" altLang="en-US" dirty="0"/>
              <a:t>商品</a:t>
            </a:r>
            <a:r>
              <a:rPr kumimoji="1" lang="en-US" altLang="ja-JP" dirty="0"/>
              <a:t>CD</a:t>
            </a:r>
          </a:p>
          <a:p>
            <a:r>
              <a:rPr kumimoji="1" lang="en-US" altLang="ja-JP" dirty="0"/>
              <a:t>    ) </a:t>
            </a:r>
            <a:r>
              <a:rPr kumimoji="1" lang="en-US" altLang="ja-JP" dirty="0" err="1"/>
              <a:t>t_uri_sum</a:t>
            </a:r>
            <a:endParaRPr kumimoji="1" lang="en-US" altLang="ja-JP" dirty="0"/>
          </a:p>
          <a:p>
            <a:r>
              <a:rPr kumimoji="1" lang="en-US" altLang="ja-JP" dirty="0"/>
              <a:t>LEFT JOIN m_</a:t>
            </a:r>
            <a:r>
              <a:rPr kumimoji="1" lang="ja-JP" altLang="en-US" dirty="0"/>
              <a:t>得意先 </a:t>
            </a:r>
            <a:r>
              <a:rPr kumimoji="1" lang="en-US" altLang="ja-JP" dirty="0" err="1"/>
              <a:t>m_tok</a:t>
            </a:r>
            <a:endParaRPr kumimoji="1" lang="en-US" altLang="ja-JP" dirty="0"/>
          </a:p>
          <a:p>
            <a:r>
              <a:rPr kumimoji="1" lang="en-US" altLang="ja-JP" dirty="0"/>
              <a:t>    ON </a:t>
            </a:r>
            <a:r>
              <a:rPr kumimoji="1" lang="en-US" altLang="ja-JP" dirty="0" err="1"/>
              <a:t>t_uri_sum</a:t>
            </a:r>
            <a:r>
              <a:rPr kumimoji="1" lang="en-US" altLang="ja-JP" dirty="0"/>
              <a:t>.</a:t>
            </a:r>
            <a:r>
              <a:rPr kumimoji="1" lang="ja-JP" altLang="en-US" dirty="0"/>
              <a:t>得意先</a:t>
            </a:r>
            <a:r>
              <a:rPr kumimoji="1" lang="en-US" altLang="ja-JP" dirty="0"/>
              <a:t>CD = </a:t>
            </a:r>
            <a:r>
              <a:rPr kumimoji="1" lang="en-US" altLang="ja-JP" dirty="0" err="1"/>
              <a:t>m_tok</a:t>
            </a:r>
            <a:r>
              <a:rPr kumimoji="1" lang="en-US" altLang="ja-JP" dirty="0"/>
              <a:t>.</a:t>
            </a:r>
            <a:r>
              <a:rPr kumimoji="1" lang="ja-JP" altLang="en-US" dirty="0"/>
              <a:t>得意先</a:t>
            </a:r>
            <a:r>
              <a:rPr kumimoji="1" lang="en-US" altLang="ja-JP" dirty="0"/>
              <a:t>CD</a:t>
            </a:r>
          </a:p>
          <a:p>
            <a:r>
              <a:rPr kumimoji="1" lang="en-US" altLang="ja-JP" dirty="0"/>
              <a:t>LEFT JOIN m_</a:t>
            </a:r>
            <a:r>
              <a:rPr kumimoji="1" lang="ja-JP" altLang="en-US" dirty="0"/>
              <a:t>商品 </a:t>
            </a:r>
            <a:r>
              <a:rPr kumimoji="1" lang="en-US" altLang="ja-JP" dirty="0" err="1"/>
              <a:t>m_sho</a:t>
            </a:r>
            <a:endParaRPr kumimoji="1" lang="en-US" altLang="ja-JP" dirty="0"/>
          </a:p>
          <a:p>
            <a:r>
              <a:rPr kumimoji="1" lang="en-US" altLang="ja-JP" dirty="0"/>
              <a:t>    ON </a:t>
            </a:r>
            <a:r>
              <a:rPr kumimoji="1" lang="en-US" altLang="ja-JP" dirty="0" err="1"/>
              <a:t>t_uri_sum</a:t>
            </a:r>
            <a:r>
              <a:rPr kumimoji="1" lang="en-US" altLang="ja-JP" dirty="0"/>
              <a:t>.</a:t>
            </a:r>
            <a:r>
              <a:rPr kumimoji="1" lang="ja-JP" altLang="en-US" dirty="0"/>
              <a:t>商品</a:t>
            </a:r>
            <a:r>
              <a:rPr kumimoji="1" lang="en-US" altLang="ja-JP" dirty="0"/>
              <a:t>CD = </a:t>
            </a:r>
            <a:r>
              <a:rPr kumimoji="1" lang="en-US" altLang="ja-JP" dirty="0" err="1"/>
              <a:t>m_sho</a:t>
            </a:r>
            <a:r>
              <a:rPr kumimoji="1" lang="en-US" altLang="ja-JP" dirty="0"/>
              <a:t>.</a:t>
            </a:r>
            <a:r>
              <a:rPr kumimoji="1" lang="ja-JP" altLang="en-US" dirty="0"/>
              <a:t>商品</a:t>
            </a:r>
            <a:r>
              <a:rPr kumimoji="1" lang="en-US" altLang="ja-JP" dirty="0"/>
              <a:t>CD</a:t>
            </a:r>
          </a:p>
          <a:p>
            <a:r>
              <a:rPr kumimoji="1" lang="en-US" altLang="ja-JP" dirty="0"/>
              <a:t>WHERE </a:t>
            </a:r>
            <a:r>
              <a:rPr kumimoji="1" lang="en-US" altLang="ja-JP" dirty="0" err="1"/>
              <a:t>t_uri_sum</a:t>
            </a:r>
            <a:r>
              <a:rPr kumimoji="1" lang="en-US" altLang="ja-JP" dirty="0"/>
              <a:t>.</a:t>
            </a:r>
            <a:r>
              <a:rPr kumimoji="1" lang="ja-JP" altLang="en-US" dirty="0"/>
              <a:t>販売数量計 </a:t>
            </a:r>
            <a:r>
              <a:rPr kumimoji="1" lang="en-US" altLang="ja-JP" dirty="0"/>
              <a:t>&gt;= 300</a:t>
            </a:r>
          </a:p>
          <a:p>
            <a:r>
              <a:rPr kumimoji="1" lang="en-US" altLang="ja-JP" dirty="0"/>
              <a:t>  AND </a:t>
            </a:r>
            <a:r>
              <a:rPr kumimoji="1" lang="en-US" altLang="ja-JP" dirty="0" err="1"/>
              <a:t>t_uri_sum</a:t>
            </a:r>
            <a:r>
              <a:rPr kumimoji="1" lang="en-US" altLang="ja-JP" dirty="0"/>
              <a:t>.</a:t>
            </a:r>
            <a:r>
              <a:rPr kumimoji="1" lang="ja-JP" altLang="en-US" dirty="0"/>
              <a:t>販売数量計 </a:t>
            </a:r>
            <a:r>
              <a:rPr kumimoji="1" lang="en-US" altLang="ja-JP" dirty="0"/>
              <a:t>&lt;= 500</a:t>
            </a:r>
          </a:p>
          <a:p>
            <a:endParaRPr kumimoji="1" lang="en-US" altLang="ja-JP" dirty="0"/>
          </a:p>
          <a:p>
            <a:r>
              <a:rPr kumimoji="1" lang="en-US" altLang="ja-JP" dirty="0"/>
              <a:t>【</a:t>
            </a:r>
            <a:r>
              <a:rPr kumimoji="1" lang="ja-JP" altLang="en-US" dirty="0"/>
              <a:t>例題</a:t>
            </a:r>
            <a:r>
              <a:rPr kumimoji="1" lang="en-US" altLang="ja-JP" dirty="0"/>
              <a:t>6】</a:t>
            </a:r>
          </a:p>
          <a:p>
            <a:r>
              <a:rPr kumimoji="1" lang="en-US" altLang="ja-JP" dirty="0"/>
              <a:t>WITH </a:t>
            </a:r>
            <a:r>
              <a:rPr kumimoji="1" lang="en-US" altLang="ja-JP" dirty="0" err="1"/>
              <a:t>t_uri_sub</a:t>
            </a:r>
            <a:r>
              <a:rPr kumimoji="1" lang="en-US" altLang="ja-JP" dirty="0"/>
              <a:t> AS</a:t>
            </a:r>
          </a:p>
          <a:p>
            <a:r>
              <a:rPr kumimoji="1" lang="en-US" altLang="ja-JP" dirty="0"/>
              <a:t>(</a:t>
            </a:r>
          </a:p>
          <a:p>
            <a:r>
              <a:rPr kumimoji="1" lang="en-US" altLang="ja-JP" dirty="0"/>
              <a:t>    SELECT</a:t>
            </a:r>
          </a:p>
          <a:p>
            <a:r>
              <a:rPr kumimoji="1" lang="en-US" altLang="ja-JP" dirty="0"/>
              <a:t>        </a:t>
            </a:r>
            <a:r>
              <a:rPr kumimoji="1" lang="en-US" altLang="ja-JP" dirty="0" err="1"/>
              <a:t>t_uri</a:t>
            </a:r>
            <a:r>
              <a:rPr kumimoji="1" lang="en-US" altLang="ja-JP" dirty="0"/>
              <a:t>.</a:t>
            </a:r>
            <a:r>
              <a:rPr kumimoji="1" lang="ja-JP" altLang="en-US" dirty="0"/>
              <a:t>売上伝票番号</a:t>
            </a:r>
          </a:p>
          <a:p>
            <a:r>
              <a:rPr kumimoji="1" lang="ja-JP" altLang="en-US" dirty="0"/>
              <a:t>       </a:t>
            </a:r>
            <a:r>
              <a:rPr kumimoji="1" lang="en-US" altLang="ja-JP" dirty="0"/>
              <a:t>,</a:t>
            </a:r>
            <a:r>
              <a:rPr kumimoji="1" lang="en-US" altLang="ja-JP" dirty="0" err="1"/>
              <a:t>t_uri</a:t>
            </a:r>
            <a:r>
              <a:rPr kumimoji="1" lang="en-US" altLang="ja-JP" dirty="0"/>
              <a:t>.</a:t>
            </a:r>
            <a:r>
              <a:rPr kumimoji="1" lang="ja-JP" altLang="en-US" dirty="0"/>
              <a:t>売上日</a:t>
            </a:r>
          </a:p>
          <a:p>
            <a:r>
              <a:rPr kumimoji="1" lang="ja-JP" altLang="en-US" dirty="0"/>
              <a:t>       </a:t>
            </a:r>
            <a:r>
              <a:rPr kumimoji="1" lang="en-US" altLang="ja-JP" dirty="0"/>
              <a:t>,</a:t>
            </a:r>
            <a:r>
              <a:rPr kumimoji="1" lang="en-US" altLang="ja-JP" dirty="0" err="1"/>
              <a:t>t_uri</a:t>
            </a:r>
            <a:r>
              <a:rPr kumimoji="1" lang="en-US" altLang="ja-JP" dirty="0"/>
              <a:t>.</a:t>
            </a:r>
            <a:r>
              <a:rPr kumimoji="1" lang="ja-JP" altLang="en-US" dirty="0"/>
              <a:t>得意先</a:t>
            </a:r>
            <a:r>
              <a:rPr kumimoji="1" lang="en-US" altLang="ja-JP" dirty="0"/>
              <a:t>CD</a:t>
            </a:r>
          </a:p>
          <a:p>
            <a:r>
              <a:rPr kumimoji="1" lang="en-US" altLang="ja-JP" dirty="0"/>
              <a:t>       ,</a:t>
            </a:r>
            <a:r>
              <a:rPr kumimoji="1" lang="en-US" altLang="ja-JP" dirty="0" err="1"/>
              <a:t>t_uri</a:t>
            </a:r>
            <a:r>
              <a:rPr kumimoji="1" lang="en-US" altLang="ja-JP" dirty="0"/>
              <a:t>.</a:t>
            </a:r>
            <a:r>
              <a:rPr kumimoji="1" lang="ja-JP" altLang="en-US" dirty="0"/>
              <a:t>明細番号</a:t>
            </a:r>
          </a:p>
          <a:p>
            <a:r>
              <a:rPr kumimoji="1" lang="ja-JP" altLang="en-US" dirty="0"/>
              <a:t>       </a:t>
            </a:r>
            <a:r>
              <a:rPr kumimoji="1" lang="en-US" altLang="ja-JP" dirty="0"/>
              <a:t>,</a:t>
            </a:r>
            <a:r>
              <a:rPr kumimoji="1" lang="en-US" altLang="ja-JP" dirty="0" err="1"/>
              <a:t>t_uri</a:t>
            </a:r>
            <a:r>
              <a:rPr kumimoji="1" lang="en-US" altLang="ja-JP" dirty="0"/>
              <a:t>.</a:t>
            </a:r>
            <a:r>
              <a:rPr kumimoji="1" lang="ja-JP" altLang="en-US" dirty="0"/>
              <a:t>商品</a:t>
            </a:r>
            <a:r>
              <a:rPr kumimoji="1" lang="en-US" altLang="ja-JP" dirty="0"/>
              <a:t>CD</a:t>
            </a:r>
          </a:p>
          <a:p>
            <a:r>
              <a:rPr kumimoji="1" lang="en-US" altLang="ja-JP" dirty="0"/>
              <a:t>       ,</a:t>
            </a:r>
            <a:r>
              <a:rPr kumimoji="1" lang="en-US" altLang="ja-JP" dirty="0" err="1"/>
              <a:t>t_uri</a:t>
            </a:r>
            <a:r>
              <a:rPr kumimoji="1" lang="en-US" altLang="ja-JP" dirty="0"/>
              <a:t>.</a:t>
            </a:r>
            <a:r>
              <a:rPr kumimoji="1" lang="ja-JP" altLang="en-US" dirty="0"/>
              <a:t>販売数量</a:t>
            </a:r>
          </a:p>
          <a:p>
            <a:r>
              <a:rPr kumimoji="1" lang="ja-JP" altLang="en-US" dirty="0"/>
              <a:t>       </a:t>
            </a:r>
            <a:r>
              <a:rPr kumimoji="1" lang="en-US" altLang="ja-JP" dirty="0"/>
              <a:t>,ROUND(</a:t>
            </a:r>
            <a:r>
              <a:rPr kumimoji="1" lang="en-US" altLang="ja-JP" dirty="0" err="1"/>
              <a:t>t_uri</a:t>
            </a:r>
            <a:r>
              <a:rPr kumimoji="1" lang="en-US" altLang="ja-JP" dirty="0"/>
              <a:t>.</a:t>
            </a:r>
            <a:r>
              <a:rPr kumimoji="1" lang="ja-JP" altLang="en-US" dirty="0"/>
              <a:t>販売数量 * </a:t>
            </a:r>
            <a:r>
              <a:rPr kumimoji="1" lang="en-US" altLang="ja-JP" dirty="0" err="1"/>
              <a:t>m_sho</a:t>
            </a:r>
            <a:r>
              <a:rPr kumimoji="1" lang="en-US" altLang="ja-JP" dirty="0"/>
              <a:t>.</a:t>
            </a:r>
            <a:r>
              <a:rPr kumimoji="1" lang="ja-JP" altLang="en-US" dirty="0"/>
              <a:t>税抜販売価格</a:t>
            </a:r>
            <a:r>
              <a:rPr kumimoji="1" lang="en-US" altLang="ja-JP" dirty="0"/>
              <a:t>, 0) AS </a:t>
            </a:r>
            <a:r>
              <a:rPr kumimoji="1" lang="ja-JP" altLang="en-US" dirty="0"/>
              <a:t>販売金額</a:t>
            </a:r>
          </a:p>
          <a:p>
            <a:r>
              <a:rPr kumimoji="1" lang="ja-JP" altLang="en-US" dirty="0"/>
              <a:t>    </a:t>
            </a:r>
            <a:r>
              <a:rPr kumimoji="1" lang="en-US" altLang="ja-JP" dirty="0"/>
              <a:t>FROM t_</a:t>
            </a:r>
            <a:r>
              <a:rPr kumimoji="1" lang="ja-JP" altLang="en-US" dirty="0"/>
              <a:t>売上 </a:t>
            </a:r>
            <a:r>
              <a:rPr kumimoji="1" lang="en-US" altLang="ja-JP" dirty="0" err="1"/>
              <a:t>t_uri</a:t>
            </a:r>
            <a:endParaRPr kumimoji="1" lang="en-US" altLang="ja-JP" dirty="0"/>
          </a:p>
          <a:p>
            <a:r>
              <a:rPr kumimoji="1" lang="en-US" altLang="ja-JP" dirty="0"/>
              <a:t>    LEFT JOIN m_</a:t>
            </a:r>
            <a:r>
              <a:rPr kumimoji="1" lang="ja-JP" altLang="en-US" dirty="0"/>
              <a:t>商品 </a:t>
            </a:r>
            <a:r>
              <a:rPr kumimoji="1" lang="en-US" altLang="ja-JP" dirty="0" err="1"/>
              <a:t>m_sho</a:t>
            </a:r>
            <a:endParaRPr kumimoji="1" lang="en-US" altLang="ja-JP" dirty="0"/>
          </a:p>
          <a:p>
            <a:r>
              <a:rPr kumimoji="1" lang="en-US" altLang="ja-JP" dirty="0"/>
              <a:t>        ON </a:t>
            </a:r>
            <a:r>
              <a:rPr kumimoji="1" lang="en-US" altLang="ja-JP" dirty="0" err="1"/>
              <a:t>t_uri</a:t>
            </a:r>
            <a:r>
              <a:rPr kumimoji="1" lang="en-US" altLang="ja-JP" dirty="0"/>
              <a:t>.</a:t>
            </a:r>
            <a:r>
              <a:rPr kumimoji="1" lang="ja-JP" altLang="en-US" dirty="0"/>
              <a:t>商品</a:t>
            </a:r>
            <a:r>
              <a:rPr kumimoji="1" lang="en-US" altLang="ja-JP" dirty="0"/>
              <a:t>CD = </a:t>
            </a:r>
            <a:r>
              <a:rPr kumimoji="1" lang="en-US" altLang="ja-JP" dirty="0" err="1"/>
              <a:t>m_sho</a:t>
            </a:r>
            <a:r>
              <a:rPr kumimoji="1" lang="en-US" altLang="ja-JP" dirty="0"/>
              <a:t>.</a:t>
            </a:r>
            <a:r>
              <a:rPr kumimoji="1" lang="ja-JP" altLang="en-US" dirty="0"/>
              <a:t>商品</a:t>
            </a:r>
            <a:r>
              <a:rPr kumimoji="1" lang="en-US" altLang="ja-JP" dirty="0"/>
              <a:t>CD</a:t>
            </a:r>
          </a:p>
          <a:p>
            <a:r>
              <a:rPr kumimoji="1" lang="en-US" altLang="ja-JP" dirty="0"/>
              <a:t>    WHERE </a:t>
            </a:r>
            <a:r>
              <a:rPr kumimoji="1" lang="en-US" altLang="ja-JP" dirty="0" err="1"/>
              <a:t>t_uri</a:t>
            </a:r>
            <a:r>
              <a:rPr kumimoji="1" lang="en-US" altLang="ja-JP" dirty="0"/>
              <a:t>.</a:t>
            </a:r>
            <a:r>
              <a:rPr kumimoji="1" lang="ja-JP" altLang="en-US" dirty="0"/>
              <a:t>売上日 </a:t>
            </a:r>
            <a:r>
              <a:rPr kumimoji="1" lang="en-US" altLang="ja-JP" dirty="0"/>
              <a:t>= '2025/04/01'</a:t>
            </a:r>
          </a:p>
          <a:p>
            <a:r>
              <a:rPr kumimoji="1" lang="en-US" altLang="ja-JP" dirty="0"/>
              <a:t>)</a:t>
            </a:r>
          </a:p>
          <a:p>
            <a:r>
              <a:rPr kumimoji="1" lang="en-US" altLang="ja-JP" dirty="0"/>
              <a:t>SELECT</a:t>
            </a:r>
          </a:p>
          <a:p>
            <a:r>
              <a:rPr kumimoji="1" lang="en-US" altLang="ja-JP" dirty="0"/>
              <a:t>    </a:t>
            </a:r>
            <a:r>
              <a:rPr kumimoji="1" lang="en-US" altLang="ja-JP" dirty="0" err="1"/>
              <a:t>tbl</a:t>
            </a:r>
            <a:r>
              <a:rPr kumimoji="1" lang="en-US" altLang="ja-JP" dirty="0"/>
              <a:t>.</a:t>
            </a:r>
            <a:r>
              <a:rPr kumimoji="1" lang="ja-JP" altLang="en-US" dirty="0"/>
              <a:t>売上伝票番号</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売上日</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得意先</a:t>
            </a:r>
            <a:r>
              <a:rPr kumimoji="1" lang="en-US" altLang="ja-JP" dirty="0"/>
              <a:t>CD</a:t>
            </a:r>
          </a:p>
          <a:p>
            <a:r>
              <a:rPr kumimoji="1" lang="en-US" altLang="ja-JP" dirty="0"/>
              <a:t>   ,</a:t>
            </a:r>
            <a:r>
              <a:rPr kumimoji="1" lang="en-US" altLang="ja-JP" dirty="0" err="1"/>
              <a:t>m_tok</a:t>
            </a:r>
            <a:r>
              <a:rPr kumimoji="1" lang="en-US" altLang="ja-JP" dirty="0"/>
              <a:t>.</a:t>
            </a:r>
            <a:r>
              <a:rPr kumimoji="1" lang="ja-JP" altLang="en-US" dirty="0"/>
              <a:t>得意先名</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明細番号</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商品</a:t>
            </a:r>
            <a:r>
              <a:rPr kumimoji="1" lang="en-US" altLang="ja-JP" dirty="0"/>
              <a:t>CD</a:t>
            </a:r>
          </a:p>
          <a:p>
            <a:r>
              <a:rPr kumimoji="1" lang="en-US" altLang="ja-JP" dirty="0"/>
              <a:t>   ,</a:t>
            </a:r>
            <a:r>
              <a:rPr kumimoji="1" lang="en-US" altLang="ja-JP" dirty="0" err="1"/>
              <a:t>m_sho</a:t>
            </a:r>
            <a:r>
              <a:rPr kumimoji="1" lang="en-US" altLang="ja-JP" dirty="0"/>
              <a:t>.</a:t>
            </a:r>
            <a:r>
              <a:rPr kumimoji="1" lang="ja-JP" altLang="en-US" dirty="0"/>
              <a:t>商品名</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販売数量</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販売金額</a:t>
            </a:r>
          </a:p>
          <a:p>
            <a:r>
              <a:rPr kumimoji="1" lang="en-US" altLang="ja-JP" dirty="0"/>
              <a:t>FROM</a:t>
            </a:r>
          </a:p>
          <a:p>
            <a:r>
              <a:rPr kumimoji="1" lang="en-US" altLang="ja-JP" dirty="0"/>
              <a:t>    (</a:t>
            </a:r>
          </a:p>
          <a:p>
            <a:r>
              <a:rPr kumimoji="1" lang="en-US" altLang="ja-JP" dirty="0"/>
              <a:t>        SELECT</a:t>
            </a:r>
          </a:p>
          <a:p>
            <a:r>
              <a:rPr kumimoji="1" lang="en-US" altLang="ja-JP" dirty="0"/>
              <a:t>            </a:t>
            </a:r>
            <a:r>
              <a:rPr kumimoji="1" lang="en-US" altLang="ja-JP" dirty="0" err="1"/>
              <a:t>t_uri_sub</a:t>
            </a:r>
            <a:r>
              <a:rPr kumimoji="1" lang="en-US" altLang="ja-JP" dirty="0"/>
              <a:t>.</a:t>
            </a:r>
            <a:r>
              <a:rPr kumimoji="1" lang="ja-JP" altLang="en-US" dirty="0"/>
              <a:t>売上伝票番号</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売上日</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得意先</a:t>
            </a:r>
            <a:r>
              <a:rPr kumimoji="1" lang="en-US" altLang="ja-JP" dirty="0"/>
              <a:t>CD</a:t>
            </a:r>
          </a:p>
          <a:p>
            <a:r>
              <a:rPr kumimoji="1" lang="en-US" altLang="ja-JP" dirty="0"/>
              <a:t>           ,</a:t>
            </a:r>
            <a:r>
              <a:rPr kumimoji="1" lang="en-US" altLang="ja-JP" dirty="0" err="1"/>
              <a:t>t_uri_sub</a:t>
            </a:r>
            <a:r>
              <a:rPr kumimoji="1" lang="en-US" altLang="ja-JP" dirty="0"/>
              <a:t>.</a:t>
            </a:r>
            <a:r>
              <a:rPr kumimoji="1" lang="ja-JP" altLang="en-US" dirty="0"/>
              <a:t>明細番号</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商品</a:t>
            </a:r>
            <a:r>
              <a:rPr kumimoji="1" lang="en-US" altLang="ja-JP" dirty="0"/>
              <a:t>CD</a:t>
            </a:r>
          </a:p>
          <a:p>
            <a:r>
              <a:rPr kumimoji="1" lang="en-US" altLang="ja-JP" dirty="0"/>
              <a:t>           ,</a:t>
            </a:r>
            <a:r>
              <a:rPr kumimoji="1" lang="en-US" altLang="ja-JP" dirty="0" err="1"/>
              <a:t>t_uri_sub</a:t>
            </a:r>
            <a:r>
              <a:rPr kumimoji="1" lang="en-US" altLang="ja-JP" dirty="0"/>
              <a:t>.</a:t>
            </a:r>
            <a:r>
              <a:rPr kumimoji="1" lang="ja-JP" altLang="en-US" dirty="0"/>
              <a:t>販売数量</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販売金額</a:t>
            </a:r>
          </a:p>
          <a:p>
            <a:r>
              <a:rPr kumimoji="1" lang="ja-JP" altLang="en-US" dirty="0"/>
              <a:t>        </a:t>
            </a:r>
            <a:r>
              <a:rPr kumimoji="1" lang="en-US" altLang="ja-JP" dirty="0"/>
              <a:t>FROM </a:t>
            </a:r>
            <a:r>
              <a:rPr kumimoji="1" lang="en-US" altLang="ja-JP" dirty="0" err="1"/>
              <a:t>t_uri_sub</a:t>
            </a:r>
            <a:endParaRPr kumimoji="1" lang="en-US" altLang="ja-JP" dirty="0"/>
          </a:p>
          <a:p>
            <a:r>
              <a:rPr kumimoji="1" lang="en-US" altLang="ja-JP" dirty="0"/>
              <a:t>        UNION</a:t>
            </a:r>
          </a:p>
          <a:p>
            <a:r>
              <a:rPr kumimoji="1" lang="en-US" altLang="ja-JP" dirty="0"/>
              <a:t>        SELECT</a:t>
            </a:r>
          </a:p>
          <a:p>
            <a:r>
              <a:rPr kumimoji="1" lang="en-US" altLang="ja-JP" dirty="0"/>
              <a:t>            </a:t>
            </a:r>
            <a:r>
              <a:rPr kumimoji="1" lang="en-US" altLang="ja-JP" dirty="0" err="1"/>
              <a:t>t_uri_sub</a:t>
            </a:r>
            <a:r>
              <a:rPr kumimoji="1" lang="en-US" altLang="ja-JP" dirty="0"/>
              <a:t>.</a:t>
            </a:r>
            <a:r>
              <a:rPr kumimoji="1" lang="ja-JP" altLang="en-US" dirty="0"/>
              <a:t>売上伝票番号</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売上日</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得意先</a:t>
            </a:r>
            <a:r>
              <a:rPr kumimoji="1" lang="en-US" altLang="ja-JP" dirty="0"/>
              <a:t>CD</a:t>
            </a:r>
          </a:p>
          <a:p>
            <a:r>
              <a:rPr kumimoji="1" lang="en-US" altLang="ja-JP" dirty="0"/>
              <a:t>           ,99 AS </a:t>
            </a:r>
            <a:r>
              <a:rPr kumimoji="1" lang="ja-JP" altLang="en-US" dirty="0"/>
              <a:t>明細番号</a:t>
            </a:r>
          </a:p>
          <a:p>
            <a:r>
              <a:rPr kumimoji="1" lang="ja-JP" altLang="en-US" dirty="0"/>
              <a:t>           </a:t>
            </a:r>
            <a:r>
              <a:rPr kumimoji="1" lang="en-US" altLang="ja-JP" dirty="0"/>
              <a:t>,NULL AS </a:t>
            </a:r>
            <a:r>
              <a:rPr kumimoji="1" lang="ja-JP" altLang="en-US" dirty="0"/>
              <a:t>商品</a:t>
            </a:r>
            <a:r>
              <a:rPr kumimoji="1" lang="en-US" altLang="ja-JP" dirty="0"/>
              <a:t>CD</a:t>
            </a:r>
          </a:p>
          <a:p>
            <a:r>
              <a:rPr kumimoji="1" lang="en-US" altLang="ja-JP" dirty="0"/>
              <a:t>           ,NULL AS </a:t>
            </a:r>
            <a:r>
              <a:rPr kumimoji="1" lang="ja-JP" altLang="en-US" dirty="0"/>
              <a:t>販売数量</a:t>
            </a:r>
          </a:p>
          <a:p>
            <a:r>
              <a:rPr kumimoji="1" lang="ja-JP" altLang="en-US" dirty="0"/>
              <a:t>           </a:t>
            </a:r>
            <a:r>
              <a:rPr kumimoji="1" lang="en-US" altLang="ja-JP" dirty="0"/>
              <a:t>,ROUND(SUM(</a:t>
            </a:r>
            <a:r>
              <a:rPr kumimoji="1" lang="en-US" altLang="ja-JP" dirty="0" err="1"/>
              <a:t>t_uri_sub</a:t>
            </a:r>
            <a:r>
              <a:rPr kumimoji="1" lang="en-US" altLang="ja-JP" dirty="0"/>
              <a:t>.</a:t>
            </a:r>
            <a:r>
              <a:rPr kumimoji="1" lang="ja-JP" altLang="en-US" dirty="0"/>
              <a:t>販売金額</a:t>
            </a:r>
            <a:r>
              <a:rPr kumimoji="1" lang="en-US" altLang="ja-JP" dirty="0"/>
              <a:t>) * 0.1, 0) AS </a:t>
            </a:r>
            <a:r>
              <a:rPr kumimoji="1" lang="ja-JP" altLang="en-US" dirty="0"/>
              <a:t>販売金額</a:t>
            </a:r>
          </a:p>
          <a:p>
            <a:r>
              <a:rPr kumimoji="1" lang="ja-JP" altLang="en-US" dirty="0"/>
              <a:t>        </a:t>
            </a:r>
            <a:r>
              <a:rPr kumimoji="1" lang="en-US" altLang="ja-JP" dirty="0"/>
              <a:t>FROM </a:t>
            </a:r>
            <a:r>
              <a:rPr kumimoji="1" lang="en-US" altLang="ja-JP" dirty="0" err="1"/>
              <a:t>t_uri_sub</a:t>
            </a:r>
            <a:endParaRPr kumimoji="1" lang="en-US" altLang="ja-JP" dirty="0"/>
          </a:p>
          <a:p>
            <a:r>
              <a:rPr kumimoji="1" lang="en-US" altLang="ja-JP" dirty="0"/>
              <a:t>        GROUP BY </a:t>
            </a:r>
            <a:r>
              <a:rPr kumimoji="1" lang="en-US" altLang="ja-JP" dirty="0" err="1"/>
              <a:t>t_uri_sub</a:t>
            </a:r>
            <a:r>
              <a:rPr kumimoji="1" lang="en-US" altLang="ja-JP" dirty="0"/>
              <a:t>.</a:t>
            </a:r>
            <a:r>
              <a:rPr kumimoji="1" lang="ja-JP" altLang="en-US" dirty="0"/>
              <a:t>売上伝票番号</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売上日</a:t>
            </a:r>
          </a:p>
          <a:p>
            <a:r>
              <a:rPr kumimoji="1" lang="ja-JP" altLang="en-US" dirty="0"/>
              <a:t>                </a:t>
            </a:r>
            <a:r>
              <a:rPr kumimoji="1" lang="en-US" altLang="ja-JP" dirty="0"/>
              <a:t>,</a:t>
            </a:r>
            <a:r>
              <a:rPr kumimoji="1" lang="en-US" altLang="ja-JP" dirty="0" err="1"/>
              <a:t>t_uri_sub</a:t>
            </a:r>
            <a:r>
              <a:rPr kumimoji="1" lang="en-US" altLang="ja-JP" dirty="0"/>
              <a:t>.</a:t>
            </a:r>
            <a:r>
              <a:rPr kumimoji="1" lang="ja-JP" altLang="en-US" dirty="0"/>
              <a:t>得意先</a:t>
            </a:r>
            <a:r>
              <a:rPr kumimoji="1" lang="en-US" altLang="ja-JP" dirty="0"/>
              <a:t>CD</a:t>
            </a:r>
          </a:p>
          <a:p>
            <a:r>
              <a:rPr kumimoji="1" lang="en-US" altLang="ja-JP" dirty="0"/>
              <a:t>    ) </a:t>
            </a:r>
            <a:r>
              <a:rPr kumimoji="1" lang="en-US" altLang="ja-JP" dirty="0" err="1"/>
              <a:t>tbl</a:t>
            </a:r>
            <a:endParaRPr kumimoji="1" lang="en-US" altLang="ja-JP" dirty="0"/>
          </a:p>
          <a:p>
            <a:r>
              <a:rPr kumimoji="1" lang="en-US" altLang="ja-JP" dirty="0"/>
              <a:t>LEFT JOIN m_</a:t>
            </a:r>
            <a:r>
              <a:rPr kumimoji="1" lang="ja-JP" altLang="en-US" dirty="0"/>
              <a:t>得意先 </a:t>
            </a:r>
            <a:r>
              <a:rPr kumimoji="1" lang="en-US" altLang="ja-JP" dirty="0" err="1"/>
              <a:t>m_tok</a:t>
            </a:r>
            <a:endParaRPr kumimoji="1" lang="en-US" altLang="ja-JP" dirty="0"/>
          </a:p>
          <a:p>
            <a:r>
              <a:rPr kumimoji="1" lang="en-US" altLang="ja-JP" dirty="0"/>
              <a:t>    ON </a:t>
            </a:r>
            <a:r>
              <a:rPr kumimoji="1" lang="en-US" altLang="ja-JP" dirty="0" err="1"/>
              <a:t>tbl</a:t>
            </a:r>
            <a:r>
              <a:rPr kumimoji="1" lang="en-US" altLang="ja-JP" dirty="0"/>
              <a:t>.</a:t>
            </a:r>
            <a:r>
              <a:rPr kumimoji="1" lang="ja-JP" altLang="en-US" dirty="0"/>
              <a:t>得意先</a:t>
            </a:r>
            <a:r>
              <a:rPr kumimoji="1" lang="en-US" altLang="ja-JP" dirty="0"/>
              <a:t>CD = </a:t>
            </a:r>
            <a:r>
              <a:rPr kumimoji="1" lang="en-US" altLang="ja-JP" dirty="0" err="1"/>
              <a:t>m_tok</a:t>
            </a:r>
            <a:r>
              <a:rPr kumimoji="1" lang="en-US" altLang="ja-JP" dirty="0"/>
              <a:t>.</a:t>
            </a:r>
            <a:r>
              <a:rPr kumimoji="1" lang="ja-JP" altLang="en-US" dirty="0"/>
              <a:t>得意先</a:t>
            </a:r>
            <a:r>
              <a:rPr kumimoji="1" lang="en-US" altLang="ja-JP" dirty="0"/>
              <a:t>CD</a:t>
            </a:r>
          </a:p>
          <a:p>
            <a:r>
              <a:rPr kumimoji="1" lang="en-US" altLang="ja-JP" dirty="0"/>
              <a:t>LEFT JOIN m_</a:t>
            </a:r>
            <a:r>
              <a:rPr kumimoji="1" lang="ja-JP" altLang="en-US" dirty="0"/>
              <a:t>商品 </a:t>
            </a:r>
            <a:r>
              <a:rPr kumimoji="1" lang="en-US" altLang="ja-JP" dirty="0" err="1"/>
              <a:t>m_sho</a:t>
            </a:r>
            <a:endParaRPr kumimoji="1" lang="en-US" altLang="ja-JP" dirty="0"/>
          </a:p>
          <a:p>
            <a:r>
              <a:rPr kumimoji="1" lang="en-US" altLang="ja-JP" dirty="0"/>
              <a:t>    ON </a:t>
            </a:r>
            <a:r>
              <a:rPr kumimoji="1" lang="en-US" altLang="ja-JP" dirty="0" err="1"/>
              <a:t>tbl</a:t>
            </a:r>
            <a:r>
              <a:rPr kumimoji="1" lang="en-US" altLang="ja-JP" dirty="0"/>
              <a:t>.</a:t>
            </a:r>
            <a:r>
              <a:rPr kumimoji="1" lang="ja-JP" altLang="en-US" dirty="0"/>
              <a:t>商品</a:t>
            </a:r>
            <a:r>
              <a:rPr kumimoji="1" lang="en-US" altLang="ja-JP" dirty="0"/>
              <a:t>CD = </a:t>
            </a:r>
            <a:r>
              <a:rPr kumimoji="1" lang="en-US" altLang="ja-JP" dirty="0" err="1"/>
              <a:t>m_sho</a:t>
            </a:r>
            <a:r>
              <a:rPr kumimoji="1" lang="en-US" altLang="ja-JP" dirty="0"/>
              <a:t>.</a:t>
            </a:r>
            <a:r>
              <a:rPr kumimoji="1" lang="ja-JP" altLang="en-US" dirty="0"/>
              <a:t>商品</a:t>
            </a:r>
            <a:r>
              <a:rPr kumimoji="1" lang="en-US" altLang="ja-JP" dirty="0"/>
              <a:t>CD</a:t>
            </a:r>
          </a:p>
          <a:p>
            <a:r>
              <a:rPr kumimoji="1" lang="en-US" altLang="ja-JP" dirty="0"/>
              <a:t>ORDER BY </a:t>
            </a:r>
            <a:r>
              <a:rPr kumimoji="1" lang="en-US" altLang="ja-JP" dirty="0" err="1"/>
              <a:t>tbl</a:t>
            </a:r>
            <a:r>
              <a:rPr kumimoji="1" lang="en-US" altLang="ja-JP" dirty="0"/>
              <a:t>.</a:t>
            </a:r>
            <a:r>
              <a:rPr kumimoji="1" lang="ja-JP" altLang="en-US" dirty="0"/>
              <a:t>売上伝票番号</a:t>
            </a:r>
          </a:p>
          <a:p>
            <a:r>
              <a:rPr kumimoji="1" lang="ja-JP" altLang="en-US" dirty="0"/>
              <a:t>        </a:t>
            </a:r>
            <a:r>
              <a:rPr kumimoji="1" lang="en-US" altLang="ja-JP" dirty="0"/>
              <a:t>,</a:t>
            </a:r>
            <a:r>
              <a:rPr kumimoji="1" lang="en-US" altLang="ja-JP" dirty="0" err="1"/>
              <a:t>tbl</a:t>
            </a:r>
            <a:r>
              <a:rPr kumimoji="1" lang="en-US" altLang="ja-JP" dirty="0"/>
              <a:t>.</a:t>
            </a:r>
            <a:r>
              <a:rPr kumimoji="1" lang="ja-JP" altLang="en-US" dirty="0"/>
              <a:t>明細番号</a:t>
            </a:r>
          </a:p>
          <a:p>
            <a:endParaRPr kumimoji="1" lang="ja-JP" altLang="en-US" dirty="0"/>
          </a:p>
        </p:txBody>
      </p:sp>
      <p:sp>
        <p:nvSpPr>
          <p:cNvPr id="4" name="スライド番号プレースホルダー 3"/>
          <p:cNvSpPr>
            <a:spLocks noGrp="1"/>
          </p:cNvSpPr>
          <p:nvPr>
            <p:ph type="sldNum" sz="quarter" idx="5"/>
          </p:nvPr>
        </p:nvSpPr>
        <p:spPr/>
        <p:txBody>
          <a:bodyPr/>
          <a:lstStyle/>
          <a:p>
            <a:fld id="{30F9B3CF-BB5E-499C-96DD-F47E22CF7B26}" type="slidenum">
              <a:rPr kumimoji="1" lang="ja-JP" altLang="en-US" smtClean="0"/>
              <a:t>8</a:t>
            </a:fld>
            <a:endParaRPr kumimoji="1" lang="ja-JP" altLang="en-US"/>
          </a:p>
        </p:txBody>
      </p:sp>
    </p:spTree>
    <p:extLst>
      <p:ext uri="{BB962C8B-B14F-4D97-AF65-F5344CB8AC3E}">
        <p14:creationId xmlns:p14="http://schemas.microsoft.com/office/powerpoint/2010/main" val="5451457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906396"/>
            <a:ext cx="8420100" cy="721361"/>
          </a:xfrm>
          <a:prstGeom prst="rect">
            <a:avLst/>
          </a:prstGeom>
        </p:spPr>
        <p:txBody>
          <a:bodyPr anchor="ctr">
            <a:normAutofit/>
          </a:bodyPr>
          <a:lstStyle>
            <a:lvl1pPr algn="ctr">
              <a:defRPr sz="3600">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238250" y="2820795"/>
            <a:ext cx="7429500" cy="726440"/>
          </a:xfrm>
          <a:prstGeom prst="rect">
            <a:avLst/>
          </a:prstGeom>
        </p:spPr>
        <p:txBody>
          <a:bodyPr anchor="ctr">
            <a:normAutofit/>
          </a:bodyPr>
          <a:lstStyle>
            <a:lvl1pPr marL="0" indent="0" algn="ctr">
              <a:buNone/>
              <a:defRPr sz="1600">
                <a:latin typeface="メイリオ" panose="020B0604030504040204" pitchFamily="50" charset="-128"/>
                <a:ea typeface="メイリオ" panose="020B0604030504040204" pitchFamily="50" charset="-128"/>
                <a:cs typeface="メイリオ" panose="020B0604030504040204" pitchFamily="50" charset="-128"/>
              </a:defRPr>
            </a:lvl1pPr>
            <a:lvl2pPr marL="457197"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4" indent="0" algn="ctr">
              <a:buNone/>
              <a:defRPr sz="1600"/>
            </a:lvl7pPr>
            <a:lvl8pPr marL="3200381" indent="0" algn="ctr">
              <a:buNone/>
              <a:defRPr sz="1600"/>
            </a:lvl8pPr>
            <a:lvl9pPr marL="3657579" indent="0" algn="ctr">
              <a:buNone/>
              <a:defRPr sz="1600"/>
            </a:lvl9pPr>
          </a:lstStyle>
          <a:p>
            <a:r>
              <a:rPr lang="ja-JP" altLang="en-US"/>
              <a:t>マスター サブタイトルの書式設定</a:t>
            </a:r>
            <a:endParaRPr lang="en-US" dirty="0"/>
          </a:p>
        </p:txBody>
      </p:sp>
      <p:sp>
        <p:nvSpPr>
          <p:cNvPr id="6" name="Slide Number Placeholder 5"/>
          <p:cNvSpPr>
            <a:spLocks noGrp="1"/>
          </p:cNvSpPr>
          <p:nvPr>
            <p:ph type="sldNum" sz="quarter" idx="12"/>
          </p:nvPr>
        </p:nvSpPr>
        <p:spPr>
          <a:xfrm>
            <a:off x="7668260" y="6519600"/>
            <a:ext cx="2228850" cy="324000"/>
          </a:xfrm>
        </p:spPr>
        <p:txBody>
          <a:bodyPr/>
          <a:lstStyle>
            <a:lvl1pPr>
              <a:defRPr sz="1100">
                <a:latin typeface="メイリオ" panose="020B0604030504040204" pitchFamily="50" charset="-128"/>
                <a:ea typeface="メイリオ" panose="020B0604030504040204" pitchFamily="50" charset="-128"/>
                <a:cs typeface="メイリオ" panose="020B0604030504040204" pitchFamily="50" charset="-128"/>
              </a:defRPr>
            </a:lvl1pPr>
          </a:lstStyle>
          <a:p>
            <a:fld id="{0BDC6CC0-337C-4DEC-BAED-08CE4EABF7AC}" type="slidenum">
              <a:rPr lang="ja-JP" altLang="en-US" smtClean="0"/>
              <a:pPr/>
              <a:t>‹#›</a:t>
            </a:fld>
            <a:endParaRPr lang="ja-JP" altLang="en-US" dirty="0"/>
          </a:p>
        </p:txBody>
      </p:sp>
      <p:pic>
        <p:nvPicPr>
          <p:cNvPr id="10" name="図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3440" y="37797"/>
            <a:ext cx="2672018" cy="464406"/>
          </a:xfrm>
          <a:prstGeom prst="rect">
            <a:avLst/>
          </a:prstGeom>
        </p:spPr>
      </p:pic>
    </p:spTree>
    <p:extLst>
      <p:ext uri="{BB962C8B-B14F-4D97-AF65-F5344CB8AC3E}">
        <p14:creationId xmlns:p14="http://schemas.microsoft.com/office/powerpoint/2010/main" val="478828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112543" y="62073"/>
            <a:ext cx="9784308" cy="444366"/>
          </a:xfrm>
          <a:prstGeom prst="rect">
            <a:avLst/>
          </a:prstGeom>
        </p:spPr>
        <p:txBody>
          <a:bodyPr vert="horz" anchor="ctr">
            <a:noAutofit/>
          </a:bodyPr>
          <a:lstStyle>
            <a:lvl1pPr>
              <a:lnSpc>
                <a:spcPts val="3360"/>
              </a:lnSpc>
              <a:defRPr sz="280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dirty="0"/>
              <a:t>マスター タイトルの書式設定</a:t>
            </a:r>
          </a:p>
        </p:txBody>
      </p:sp>
      <p:sp>
        <p:nvSpPr>
          <p:cNvPr id="5" name="スライド番号プレースホルダー 4"/>
          <p:cNvSpPr>
            <a:spLocks noGrp="1"/>
          </p:cNvSpPr>
          <p:nvPr>
            <p:ph type="sldNum" sz="quarter" idx="12"/>
          </p:nvPr>
        </p:nvSpPr>
        <p:spPr>
          <a:xfrm>
            <a:off x="7668000" y="6543434"/>
            <a:ext cx="2228850" cy="276999"/>
          </a:xfrm>
        </p:spPr>
        <p:txBody>
          <a:bodyPr vert="horz">
            <a:noAutofit/>
          </a:bodyPr>
          <a:lstStyle>
            <a:lvl1pPr>
              <a:defRPr>
                <a:solidFill>
                  <a:srgbClr val="898989"/>
                </a:solidFill>
              </a:defRPr>
            </a:lvl1pPr>
          </a:lstStyle>
          <a:p>
            <a:fld id="{0BDC6CC0-337C-4DEC-BAED-08CE4EABF7AC}" type="slidenum">
              <a:rPr lang="ja-JP" altLang="en-US" smtClean="0"/>
              <a:pPr/>
              <a:t>‹#›</a:t>
            </a:fld>
            <a:endParaRPr lang="ja-JP" altLang="en-US" dirty="0"/>
          </a:p>
        </p:txBody>
      </p:sp>
    </p:spTree>
    <p:extLst>
      <p:ext uri="{BB962C8B-B14F-4D97-AF65-F5344CB8AC3E}">
        <p14:creationId xmlns:p14="http://schemas.microsoft.com/office/powerpoint/2010/main" val="12655400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正方形/長方形 6"/>
          <p:cNvSpPr/>
          <p:nvPr userDrawn="1"/>
        </p:nvSpPr>
        <p:spPr>
          <a:xfrm>
            <a:off x="0" y="0"/>
            <a:ext cx="9906000" cy="540000"/>
          </a:xfrm>
          <a:prstGeom prst="rect">
            <a:avLst/>
          </a:prstGeom>
          <a:solidFill>
            <a:srgbClr val="55A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6" name="Slide Number Placeholder 5"/>
          <p:cNvSpPr>
            <a:spLocks noGrp="1"/>
          </p:cNvSpPr>
          <p:nvPr>
            <p:ph type="sldNum" sz="quarter" idx="4"/>
          </p:nvPr>
        </p:nvSpPr>
        <p:spPr>
          <a:xfrm>
            <a:off x="7668000" y="6519932"/>
            <a:ext cx="2228850" cy="324000"/>
          </a:xfrm>
          <a:prstGeom prst="rect">
            <a:avLst/>
          </a:prstGeom>
        </p:spPr>
        <p:txBody>
          <a:bodyPr vert="horz" lIns="91440" tIns="45720" rIns="91440" bIns="45720" rtlCol="0" anchor="ctr"/>
          <a:lstStyle>
            <a:lvl1pPr algn="r">
              <a:defRPr sz="1200">
                <a:solidFill>
                  <a:schemeClr val="tx1">
                    <a:tint val="75000"/>
                  </a:schemeClr>
                </a:solidFill>
              </a:defRPr>
            </a:lvl1pPr>
          </a:lstStyle>
          <a:p>
            <a:fld id="{0BDC6CC0-337C-4DEC-BAED-08CE4EABF7AC}" type="slidenum">
              <a:rPr kumimoji="1" lang="ja-JP" altLang="en-US" smtClean="0"/>
              <a:t>‹#›</a:t>
            </a:fld>
            <a:endParaRPr kumimoji="1" lang="ja-JP" altLang="en-US"/>
          </a:p>
        </p:txBody>
      </p:sp>
      <p:cxnSp>
        <p:nvCxnSpPr>
          <p:cNvPr id="8" name="直線コネクタ 7"/>
          <p:cNvCxnSpPr/>
          <p:nvPr userDrawn="1"/>
        </p:nvCxnSpPr>
        <p:spPr>
          <a:xfrm>
            <a:off x="0" y="6478807"/>
            <a:ext cx="9906000" cy="0"/>
          </a:xfrm>
          <a:prstGeom prst="line">
            <a:avLst/>
          </a:prstGeom>
          <a:ln w="38100">
            <a:solidFill>
              <a:srgbClr val="55AC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037557"/>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ftr="0" dt="0"/>
  <p:txStyles>
    <p:titleStyle>
      <a:lvl1pPr algn="l" defTabSz="914395"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9" indent="-228599" algn="l" defTabSz="91439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96" indent="-228599" algn="l" defTabSz="91439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93" indent="-228599" algn="l" defTabSz="91439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91"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88"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85"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83"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80"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77"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395" rtl="0" eaLnBrk="1" latinLnBrk="0" hangingPunct="1">
        <a:defRPr kumimoji="1" sz="1800" kern="1200">
          <a:solidFill>
            <a:schemeClr val="tx1"/>
          </a:solidFill>
          <a:latin typeface="+mn-lt"/>
          <a:ea typeface="+mn-ea"/>
          <a:cs typeface="+mn-cs"/>
        </a:defRPr>
      </a:lvl1pPr>
      <a:lvl2pPr marL="457197" algn="l" defTabSz="914395" rtl="0" eaLnBrk="1" latinLnBrk="0" hangingPunct="1">
        <a:defRPr kumimoji="1" sz="1800" kern="1200">
          <a:solidFill>
            <a:schemeClr val="tx1"/>
          </a:solidFill>
          <a:latin typeface="+mn-lt"/>
          <a:ea typeface="+mn-ea"/>
          <a:cs typeface="+mn-cs"/>
        </a:defRPr>
      </a:lvl2pPr>
      <a:lvl3pPr marL="914395" algn="l" defTabSz="914395" rtl="0" eaLnBrk="1" latinLnBrk="0" hangingPunct="1">
        <a:defRPr kumimoji="1" sz="1800" kern="1200">
          <a:solidFill>
            <a:schemeClr val="tx1"/>
          </a:solidFill>
          <a:latin typeface="+mn-lt"/>
          <a:ea typeface="+mn-ea"/>
          <a:cs typeface="+mn-cs"/>
        </a:defRPr>
      </a:lvl3pPr>
      <a:lvl4pPr marL="1371592" algn="l" defTabSz="914395" rtl="0" eaLnBrk="1" latinLnBrk="0" hangingPunct="1">
        <a:defRPr kumimoji="1" sz="1800" kern="1200">
          <a:solidFill>
            <a:schemeClr val="tx1"/>
          </a:solidFill>
          <a:latin typeface="+mn-lt"/>
          <a:ea typeface="+mn-ea"/>
          <a:cs typeface="+mn-cs"/>
        </a:defRPr>
      </a:lvl4pPr>
      <a:lvl5pPr marL="1828789" algn="l" defTabSz="914395" rtl="0" eaLnBrk="1" latinLnBrk="0" hangingPunct="1">
        <a:defRPr kumimoji="1" sz="1800" kern="1200">
          <a:solidFill>
            <a:schemeClr val="tx1"/>
          </a:solidFill>
          <a:latin typeface="+mn-lt"/>
          <a:ea typeface="+mn-ea"/>
          <a:cs typeface="+mn-cs"/>
        </a:defRPr>
      </a:lvl5pPr>
      <a:lvl6pPr marL="2285987" algn="l" defTabSz="914395" rtl="0" eaLnBrk="1" latinLnBrk="0" hangingPunct="1">
        <a:defRPr kumimoji="1" sz="1800" kern="1200">
          <a:solidFill>
            <a:schemeClr val="tx1"/>
          </a:solidFill>
          <a:latin typeface="+mn-lt"/>
          <a:ea typeface="+mn-ea"/>
          <a:cs typeface="+mn-cs"/>
        </a:defRPr>
      </a:lvl6pPr>
      <a:lvl7pPr marL="2743184" algn="l" defTabSz="914395" rtl="0" eaLnBrk="1" latinLnBrk="0" hangingPunct="1">
        <a:defRPr kumimoji="1" sz="1800" kern="1200">
          <a:solidFill>
            <a:schemeClr val="tx1"/>
          </a:solidFill>
          <a:latin typeface="+mn-lt"/>
          <a:ea typeface="+mn-ea"/>
          <a:cs typeface="+mn-cs"/>
        </a:defRPr>
      </a:lvl7pPr>
      <a:lvl8pPr marL="3200381" algn="l" defTabSz="914395" rtl="0" eaLnBrk="1" latinLnBrk="0" hangingPunct="1">
        <a:defRPr kumimoji="1" sz="1800" kern="1200">
          <a:solidFill>
            <a:schemeClr val="tx1"/>
          </a:solidFill>
          <a:latin typeface="+mn-lt"/>
          <a:ea typeface="+mn-ea"/>
          <a:cs typeface="+mn-cs"/>
        </a:defRPr>
      </a:lvl8pPr>
      <a:lvl9pPr marL="3657579" algn="l" defTabSz="914395"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70555"/>
            <a:ext cx="8420100" cy="721361"/>
          </a:xfrm>
        </p:spPr>
        <p:txBody>
          <a:bodyPr>
            <a:normAutofit/>
          </a:bodyPr>
          <a:lstStyle/>
          <a:p>
            <a:r>
              <a:rPr lang="en-US" altLang="ja-JP" sz="2800" dirty="0"/>
              <a:t>【</a:t>
            </a:r>
            <a:r>
              <a:rPr lang="ja-JP" altLang="en-US" sz="2800" dirty="0"/>
              <a:t>第</a:t>
            </a:r>
            <a:r>
              <a:rPr lang="en-US" altLang="ja-JP" sz="2800" dirty="0"/>
              <a:t>3</a:t>
            </a:r>
            <a:r>
              <a:rPr lang="ja-JP" altLang="en-US" sz="2800" dirty="0"/>
              <a:t>回</a:t>
            </a:r>
            <a:r>
              <a:rPr lang="en-US" altLang="ja-JP" sz="2800" dirty="0"/>
              <a:t>】SELECT</a:t>
            </a:r>
            <a:r>
              <a:rPr lang="ja-JP" altLang="en-US" sz="2800" dirty="0"/>
              <a:t>文 上級</a:t>
            </a:r>
            <a:endParaRPr kumimoji="1" lang="ja-JP" altLang="en-US" sz="2800" dirty="0"/>
          </a:p>
        </p:txBody>
      </p:sp>
      <p:sp>
        <p:nvSpPr>
          <p:cNvPr id="5" name="スライド番号プレースホルダー 4"/>
          <p:cNvSpPr>
            <a:spLocks noGrp="1"/>
          </p:cNvSpPr>
          <p:nvPr>
            <p:ph type="sldNum" sz="quarter" idx="12"/>
          </p:nvPr>
        </p:nvSpPr>
        <p:spPr/>
        <p:txBody>
          <a:bodyPr/>
          <a:lstStyle/>
          <a:p>
            <a:fld id="{0BDC6CC0-337C-4DEC-BAED-08CE4EABF7AC}" type="slidenum">
              <a:rPr lang="ja-JP" altLang="en-US" smtClean="0"/>
              <a:pPr/>
              <a:t>1</a:t>
            </a:fld>
            <a:endParaRPr lang="ja-JP" altLang="en-US"/>
          </a:p>
        </p:txBody>
      </p:sp>
      <p:sp>
        <p:nvSpPr>
          <p:cNvPr id="6" name="字幕 5">
            <a:extLst>
              <a:ext uri="{FF2B5EF4-FFF2-40B4-BE49-F238E27FC236}">
                <a16:creationId xmlns:a16="http://schemas.microsoft.com/office/drawing/2014/main" id="{965CA2C2-7036-4887-B651-FDDDA96932CB}"/>
              </a:ext>
            </a:extLst>
          </p:cNvPr>
          <p:cNvSpPr>
            <a:spLocks noGrp="1"/>
          </p:cNvSpPr>
          <p:nvPr>
            <p:ph type="subTitle" idx="1"/>
          </p:nvPr>
        </p:nvSpPr>
        <p:spPr/>
        <p:txBody>
          <a:bodyPr/>
          <a:lstStyle/>
          <a:p>
            <a:endParaRPr lang="ja-JP" altLang="en-US" dirty="0"/>
          </a:p>
        </p:txBody>
      </p:sp>
    </p:spTree>
    <p:extLst>
      <p:ext uri="{BB962C8B-B14F-4D97-AF65-F5344CB8AC3E}">
        <p14:creationId xmlns:p14="http://schemas.microsoft.com/office/powerpoint/2010/main" val="777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F9091-6F42-244F-E19A-17186AF21322}"/>
              </a:ext>
            </a:extLst>
          </p:cNvPr>
          <p:cNvSpPr>
            <a:spLocks noGrp="1"/>
          </p:cNvSpPr>
          <p:nvPr>
            <p:ph type="title"/>
          </p:nvPr>
        </p:nvSpPr>
        <p:spPr/>
        <p:txBody>
          <a:bodyPr/>
          <a:lstStyle/>
          <a:p>
            <a:r>
              <a:rPr kumimoji="1" lang="en-US" altLang="ja-JP" dirty="0"/>
              <a:t>1. </a:t>
            </a:r>
            <a:r>
              <a:rPr kumimoji="1" lang="ja-JP" altLang="en-US" dirty="0"/>
              <a:t>テーブルの正規化</a:t>
            </a:r>
          </a:p>
        </p:txBody>
      </p:sp>
      <p:sp>
        <p:nvSpPr>
          <p:cNvPr id="3" name="スライド番号プレースホルダー 2">
            <a:extLst>
              <a:ext uri="{FF2B5EF4-FFF2-40B4-BE49-F238E27FC236}">
                <a16:creationId xmlns:a16="http://schemas.microsoft.com/office/drawing/2014/main" id="{47C23008-39BF-D632-E213-277D0199F6A6}"/>
              </a:ext>
            </a:extLst>
          </p:cNvPr>
          <p:cNvSpPr>
            <a:spLocks noGrp="1"/>
          </p:cNvSpPr>
          <p:nvPr>
            <p:ph type="sldNum" sz="quarter" idx="12"/>
          </p:nvPr>
        </p:nvSpPr>
        <p:spPr/>
        <p:txBody>
          <a:bodyPr/>
          <a:lstStyle/>
          <a:p>
            <a:fld id="{0BDC6CC0-337C-4DEC-BAED-08CE4EABF7AC}" type="slidenum">
              <a:rPr lang="ja-JP" altLang="en-US" smtClean="0"/>
              <a:pPr/>
              <a:t>2</a:t>
            </a:fld>
            <a:endParaRPr lang="ja-JP" altLang="en-US" dirty="0"/>
          </a:p>
        </p:txBody>
      </p:sp>
      <p:sp>
        <p:nvSpPr>
          <p:cNvPr id="4" name="テキスト ボックス 3">
            <a:extLst>
              <a:ext uri="{FF2B5EF4-FFF2-40B4-BE49-F238E27FC236}">
                <a16:creationId xmlns:a16="http://schemas.microsoft.com/office/drawing/2014/main" id="{AB94D069-77E8-6064-227C-F7B668D3A08B}"/>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正規化とは？</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480A354C-6E7A-51B1-A941-6B1ED47CB682}"/>
              </a:ext>
            </a:extLst>
          </p:cNvPr>
          <p:cNvSpPr txBox="1"/>
          <p:nvPr/>
        </p:nvSpPr>
        <p:spPr>
          <a:xfrm>
            <a:off x="112541" y="953339"/>
            <a:ext cx="9636369" cy="1600438"/>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テーブルの設計上、対象のデータベースを利用するに当たり、想定される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文が効率よく、コストの少ない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文として動作させるためには、対象のデータを適正に正規化し、リレーショナルデータベースの特性を利用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して複数のテーブルで管理する必要がある。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・正規化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対象のデータを複数のデータに分割し、分割したデータごとにテーブルを作成し、管理すること。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分割したデータは対象のテーブルを組み合わせて</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することで必要なデータに加工し、利用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する。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23" name="表 22">
            <a:extLst>
              <a:ext uri="{FF2B5EF4-FFF2-40B4-BE49-F238E27FC236}">
                <a16:creationId xmlns:a16="http://schemas.microsoft.com/office/drawing/2014/main" id="{F7939151-1AFB-EA07-87A4-75A482A5E5EE}"/>
              </a:ext>
            </a:extLst>
          </p:cNvPr>
          <p:cNvGraphicFramePr>
            <a:graphicFrameLocks noGrp="1"/>
          </p:cNvGraphicFramePr>
          <p:nvPr>
            <p:extLst>
              <p:ext uri="{D42A27DB-BD31-4B8C-83A1-F6EECF244321}">
                <p14:modId xmlns:p14="http://schemas.microsoft.com/office/powerpoint/2010/main" val="3658186807"/>
              </p:ext>
            </p:extLst>
          </p:nvPr>
        </p:nvGraphicFramePr>
        <p:xfrm>
          <a:off x="535407" y="2623338"/>
          <a:ext cx="8251797" cy="1371600"/>
        </p:xfrm>
        <a:graphic>
          <a:graphicData uri="http://schemas.openxmlformats.org/drawingml/2006/table">
            <a:tbl>
              <a:tblPr firstRow="1" bandRow="1">
                <a:tableStyleId>{5C22544A-7EE6-4342-B048-85BDC9FD1C3A}</a:tableStyleId>
              </a:tblPr>
              <a:tblGrid>
                <a:gridCol w="1064022">
                  <a:extLst>
                    <a:ext uri="{9D8B030D-6E8A-4147-A177-3AD203B41FA5}">
                      <a16:colId xmlns:a16="http://schemas.microsoft.com/office/drawing/2014/main" val="20000"/>
                    </a:ext>
                  </a:extLst>
                </a:gridCol>
                <a:gridCol w="1642905">
                  <a:extLst>
                    <a:ext uri="{9D8B030D-6E8A-4147-A177-3AD203B41FA5}">
                      <a16:colId xmlns:a16="http://schemas.microsoft.com/office/drawing/2014/main" val="20001"/>
                    </a:ext>
                  </a:extLst>
                </a:gridCol>
                <a:gridCol w="1835198">
                  <a:extLst>
                    <a:ext uri="{9D8B030D-6E8A-4147-A177-3AD203B41FA5}">
                      <a16:colId xmlns:a16="http://schemas.microsoft.com/office/drawing/2014/main" val="20002"/>
                    </a:ext>
                  </a:extLst>
                </a:gridCol>
                <a:gridCol w="736918">
                  <a:extLst>
                    <a:ext uri="{9D8B030D-6E8A-4147-A177-3AD203B41FA5}">
                      <a16:colId xmlns:a16="http://schemas.microsoft.com/office/drawing/2014/main" val="20003"/>
                    </a:ext>
                  </a:extLst>
                </a:gridCol>
                <a:gridCol w="889318">
                  <a:extLst>
                    <a:ext uri="{9D8B030D-6E8A-4147-A177-3AD203B41FA5}">
                      <a16:colId xmlns:a16="http://schemas.microsoft.com/office/drawing/2014/main" val="20004"/>
                    </a:ext>
                  </a:extLst>
                </a:gridCol>
                <a:gridCol w="1346518">
                  <a:extLst>
                    <a:ext uri="{9D8B030D-6E8A-4147-A177-3AD203B41FA5}">
                      <a16:colId xmlns:a16="http://schemas.microsoft.com/office/drawing/2014/main" val="20005"/>
                    </a:ext>
                  </a:extLst>
                </a:gridCol>
                <a:gridCol w="736918">
                  <a:extLst>
                    <a:ext uri="{9D8B030D-6E8A-4147-A177-3AD203B41FA5}">
                      <a16:colId xmlns:a16="http://schemas.microsoft.com/office/drawing/2014/main" val="20006"/>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本籍都道府県</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担任</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次郎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47</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bl>
          </a:graphicData>
        </a:graphic>
      </p:graphicFrame>
      <p:graphicFrame>
        <p:nvGraphicFramePr>
          <p:cNvPr id="25" name="表 24">
            <a:extLst>
              <a:ext uri="{FF2B5EF4-FFF2-40B4-BE49-F238E27FC236}">
                <a16:creationId xmlns:a16="http://schemas.microsoft.com/office/drawing/2014/main" id="{83073D8B-A031-E475-4912-1098CD7F05A4}"/>
              </a:ext>
            </a:extLst>
          </p:cNvPr>
          <p:cNvGraphicFramePr>
            <a:graphicFrameLocks noGrp="1"/>
          </p:cNvGraphicFramePr>
          <p:nvPr>
            <p:extLst>
              <p:ext uri="{D42A27DB-BD31-4B8C-83A1-F6EECF244321}">
                <p14:modId xmlns:p14="http://schemas.microsoft.com/office/powerpoint/2010/main" val="3285291205"/>
              </p:ext>
            </p:extLst>
          </p:nvPr>
        </p:nvGraphicFramePr>
        <p:xfrm>
          <a:off x="535406" y="4547221"/>
          <a:ext cx="1275398" cy="822960"/>
        </p:xfrm>
        <a:graphic>
          <a:graphicData uri="http://schemas.openxmlformats.org/drawingml/2006/table">
            <a:tbl>
              <a:tblPr firstRow="1" bandRow="1">
                <a:tableStyleId>{21E4AEA4-8DFA-4A89-87EB-49C32662AFE0}</a:tableStyleId>
              </a:tblPr>
              <a:tblGrid>
                <a:gridCol w="736918">
                  <a:extLst>
                    <a:ext uri="{9D8B030D-6E8A-4147-A177-3AD203B41FA5}">
                      <a16:colId xmlns:a16="http://schemas.microsoft.com/office/drawing/2014/main" val="20000"/>
                    </a:ext>
                  </a:extLst>
                </a:gridCol>
                <a:gridCol w="538480">
                  <a:extLst>
                    <a:ext uri="{9D8B030D-6E8A-4147-A177-3AD203B41FA5}">
                      <a16:colId xmlns:a16="http://schemas.microsoft.com/office/drawing/2014/main" val="20001"/>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男</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女</a:t>
                      </a:r>
                    </a:p>
                  </a:txBody>
                  <a:tcPr/>
                </a:tc>
                <a:extLst>
                  <a:ext uri="{0D108BD9-81ED-4DB2-BD59-A6C34878D82A}">
                    <a16:rowId xmlns:a16="http://schemas.microsoft.com/office/drawing/2014/main" val="10002"/>
                  </a:ext>
                </a:extLst>
              </a:tr>
            </a:tbl>
          </a:graphicData>
        </a:graphic>
      </p:graphicFrame>
      <p:graphicFrame>
        <p:nvGraphicFramePr>
          <p:cNvPr id="27" name="表 26">
            <a:extLst>
              <a:ext uri="{FF2B5EF4-FFF2-40B4-BE49-F238E27FC236}">
                <a16:creationId xmlns:a16="http://schemas.microsoft.com/office/drawing/2014/main" id="{2B9C2BA5-76D1-CC81-5E7C-3720BB7FB55E}"/>
              </a:ext>
            </a:extLst>
          </p:cNvPr>
          <p:cNvGraphicFramePr>
            <a:graphicFrameLocks noGrp="1"/>
          </p:cNvGraphicFramePr>
          <p:nvPr>
            <p:extLst>
              <p:ext uri="{D42A27DB-BD31-4B8C-83A1-F6EECF244321}">
                <p14:modId xmlns:p14="http://schemas.microsoft.com/office/powerpoint/2010/main" val="1211185608"/>
              </p:ext>
            </p:extLst>
          </p:nvPr>
        </p:nvGraphicFramePr>
        <p:xfrm>
          <a:off x="2242065" y="4547221"/>
          <a:ext cx="1673861" cy="1828800"/>
        </p:xfrm>
        <a:graphic>
          <a:graphicData uri="http://schemas.openxmlformats.org/drawingml/2006/table">
            <a:tbl>
              <a:tblPr firstRow="1" bandRow="1">
                <a:tableStyleId>{93296810-A885-4BE3-A3E7-6D5BEEA58F35}</a:tableStyleId>
              </a:tblPr>
              <a:tblGrid>
                <a:gridCol w="828993">
                  <a:extLst>
                    <a:ext uri="{9D8B030D-6E8A-4147-A177-3AD203B41FA5}">
                      <a16:colId xmlns:a16="http://schemas.microsoft.com/office/drawing/2014/main" val="20000"/>
                    </a:ext>
                  </a:extLst>
                </a:gridCol>
                <a:gridCol w="844868">
                  <a:extLst>
                    <a:ext uri="{9D8B030D-6E8A-4147-A177-3AD203B41FA5}">
                      <a16:colId xmlns:a16="http://schemas.microsoft.com/office/drawing/2014/main" val="20001"/>
                    </a:ext>
                  </a:extLst>
                </a:gridCol>
              </a:tblGrid>
              <a:tr h="45720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風紀委員</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体育委員</a:t>
                      </a:r>
                    </a:p>
                  </a:txBody>
                  <a:tcPr/>
                </a:tc>
                <a:extLst>
                  <a:ext uri="{0D108BD9-81ED-4DB2-BD59-A6C34878D82A}">
                    <a16:rowId xmlns:a16="http://schemas.microsoft.com/office/drawing/2014/main" val="10005"/>
                  </a:ext>
                </a:extLst>
              </a:tr>
            </a:tbl>
          </a:graphicData>
        </a:graphic>
      </p:graphicFrame>
      <p:graphicFrame>
        <p:nvGraphicFramePr>
          <p:cNvPr id="29" name="表 28">
            <a:extLst>
              <a:ext uri="{FF2B5EF4-FFF2-40B4-BE49-F238E27FC236}">
                <a16:creationId xmlns:a16="http://schemas.microsoft.com/office/drawing/2014/main" id="{1D115B34-42E6-3457-A600-06D9AADCBAD1}"/>
              </a:ext>
            </a:extLst>
          </p:cNvPr>
          <p:cNvGraphicFramePr>
            <a:graphicFrameLocks noGrp="1"/>
          </p:cNvGraphicFramePr>
          <p:nvPr>
            <p:extLst>
              <p:ext uri="{D42A27DB-BD31-4B8C-83A1-F6EECF244321}">
                <p14:modId xmlns:p14="http://schemas.microsoft.com/office/powerpoint/2010/main" val="3503858627"/>
              </p:ext>
            </p:extLst>
          </p:nvPr>
        </p:nvGraphicFramePr>
        <p:xfrm>
          <a:off x="4347187" y="4752260"/>
          <a:ext cx="1886586" cy="1645920"/>
        </p:xfrm>
        <a:graphic>
          <a:graphicData uri="http://schemas.openxmlformats.org/drawingml/2006/table">
            <a:tbl>
              <a:tblPr firstRow="1" bandRow="1">
                <a:tableStyleId>{00A15C55-8517-42AA-B614-E9B94910E393}</a:tableStyleId>
              </a:tblPr>
              <a:tblGrid>
                <a:gridCol w="1041718">
                  <a:extLst>
                    <a:ext uri="{9D8B030D-6E8A-4147-A177-3AD203B41FA5}">
                      <a16:colId xmlns:a16="http://schemas.microsoft.com/office/drawing/2014/main" val="20000"/>
                    </a:ext>
                  </a:extLst>
                </a:gridCol>
                <a:gridCol w="844868">
                  <a:extLst>
                    <a:ext uri="{9D8B030D-6E8A-4147-A177-3AD203B41FA5}">
                      <a16:colId xmlns:a16="http://schemas.microsoft.com/office/drawing/2014/main" val="20001"/>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都道府県</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都道府県</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北海道</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東京都</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長崎県</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鹿児島県</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47</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沖縄県</a:t>
                      </a:r>
                    </a:p>
                  </a:txBody>
                  <a:tcPr/>
                </a:tc>
                <a:extLst>
                  <a:ext uri="{0D108BD9-81ED-4DB2-BD59-A6C34878D82A}">
                    <a16:rowId xmlns:a16="http://schemas.microsoft.com/office/drawing/2014/main" val="10005"/>
                  </a:ext>
                </a:extLst>
              </a:tr>
            </a:tbl>
          </a:graphicData>
        </a:graphic>
      </p:graphicFrame>
      <p:graphicFrame>
        <p:nvGraphicFramePr>
          <p:cNvPr id="31" name="表 30">
            <a:extLst>
              <a:ext uri="{FF2B5EF4-FFF2-40B4-BE49-F238E27FC236}">
                <a16:creationId xmlns:a16="http://schemas.microsoft.com/office/drawing/2014/main" id="{FE3312F7-F428-E979-5C2F-0F419FFFE00F}"/>
              </a:ext>
            </a:extLst>
          </p:cNvPr>
          <p:cNvGraphicFramePr>
            <a:graphicFrameLocks noGrp="1"/>
          </p:cNvGraphicFramePr>
          <p:nvPr>
            <p:extLst>
              <p:ext uri="{D42A27DB-BD31-4B8C-83A1-F6EECF244321}">
                <p14:modId xmlns:p14="http://schemas.microsoft.com/office/powerpoint/2010/main" val="3961635354"/>
              </p:ext>
            </p:extLst>
          </p:nvPr>
        </p:nvGraphicFramePr>
        <p:xfrm>
          <a:off x="6665035" y="4752260"/>
          <a:ext cx="2083436" cy="1371600"/>
        </p:xfrm>
        <a:graphic>
          <a:graphicData uri="http://schemas.openxmlformats.org/drawingml/2006/table">
            <a:tbl>
              <a:tblPr firstRow="1" bandRow="1">
                <a:tableStyleId>{7DF18680-E054-41AD-8BC1-D1AEF772440D}</a:tableStyleId>
              </a:tblPr>
              <a:tblGrid>
                <a:gridCol w="1041718">
                  <a:extLst>
                    <a:ext uri="{9D8B030D-6E8A-4147-A177-3AD203B41FA5}">
                      <a16:colId xmlns:a16="http://schemas.microsoft.com/office/drawing/2014/main" val="20000"/>
                    </a:ext>
                  </a:extLst>
                </a:gridCol>
                <a:gridCol w="1041718">
                  <a:extLst>
                    <a:ext uri="{9D8B030D-6E8A-4147-A177-3AD203B41FA5}">
                      <a16:colId xmlns:a16="http://schemas.microsoft.com/office/drawing/2014/main" val="20001"/>
                    </a:ext>
                  </a:extLst>
                </a:gridCol>
              </a:tblGrid>
              <a:tr h="274320">
                <a:tc>
                  <a:txBody>
                    <a:bodyPr/>
                    <a:lstStyle/>
                    <a:p>
                      <a:r>
                        <a:rPr kumimoji="1" lang="ja-JP" altLang="en-US" sz="1200" dirty="0"/>
                        <a:t>担任</a:t>
                      </a:r>
                      <a:r>
                        <a:rPr kumimoji="1" lang="en-US" altLang="ja-JP" sz="1200" dirty="0"/>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担任</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A</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B</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C</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t>先生</a:t>
                      </a:r>
                      <a:r>
                        <a:rPr kumimoji="1" lang="en-US" altLang="ja-JP" sz="1200" dirty="0"/>
                        <a:t>D</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bl>
          </a:graphicData>
        </a:graphic>
      </p:graphicFrame>
      <p:cxnSp>
        <p:nvCxnSpPr>
          <p:cNvPr id="32" name="カギ線コネクタ 14">
            <a:extLst>
              <a:ext uri="{FF2B5EF4-FFF2-40B4-BE49-F238E27FC236}">
                <a16:creationId xmlns:a16="http://schemas.microsoft.com/office/drawing/2014/main" id="{83B9398F-CE60-5192-D682-0DFEE078D324}"/>
              </a:ext>
            </a:extLst>
          </p:cNvPr>
          <p:cNvCxnSpPr/>
          <p:nvPr/>
        </p:nvCxnSpPr>
        <p:spPr>
          <a:xfrm rot="5400000">
            <a:off x="2885875" y="2070813"/>
            <a:ext cx="396000" cy="4392000"/>
          </a:xfrm>
          <a:prstGeom prst="bentConnector3">
            <a:avLst/>
          </a:prstGeom>
          <a:ln w="25400">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カギ線コネクタ 19">
            <a:extLst>
              <a:ext uri="{FF2B5EF4-FFF2-40B4-BE49-F238E27FC236}">
                <a16:creationId xmlns:a16="http://schemas.microsoft.com/office/drawing/2014/main" id="{559EE0C9-2348-8541-2012-11FDBAF4FD13}"/>
              </a:ext>
            </a:extLst>
          </p:cNvPr>
          <p:cNvCxnSpPr/>
          <p:nvPr/>
        </p:nvCxnSpPr>
        <p:spPr>
          <a:xfrm rot="5400000">
            <a:off x="4071328" y="2538813"/>
            <a:ext cx="396000" cy="3456000"/>
          </a:xfrm>
          <a:prstGeom prst="bentConnector3">
            <a:avLst>
              <a:gd name="adj1" fmla="val 74867"/>
            </a:avLst>
          </a:prstGeom>
          <a:ln w="25400">
            <a:headEnd type="oval"/>
            <a:tailEnd type="oval"/>
          </a:ln>
        </p:spPr>
        <p:style>
          <a:lnRef idx="1">
            <a:schemeClr val="accent1"/>
          </a:lnRef>
          <a:fillRef idx="0">
            <a:schemeClr val="accent1"/>
          </a:fillRef>
          <a:effectRef idx="0">
            <a:schemeClr val="accent1"/>
          </a:effectRef>
          <a:fontRef idx="minor">
            <a:schemeClr val="tx1"/>
          </a:fontRef>
        </p:style>
      </p:cxnSp>
      <p:cxnSp>
        <p:nvCxnSpPr>
          <p:cNvPr id="34" name="カギ線コネクタ 21">
            <a:extLst>
              <a:ext uri="{FF2B5EF4-FFF2-40B4-BE49-F238E27FC236}">
                <a16:creationId xmlns:a16="http://schemas.microsoft.com/office/drawing/2014/main" id="{ADD5454B-F049-89A3-8C5E-2ACBFE399BC4}"/>
              </a:ext>
            </a:extLst>
          </p:cNvPr>
          <p:cNvCxnSpPr/>
          <p:nvPr/>
        </p:nvCxnSpPr>
        <p:spPr>
          <a:xfrm rot="5400000">
            <a:off x="5481861" y="3240812"/>
            <a:ext cx="576000" cy="2232000"/>
          </a:xfrm>
          <a:prstGeom prst="bentConnector3">
            <a:avLst>
              <a:gd name="adj1" fmla="val 69657"/>
            </a:avLst>
          </a:prstGeom>
          <a:ln w="25400">
            <a:headEnd type="oval"/>
            <a:tailEnd type="oval"/>
          </a:ln>
        </p:spPr>
        <p:style>
          <a:lnRef idx="1">
            <a:schemeClr val="accent1"/>
          </a:lnRef>
          <a:fillRef idx="0">
            <a:schemeClr val="accent1"/>
          </a:fillRef>
          <a:effectRef idx="0">
            <a:schemeClr val="accent1"/>
          </a:effectRef>
          <a:fontRef idx="minor">
            <a:schemeClr val="tx1"/>
          </a:fontRef>
        </p:style>
      </p:cxnSp>
      <p:cxnSp>
        <p:nvCxnSpPr>
          <p:cNvPr id="35" name="カギ線コネクタ 24">
            <a:extLst>
              <a:ext uri="{FF2B5EF4-FFF2-40B4-BE49-F238E27FC236}">
                <a16:creationId xmlns:a16="http://schemas.microsoft.com/office/drawing/2014/main" id="{C426C785-2945-E73B-61EA-4864AB5F71ED}"/>
              </a:ext>
            </a:extLst>
          </p:cNvPr>
          <p:cNvCxnSpPr/>
          <p:nvPr/>
        </p:nvCxnSpPr>
        <p:spPr>
          <a:xfrm rot="5400000">
            <a:off x="7311328" y="3726813"/>
            <a:ext cx="576000" cy="1260000"/>
          </a:xfrm>
          <a:prstGeom prst="bentConnector3">
            <a:avLst>
              <a:gd name="adj1" fmla="val 81868"/>
            </a:avLst>
          </a:prstGeom>
          <a:ln w="25400">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8726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7701C7-F552-D74E-76F7-5408337E6E70}"/>
              </a:ext>
            </a:extLst>
          </p:cNvPr>
          <p:cNvSpPr>
            <a:spLocks noGrp="1"/>
          </p:cNvSpPr>
          <p:nvPr>
            <p:ph type="title"/>
          </p:nvPr>
        </p:nvSpPr>
        <p:spPr/>
        <p:txBody>
          <a:bodyPr/>
          <a:lstStyle/>
          <a:p>
            <a:r>
              <a:rPr kumimoji="1" lang="en-US" altLang="ja-JP" dirty="0"/>
              <a:t>2. </a:t>
            </a:r>
            <a:r>
              <a:rPr kumimoji="1" lang="ja-JP" altLang="en-US" dirty="0"/>
              <a:t>テーブルの結合について</a:t>
            </a:r>
          </a:p>
        </p:txBody>
      </p:sp>
      <p:sp>
        <p:nvSpPr>
          <p:cNvPr id="3" name="スライド番号プレースホルダー 2">
            <a:extLst>
              <a:ext uri="{FF2B5EF4-FFF2-40B4-BE49-F238E27FC236}">
                <a16:creationId xmlns:a16="http://schemas.microsoft.com/office/drawing/2014/main" id="{1EE774BB-0A74-91E3-53F0-215DC90E92F2}"/>
              </a:ext>
            </a:extLst>
          </p:cNvPr>
          <p:cNvSpPr>
            <a:spLocks noGrp="1"/>
          </p:cNvSpPr>
          <p:nvPr>
            <p:ph type="sldNum" sz="quarter" idx="12"/>
          </p:nvPr>
        </p:nvSpPr>
        <p:spPr/>
        <p:txBody>
          <a:bodyPr/>
          <a:lstStyle/>
          <a:p>
            <a:fld id="{0BDC6CC0-337C-4DEC-BAED-08CE4EABF7AC}" type="slidenum">
              <a:rPr lang="ja-JP" altLang="en-US" smtClean="0"/>
              <a:pPr/>
              <a:t>3</a:t>
            </a:fld>
            <a:endParaRPr lang="ja-JP" altLang="en-US" dirty="0"/>
          </a:p>
        </p:txBody>
      </p:sp>
      <p:sp>
        <p:nvSpPr>
          <p:cNvPr id="4" name="テキスト ボックス 3">
            <a:extLst>
              <a:ext uri="{FF2B5EF4-FFF2-40B4-BE49-F238E27FC236}">
                <a16:creationId xmlns:a16="http://schemas.microsoft.com/office/drawing/2014/main" id="{2F231EA7-1376-04B3-5819-DADFE2115AFA}"/>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2-1.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テーブルの結合について</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FD2D8F29-A2A4-B1EB-C805-D5FB050CC7FF}"/>
              </a:ext>
            </a:extLst>
          </p:cNvPr>
          <p:cNvSpPr txBox="1"/>
          <p:nvPr/>
        </p:nvSpPr>
        <p:spPr>
          <a:xfrm>
            <a:off x="112541" y="953339"/>
            <a:ext cx="9636369" cy="5386090"/>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正規化された複数のテーブルから必要なフィールドを必要に応じて加工し、取得するには必要なテーブルを組み</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合わせて</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つのデータとして取得する必要があり、その際にはリレーショナルデータベースの特性を活かし、</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テーブルの結合</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を行う必要がある。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テーブルの結合を行う際には、結合対象のテーブルの中で同一の意味を持つフィールド同士を</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として</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繋ぎ合わせる必要がある。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テーブルの結合には、内部結合と外部結合の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種類が存在し、それぞれの意味は以下の通りである。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・内部結合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結合対象のテーブルのデータで結合条件を満たすレコード同士のみを取得する結合のこと。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・外部結合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結合対象のテーブルのデータで結合条件で条件のいずれかを満たすデータを取得する結合のこと。</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テーブルの結合によりデータを取得する際には、使用するテーブルに同名のフィールドが存在する場合には、</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フィールドを指定する際には明示的にフィールド名にテーブル名を付与して使用する必要がある。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内部結合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SELECT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取得するフィールド</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FROM [</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テーブル名</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(INNER) JOIN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結合対象のテーブル名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ON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AND(OR)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結合条件が複数の場合には、</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句同様に</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AND</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句や</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OR</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句で複数の結合条件を追加で記述する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451524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表 20">
            <a:extLst>
              <a:ext uri="{FF2B5EF4-FFF2-40B4-BE49-F238E27FC236}">
                <a16:creationId xmlns:a16="http://schemas.microsoft.com/office/drawing/2014/main" id="{6526F4DA-F2D4-86E7-DF35-7026B20C6E99}"/>
              </a:ext>
            </a:extLst>
          </p:cNvPr>
          <p:cNvGraphicFramePr>
            <a:graphicFrameLocks noGrp="1"/>
          </p:cNvGraphicFramePr>
          <p:nvPr>
            <p:extLst>
              <p:ext uri="{D42A27DB-BD31-4B8C-83A1-F6EECF244321}">
                <p14:modId xmlns:p14="http://schemas.microsoft.com/office/powerpoint/2010/main" val="2184992206"/>
              </p:ext>
            </p:extLst>
          </p:nvPr>
        </p:nvGraphicFramePr>
        <p:xfrm>
          <a:off x="6030515" y="569793"/>
          <a:ext cx="1955465" cy="1645920"/>
        </p:xfrm>
        <a:graphic>
          <a:graphicData uri="http://schemas.openxmlformats.org/drawingml/2006/table">
            <a:tbl>
              <a:tblPr firstRow="1" bandRow="1">
                <a:tableStyleId>{93296810-A885-4BE3-A3E7-6D5BEEA58F35}</a:tableStyleId>
              </a:tblPr>
              <a:tblGrid>
                <a:gridCol w="968460">
                  <a:extLst>
                    <a:ext uri="{9D8B030D-6E8A-4147-A177-3AD203B41FA5}">
                      <a16:colId xmlns:a16="http://schemas.microsoft.com/office/drawing/2014/main" val="20000"/>
                    </a:ext>
                  </a:extLst>
                </a:gridCol>
                <a:gridCol w="987005">
                  <a:extLst>
                    <a:ext uri="{9D8B030D-6E8A-4147-A177-3AD203B41FA5}">
                      <a16:colId xmlns:a16="http://schemas.microsoft.com/office/drawing/2014/main" val="20001"/>
                    </a:ext>
                  </a:extLst>
                </a:gridCol>
              </a:tblGrid>
              <a:tr h="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風紀委員</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体育委員</a:t>
                      </a:r>
                    </a:p>
                  </a:txBody>
                  <a:tcPr/>
                </a:tc>
                <a:extLst>
                  <a:ext uri="{0D108BD9-81ED-4DB2-BD59-A6C34878D82A}">
                    <a16:rowId xmlns:a16="http://schemas.microsoft.com/office/drawing/2014/main" val="10005"/>
                  </a:ext>
                </a:extLst>
              </a:tr>
            </a:tbl>
          </a:graphicData>
        </a:graphic>
      </p:graphicFrame>
      <p:sp>
        <p:nvSpPr>
          <p:cNvPr id="2" name="タイトル 1">
            <a:extLst>
              <a:ext uri="{FF2B5EF4-FFF2-40B4-BE49-F238E27FC236}">
                <a16:creationId xmlns:a16="http://schemas.microsoft.com/office/drawing/2014/main" id="{B1F7AA95-60C5-E117-407B-2110B0A804F5}"/>
              </a:ext>
            </a:extLst>
          </p:cNvPr>
          <p:cNvSpPr>
            <a:spLocks noGrp="1"/>
          </p:cNvSpPr>
          <p:nvPr>
            <p:ph type="title"/>
          </p:nvPr>
        </p:nvSpPr>
        <p:spPr/>
        <p:txBody>
          <a:bodyPr/>
          <a:lstStyle/>
          <a:p>
            <a:r>
              <a:rPr kumimoji="1" lang="en-US" altLang="ja-JP" dirty="0"/>
              <a:t>2. </a:t>
            </a:r>
            <a:r>
              <a:rPr kumimoji="1" lang="ja-JP" altLang="en-US" dirty="0"/>
              <a:t>テーブルの結合について</a:t>
            </a:r>
          </a:p>
        </p:txBody>
      </p:sp>
      <p:sp>
        <p:nvSpPr>
          <p:cNvPr id="3" name="スライド番号プレースホルダー 2">
            <a:extLst>
              <a:ext uri="{FF2B5EF4-FFF2-40B4-BE49-F238E27FC236}">
                <a16:creationId xmlns:a16="http://schemas.microsoft.com/office/drawing/2014/main" id="{E6994C4B-9F9E-F4CF-1CDE-1F80F52E9EEC}"/>
              </a:ext>
            </a:extLst>
          </p:cNvPr>
          <p:cNvSpPr>
            <a:spLocks noGrp="1"/>
          </p:cNvSpPr>
          <p:nvPr>
            <p:ph type="sldNum" sz="quarter" idx="12"/>
          </p:nvPr>
        </p:nvSpPr>
        <p:spPr/>
        <p:txBody>
          <a:bodyPr/>
          <a:lstStyle/>
          <a:p>
            <a:fld id="{0BDC6CC0-337C-4DEC-BAED-08CE4EABF7AC}" type="slidenum">
              <a:rPr lang="ja-JP" altLang="en-US" smtClean="0"/>
              <a:pPr/>
              <a:t>4</a:t>
            </a:fld>
            <a:endParaRPr lang="ja-JP" altLang="en-US" dirty="0"/>
          </a:p>
        </p:txBody>
      </p:sp>
      <p:graphicFrame>
        <p:nvGraphicFramePr>
          <p:cNvPr id="4" name="表 3">
            <a:extLst>
              <a:ext uri="{FF2B5EF4-FFF2-40B4-BE49-F238E27FC236}">
                <a16:creationId xmlns:a16="http://schemas.microsoft.com/office/drawing/2014/main" id="{82E3ACAB-F765-3CF5-2A9A-29E445F65D76}"/>
              </a:ext>
            </a:extLst>
          </p:cNvPr>
          <p:cNvGraphicFramePr>
            <a:graphicFrameLocks noGrp="1"/>
          </p:cNvGraphicFramePr>
          <p:nvPr>
            <p:extLst>
              <p:ext uri="{D42A27DB-BD31-4B8C-83A1-F6EECF244321}">
                <p14:modId xmlns:p14="http://schemas.microsoft.com/office/powerpoint/2010/main" val="1535169979"/>
              </p:ext>
            </p:extLst>
          </p:nvPr>
        </p:nvGraphicFramePr>
        <p:xfrm>
          <a:off x="535407" y="576000"/>
          <a:ext cx="5431325" cy="1371600"/>
        </p:xfrm>
        <a:graphic>
          <a:graphicData uri="http://schemas.openxmlformats.org/drawingml/2006/table">
            <a:tbl>
              <a:tblPr firstRow="1" bandRow="1">
                <a:tableStyleId>{5C22544A-7EE6-4342-B048-85BDC9FD1C3A}</a:tableStyleId>
              </a:tblPr>
              <a:tblGrid>
                <a:gridCol w="1064022">
                  <a:extLst>
                    <a:ext uri="{9D8B030D-6E8A-4147-A177-3AD203B41FA5}">
                      <a16:colId xmlns:a16="http://schemas.microsoft.com/office/drawing/2014/main" val="20000"/>
                    </a:ext>
                  </a:extLst>
                </a:gridCol>
                <a:gridCol w="1642905">
                  <a:extLst>
                    <a:ext uri="{9D8B030D-6E8A-4147-A177-3AD203B41FA5}">
                      <a16:colId xmlns:a16="http://schemas.microsoft.com/office/drawing/2014/main" val="20001"/>
                    </a:ext>
                  </a:extLst>
                </a:gridCol>
                <a:gridCol w="1835198">
                  <a:extLst>
                    <a:ext uri="{9D8B030D-6E8A-4147-A177-3AD203B41FA5}">
                      <a16:colId xmlns:a16="http://schemas.microsoft.com/office/drawing/2014/main" val="20002"/>
                    </a:ext>
                  </a:extLst>
                </a:gridCol>
                <a:gridCol w="889200">
                  <a:extLst>
                    <a:ext uri="{9D8B030D-6E8A-4147-A177-3AD203B41FA5}">
                      <a16:colId xmlns:a16="http://schemas.microsoft.com/office/drawing/2014/main" val="20003"/>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次郎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bl>
          </a:graphicData>
        </a:graphic>
      </p:graphicFrame>
      <p:graphicFrame>
        <p:nvGraphicFramePr>
          <p:cNvPr id="6" name="表 5">
            <a:extLst>
              <a:ext uri="{FF2B5EF4-FFF2-40B4-BE49-F238E27FC236}">
                <a16:creationId xmlns:a16="http://schemas.microsoft.com/office/drawing/2014/main" id="{8035261D-F911-AB0C-9526-411A0F5F1A72}"/>
              </a:ext>
            </a:extLst>
          </p:cNvPr>
          <p:cNvGraphicFramePr>
            <a:graphicFrameLocks noGrp="1"/>
          </p:cNvGraphicFramePr>
          <p:nvPr>
            <p:extLst>
              <p:ext uri="{D42A27DB-BD31-4B8C-83A1-F6EECF244321}">
                <p14:modId xmlns:p14="http://schemas.microsoft.com/office/powerpoint/2010/main" val="3477095228"/>
              </p:ext>
            </p:extLst>
          </p:nvPr>
        </p:nvGraphicFramePr>
        <p:xfrm>
          <a:off x="535406" y="2701976"/>
          <a:ext cx="6409245" cy="1097280"/>
        </p:xfrm>
        <a:graphic>
          <a:graphicData uri="http://schemas.openxmlformats.org/drawingml/2006/table">
            <a:tbl>
              <a:tblPr firstRow="1" bandRow="1">
                <a:tableStyleId>{5C22544A-7EE6-4342-B048-85BDC9FD1C3A}</a:tableStyleId>
              </a:tblPr>
              <a:tblGrid>
                <a:gridCol w="1062035">
                  <a:extLst>
                    <a:ext uri="{9D8B030D-6E8A-4147-A177-3AD203B41FA5}">
                      <a16:colId xmlns:a16="http://schemas.microsoft.com/office/drawing/2014/main" val="20000"/>
                    </a:ext>
                  </a:extLst>
                </a:gridCol>
                <a:gridCol w="1639838">
                  <a:extLst>
                    <a:ext uri="{9D8B030D-6E8A-4147-A177-3AD203B41FA5}">
                      <a16:colId xmlns:a16="http://schemas.microsoft.com/office/drawing/2014/main" val="20001"/>
                    </a:ext>
                  </a:extLst>
                </a:gridCol>
                <a:gridCol w="1831772">
                  <a:extLst>
                    <a:ext uri="{9D8B030D-6E8A-4147-A177-3AD203B41FA5}">
                      <a16:colId xmlns:a16="http://schemas.microsoft.com/office/drawing/2014/main" val="20002"/>
                    </a:ext>
                  </a:extLst>
                </a:gridCol>
                <a:gridCol w="889200">
                  <a:extLst>
                    <a:ext uri="{9D8B030D-6E8A-4147-A177-3AD203B41FA5}">
                      <a16:colId xmlns:a16="http://schemas.microsoft.com/office/drawing/2014/main" val="20003"/>
                    </a:ext>
                  </a:extLst>
                </a:gridCol>
                <a:gridCol w="986400">
                  <a:extLst>
                    <a:ext uri="{9D8B030D-6E8A-4147-A177-3AD203B41FA5}">
                      <a16:colId xmlns:a16="http://schemas.microsoft.com/office/drawing/2014/main" val="1942230765"/>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p>
                  </a:txBody>
                  <a:tcPr/>
                </a:tc>
                <a:extLst>
                  <a:ext uri="{0D108BD9-81ED-4DB2-BD59-A6C34878D82A}">
                    <a16:rowId xmlns:a16="http://schemas.microsoft.com/office/drawing/2014/main" val="10004"/>
                  </a:ext>
                </a:extLst>
              </a:tr>
            </a:tbl>
          </a:graphicData>
        </a:graphic>
      </p:graphicFrame>
      <p:cxnSp>
        <p:nvCxnSpPr>
          <p:cNvPr id="8" name="直線矢印コネクタ 7">
            <a:extLst>
              <a:ext uri="{FF2B5EF4-FFF2-40B4-BE49-F238E27FC236}">
                <a16:creationId xmlns:a16="http://schemas.microsoft.com/office/drawing/2014/main" id="{71CB3344-821B-DA11-BF8F-AD51427D5A9D}"/>
              </a:ext>
            </a:extLst>
          </p:cNvPr>
          <p:cNvCxnSpPr>
            <a:cxnSpLocks/>
          </p:cNvCxnSpPr>
          <p:nvPr/>
        </p:nvCxnSpPr>
        <p:spPr>
          <a:xfrm>
            <a:off x="3239589" y="1947600"/>
            <a:ext cx="0" cy="754376"/>
          </a:xfrm>
          <a:prstGeom prst="straightConnector1">
            <a:avLst/>
          </a:prstGeom>
          <a:ln w="381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2C340AAF-0DCD-9C91-5AE2-43D94EBC4B60}"/>
              </a:ext>
            </a:extLst>
          </p:cNvPr>
          <p:cNvCxnSpPr>
            <a:cxnSpLocks/>
          </p:cNvCxnSpPr>
          <p:nvPr/>
        </p:nvCxnSpPr>
        <p:spPr>
          <a:xfrm>
            <a:off x="6668214" y="2215713"/>
            <a:ext cx="0" cy="24623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84CCF5F9-9405-E461-E801-19E77D6FDCF7}"/>
              </a:ext>
            </a:extLst>
          </p:cNvPr>
          <p:cNvCxnSpPr/>
          <p:nvPr/>
        </p:nvCxnSpPr>
        <p:spPr>
          <a:xfrm flipH="1">
            <a:off x="3239589" y="2461948"/>
            <a:ext cx="34286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F2441273-8D60-792B-07E2-F2D32CAA8B13}"/>
              </a:ext>
            </a:extLst>
          </p:cNvPr>
          <p:cNvSpPr txBox="1"/>
          <p:nvPr/>
        </p:nvSpPr>
        <p:spPr>
          <a:xfrm>
            <a:off x="112541" y="3861633"/>
            <a:ext cx="9636369" cy="203132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外部結合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SELECT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取得するフィールド</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FROM [</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テーブル名</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(LEFT OUTER)(RIGHT OUTER) JOIN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結合対象のテーブル名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ON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AND(OR)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結合条件のフィールド名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結合条件が複数の場合には、</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句同様に</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AND</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句や</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OR</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句で複数の結合条件を追加で記述する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919089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26BFEA-2C4D-B609-E516-5179E13595D8}"/>
              </a:ext>
            </a:extLst>
          </p:cNvPr>
          <p:cNvSpPr>
            <a:spLocks noGrp="1"/>
          </p:cNvSpPr>
          <p:nvPr>
            <p:ph type="title"/>
          </p:nvPr>
        </p:nvSpPr>
        <p:spPr/>
        <p:txBody>
          <a:bodyPr/>
          <a:lstStyle/>
          <a:p>
            <a:r>
              <a:rPr kumimoji="1" lang="en-US" altLang="ja-JP" dirty="0"/>
              <a:t>2. </a:t>
            </a:r>
            <a:r>
              <a:rPr kumimoji="1" lang="ja-JP" altLang="en-US" dirty="0"/>
              <a:t>テーブルの結合について</a:t>
            </a:r>
          </a:p>
        </p:txBody>
      </p:sp>
      <p:sp>
        <p:nvSpPr>
          <p:cNvPr id="3" name="スライド番号プレースホルダー 2">
            <a:extLst>
              <a:ext uri="{FF2B5EF4-FFF2-40B4-BE49-F238E27FC236}">
                <a16:creationId xmlns:a16="http://schemas.microsoft.com/office/drawing/2014/main" id="{E10273D1-77EB-AE1A-ED49-6D06788F9FD7}"/>
              </a:ext>
            </a:extLst>
          </p:cNvPr>
          <p:cNvSpPr>
            <a:spLocks noGrp="1"/>
          </p:cNvSpPr>
          <p:nvPr>
            <p:ph type="sldNum" sz="quarter" idx="12"/>
          </p:nvPr>
        </p:nvSpPr>
        <p:spPr/>
        <p:txBody>
          <a:bodyPr/>
          <a:lstStyle/>
          <a:p>
            <a:fld id="{0BDC6CC0-337C-4DEC-BAED-08CE4EABF7AC}" type="slidenum">
              <a:rPr lang="ja-JP" altLang="en-US" smtClean="0"/>
              <a:pPr/>
              <a:t>5</a:t>
            </a:fld>
            <a:endParaRPr lang="ja-JP" altLang="en-US" dirty="0"/>
          </a:p>
        </p:txBody>
      </p:sp>
      <p:cxnSp>
        <p:nvCxnSpPr>
          <p:cNvPr id="7" name="直線矢印コネクタ 6">
            <a:extLst>
              <a:ext uri="{FF2B5EF4-FFF2-40B4-BE49-F238E27FC236}">
                <a16:creationId xmlns:a16="http://schemas.microsoft.com/office/drawing/2014/main" id="{F3826615-07EB-20C7-4838-4A8F21687404}"/>
              </a:ext>
            </a:extLst>
          </p:cNvPr>
          <p:cNvCxnSpPr>
            <a:cxnSpLocks/>
          </p:cNvCxnSpPr>
          <p:nvPr/>
        </p:nvCxnSpPr>
        <p:spPr>
          <a:xfrm>
            <a:off x="1513138" y="2215713"/>
            <a:ext cx="0" cy="597825"/>
          </a:xfrm>
          <a:prstGeom prst="straightConnector1">
            <a:avLst/>
          </a:prstGeom>
          <a:ln w="381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5C89A329-1C8F-1955-DF80-42097D3BB75A}"/>
              </a:ext>
            </a:extLst>
          </p:cNvPr>
          <p:cNvCxnSpPr>
            <a:cxnSpLocks/>
          </p:cNvCxnSpPr>
          <p:nvPr/>
        </p:nvCxnSpPr>
        <p:spPr>
          <a:xfrm>
            <a:off x="5217892" y="1936120"/>
            <a:ext cx="0" cy="5455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F727E450-0CFC-FCED-F233-C0A369FD6F69}"/>
              </a:ext>
            </a:extLst>
          </p:cNvPr>
          <p:cNvCxnSpPr>
            <a:cxnSpLocks/>
          </p:cNvCxnSpPr>
          <p:nvPr/>
        </p:nvCxnSpPr>
        <p:spPr>
          <a:xfrm flipH="1">
            <a:off x="1513138" y="2481706"/>
            <a:ext cx="36985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0" name="表 9">
            <a:extLst>
              <a:ext uri="{FF2B5EF4-FFF2-40B4-BE49-F238E27FC236}">
                <a16:creationId xmlns:a16="http://schemas.microsoft.com/office/drawing/2014/main" id="{90014B5B-C370-DFC7-7051-5684EDE64EA2}"/>
              </a:ext>
            </a:extLst>
          </p:cNvPr>
          <p:cNvGraphicFramePr>
            <a:graphicFrameLocks noGrp="1"/>
          </p:cNvGraphicFramePr>
          <p:nvPr>
            <p:extLst>
              <p:ext uri="{D42A27DB-BD31-4B8C-83A1-F6EECF244321}">
                <p14:modId xmlns:p14="http://schemas.microsoft.com/office/powerpoint/2010/main" val="2944233284"/>
              </p:ext>
            </p:extLst>
          </p:nvPr>
        </p:nvGraphicFramePr>
        <p:xfrm>
          <a:off x="2790926" y="564520"/>
          <a:ext cx="5431443" cy="1371600"/>
        </p:xfrm>
        <a:graphic>
          <a:graphicData uri="http://schemas.openxmlformats.org/drawingml/2006/table">
            <a:tbl>
              <a:tblPr firstRow="1" bandRow="1">
                <a:tableStyleId>{5C22544A-7EE6-4342-B048-85BDC9FD1C3A}</a:tableStyleId>
              </a:tblPr>
              <a:tblGrid>
                <a:gridCol w="1064022">
                  <a:extLst>
                    <a:ext uri="{9D8B030D-6E8A-4147-A177-3AD203B41FA5}">
                      <a16:colId xmlns:a16="http://schemas.microsoft.com/office/drawing/2014/main" val="20000"/>
                    </a:ext>
                  </a:extLst>
                </a:gridCol>
                <a:gridCol w="1642905">
                  <a:extLst>
                    <a:ext uri="{9D8B030D-6E8A-4147-A177-3AD203B41FA5}">
                      <a16:colId xmlns:a16="http://schemas.microsoft.com/office/drawing/2014/main" val="20001"/>
                    </a:ext>
                  </a:extLst>
                </a:gridCol>
                <a:gridCol w="1835198">
                  <a:extLst>
                    <a:ext uri="{9D8B030D-6E8A-4147-A177-3AD203B41FA5}">
                      <a16:colId xmlns:a16="http://schemas.microsoft.com/office/drawing/2014/main" val="20002"/>
                    </a:ext>
                  </a:extLst>
                </a:gridCol>
                <a:gridCol w="889318">
                  <a:extLst>
                    <a:ext uri="{9D8B030D-6E8A-4147-A177-3AD203B41FA5}">
                      <a16:colId xmlns:a16="http://schemas.microsoft.com/office/drawing/2014/main" val="20004"/>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次郎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bl>
          </a:graphicData>
        </a:graphic>
      </p:graphicFrame>
      <p:graphicFrame>
        <p:nvGraphicFramePr>
          <p:cNvPr id="11" name="表 10">
            <a:extLst>
              <a:ext uri="{FF2B5EF4-FFF2-40B4-BE49-F238E27FC236}">
                <a16:creationId xmlns:a16="http://schemas.microsoft.com/office/drawing/2014/main" id="{28490E66-669B-0CC5-7DB6-EB29B7C3656B}"/>
              </a:ext>
            </a:extLst>
          </p:cNvPr>
          <p:cNvGraphicFramePr>
            <a:graphicFrameLocks noGrp="1"/>
          </p:cNvGraphicFramePr>
          <p:nvPr>
            <p:extLst>
              <p:ext uri="{D42A27DB-BD31-4B8C-83A1-F6EECF244321}">
                <p14:modId xmlns:p14="http://schemas.microsoft.com/office/powerpoint/2010/main" val="2389616126"/>
              </p:ext>
            </p:extLst>
          </p:nvPr>
        </p:nvGraphicFramePr>
        <p:xfrm>
          <a:off x="535406" y="569793"/>
          <a:ext cx="1955465" cy="1645920"/>
        </p:xfrm>
        <a:graphic>
          <a:graphicData uri="http://schemas.openxmlformats.org/drawingml/2006/table">
            <a:tbl>
              <a:tblPr firstRow="1" bandRow="1">
                <a:tableStyleId>{93296810-A885-4BE3-A3E7-6D5BEEA58F35}</a:tableStyleId>
              </a:tblPr>
              <a:tblGrid>
                <a:gridCol w="968460">
                  <a:extLst>
                    <a:ext uri="{9D8B030D-6E8A-4147-A177-3AD203B41FA5}">
                      <a16:colId xmlns:a16="http://schemas.microsoft.com/office/drawing/2014/main" val="20000"/>
                    </a:ext>
                  </a:extLst>
                </a:gridCol>
                <a:gridCol w="987005">
                  <a:extLst>
                    <a:ext uri="{9D8B030D-6E8A-4147-A177-3AD203B41FA5}">
                      <a16:colId xmlns:a16="http://schemas.microsoft.com/office/drawing/2014/main" val="20001"/>
                    </a:ext>
                  </a:extLst>
                </a:gridCol>
              </a:tblGrid>
              <a:tr h="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風紀委員</a:t>
                      </a: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endPar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体育委員</a:t>
                      </a:r>
                    </a:p>
                  </a:txBody>
                  <a:tcPr/>
                </a:tc>
                <a:extLst>
                  <a:ext uri="{0D108BD9-81ED-4DB2-BD59-A6C34878D82A}">
                    <a16:rowId xmlns:a16="http://schemas.microsoft.com/office/drawing/2014/main" val="10005"/>
                  </a:ext>
                </a:extLst>
              </a:tr>
            </a:tbl>
          </a:graphicData>
        </a:graphic>
      </p:graphicFrame>
      <p:graphicFrame>
        <p:nvGraphicFramePr>
          <p:cNvPr id="22" name="表 21">
            <a:extLst>
              <a:ext uri="{FF2B5EF4-FFF2-40B4-BE49-F238E27FC236}">
                <a16:creationId xmlns:a16="http://schemas.microsoft.com/office/drawing/2014/main" id="{CFA75B26-3DFA-72AC-3DDF-FA93D96A85EA}"/>
              </a:ext>
            </a:extLst>
          </p:cNvPr>
          <p:cNvGraphicFramePr>
            <a:graphicFrameLocks noGrp="1"/>
          </p:cNvGraphicFramePr>
          <p:nvPr>
            <p:extLst>
              <p:ext uri="{D42A27DB-BD31-4B8C-83A1-F6EECF244321}">
                <p14:modId xmlns:p14="http://schemas.microsoft.com/office/powerpoint/2010/main" val="3353569335"/>
              </p:ext>
            </p:extLst>
          </p:nvPr>
        </p:nvGraphicFramePr>
        <p:xfrm>
          <a:off x="535407" y="2819914"/>
          <a:ext cx="6498000" cy="1645920"/>
        </p:xfrm>
        <a:graphic>
          <a:graphicData uri="http://schemas.openxmlformats.org/drawingml/2006/table">
            <a:tbl>
              <a:tblPr firstRow="1" bandRow="1">
                <a:tableStyleId>{5C22544A-7EE6-4342-B048-85BDC9FD1C3A}</a:tableStyleId>
              </a:tblPr>
              <a:tblGrid>
                <a:gridCol w="968400">
                  <a:extLst>
                    <a:ext uri="{9D8B030D-6E8A-4147-A177-3AD203B41FA5}">
                      <a16:colId xmlns:a16="http://schemas.microsoft.com/office/drawing/2014/main" val="20004"/>
                    </a:ext>
                  </a:extLst>
                </a:gridCol>
                <a:gridCol w="986400">
                  <a:extLst>
                    <a:ext uri="{9D8B030D-6E8A-4147-A177-3AD203B41FA5}">
                      <a16:colId xmlns:a16="http://schemas.microsoft.com/office/drawing/2014/main" val="714767266"/>
                    </a:ext>
                  </a:extLst>
                </a:gridCol>
                <a:gridCol w="1065600">
                  <a:extLst>
                    <a:ext uri="{9D8B030D-6E8A-4147-A177-3AD203B41FA5}">
                      <a16:colId xmlns:a16="http://schemas.microsoft.com/office/drawing/2014/main" val="845540305"/>
                    </a:ext>
                  </a:extLst>
                </a:gridCol>
                <a:gridCol w="1641600">
                  <a:extLst>
                    <a:ext uri="{9D8B030D-6E8A-4147-A177-3AD203B41FA5}">
                      <a16:colId xmlns:a16="http://schemas.microsoft.com/office/drawing/2014/main" val="2538697307"/>
                    </a:ext>
                  </a:extLst>
                </a:gridCol>
                <a:gridCol w="1836000">
                  <a:extLst>
                    <a:ext uri="{9D8B030D-6E8A-4147-A177-3AD203B41FA5}">
                      <a16:colId xmlns:a16="http://schemas.microsoft.com/office/drawing/2014/main" val="469081487"/>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総務</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風紀委員</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NULL</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NULL</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NULL</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保健委員</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文化委員</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体育委員</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NULL</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NULL</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NULL</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3335417431"/>
                  </a:ext>
                </a:extLst>
              </a:tr>
            </a:tbl>
          </a:graphicData>
        </a:graphic>
      </p:graphicFrame>
      <p:sp>
        <p:nvSpPr>
          <p:cNvPr id="25" name="テキスト ボックス 24">
            <a:extLst>
              <a:ext uri="{FF2B5EF4-FFF2-40B4-BE49-F238E27FC236}">
                <a16:creationId xmlns:a16="http://schemas.microsoft.com/office/drawing/2014/main" id="{BC621C55-8D9A-D228-3301-888D0191F6EB}"/>
              </a:ext>
            </a:extLst>
          </p:cNvPr>
          <p:cNvSpPr txBox="1"/>
          <p:nvPr/>
        </p:nvSpPr>
        <p:spPr>
          <a:xfrm>
            <a:off x="112541" y="4561593"/>
            <a:ext cx="9636369" cy="1815882"/>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商品分類</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から</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商品分類</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で使用されているレコードのみを</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ただし、同一</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・同一名のレコードは、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行に集約して取得すること。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社員</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所属部署名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役職名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を付与して、全行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557223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C9F1AD-3693-F94A-87AD-8218E8EED025}"/>
              </a:ext>
            </a:extLst>
          </p:cNvPr>
          <p:cNvSpPr>
            <a:spLocks noGrp="1"/>
          </p:cNvSpPr>
          <p:nvPr>
            <p:ph type="title"/>
          </p:nvPr>
        </p:nvSpPr>
        <p:spPr/>
        <p:txBody>
          <a:bodyPr/>
          <a:lstStyle/>
          <a:p>
            <a:r>
              <a:rPr kumimoji="1" lang="en-US" altLang="ja-JP" dirty="0"/>
              <a:t>3. </a:t>
            </a:r>
            <a:r>
              <a:rPr kumimoji="1" lang="ja-JP" altLang="en-US" dirty="0"/>
              <a:t>サブクエリについて</a:t>
            </a:r>
          </a:p>
        </p:txBody>
      </p:sp>
      <p:sp>
        <p:nvSpPr>
          <p:cNvPr id="3" name="スライド番号プレースホルダー 2">
            <a:extLst>
              <a:ext uri="{FF2B5EF4-FFF2-40B4-BE49-F238E27FC236}">
                <a16:creationId xmlns:a16="http://schemas.microsoft.com/office/drawing/2014/main" id="{A9527F9C-865C-E5F4-D08F-3C66D3D5CF56}"/>
              </a:ext>
            </a:extLst>
          </p:cNvPr>
          <p:cNvSpPr>
            <a:spLocks noGrp="1"/>
          </p:cNvSpPr>
          <p:nvPr>
            <p:ph type="sldNum" sz="quarter" idx="12"/>
          </p:nvPr>
        </p:nvSpPr>
        <p:spPr/>
        <p:txBody>
          <a:bodyPr/>
          <a:lstStyle/>
          <a:p>
            <a:fld id="{0BDC6CC0-337C-4DEC-BAED-08CE4EABF7AC}" type="slidenum">
              <a:rPr lang="ja-JP" altLang="en-US" smtClean="0"/>
              <a:pPr/>
              <a:t>6</a:t>
            </a:fld>
            <a:endParaRPr lang="ja-JP" altLang="en-US" dirty="0"/>
          </a:p>
        </p:txBody>
      </p:sp>
      <p:sp>
        <p:nvSpPr>
          <p:cNvPr id="4" name="テキスト ボックス 3">
            <a:extLst>
              <a:ext uri="{FF2B5EF4-FFF2-40B4-BE49-F238E27FC236}">
                <a16:creationId xmlns:a16="http://schemas.microsoft.com/office/drawing/2014/main" id="{9BABDA6E-ACB1-1DCC-1972-4ADEC9C84424}"/>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サブクエリとは？</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F4EB0AF7-E241-9E0E-848C-C8DFF1925B75}"/>
              </a:ext>
            </a:extLst>
          </p:cNvPr>
          <p:cNvSpPr txBox="1"/>
          <p:nvPr/>
        </p:nvSpPr>
        <p:spPr>
          <a:xfrm>
            <a:off x="112541" y="953339"/>
            <a:ext cx="9636369" cy="375487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サブクエリとは、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文の中に別の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文を記述し、</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文の結果を別のテーブルと仮定してデータ</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を取得する方法である。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サブクエリを使用した際には、先にサブクエリの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文のデータが取得され、その後メインの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データが取得される。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SELECT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取得するフィールド</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FROM</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SELECT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取得するフィールド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FROM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テーブル名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サブクエリのエイリアス名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サブクエリは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FROM</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句だけでなく、</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句や</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JOIN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句にも使用することができる。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サブクエリを使用するとより、通常の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文では取得できないような複雑なデータを加工して取得することが</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可能となる。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81248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42AF0-D03D-BE45-0CAF-130E0786CE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ECCC82-0933-E1F5-C08D-C9441A9E2F20}"/>
              </a:ext>
            </a:extLst>
          </p:cNvPr>
          <p:cNvSpPr>
            <a:spLocks noGrp="1"/>
          </p:cNvSpPr>
          <p:nvPr>
            <p:ph type="title"/>
          </p:nvPr>
        </p:nvSpPr>
        <p:spPr/>
        <p:txBody>
          <a:bodyPr/>
          <a:lstStyle/>
          <a:p>
            <a:r>
              <a:rPr kumimoji="1" lang="en-US" altLang="ja-JP" dirty="0"/>
              <a:t>3. </a:t>
            </a:r>
            <a:r>
              <a:rPr kumimoji="1" lang="ja-JP" altLang="en-US" dirty="0"/>
              <a:t>サブクエリについて</a:t>
            </a:r>
          </a:p>
        </p:txBody>
      </p:sp>
      <p:sp>
        <p:nvSpPr>
          <p:cNvPr id="3" name="スライド番号プレースホルダー 2">
            <a:extLst>
              <a:ext uri="{FF2B5EF4-FFF2-40B4-BE49-F238E27FC236}">
                <a16:creationId xmlns:a16="http://schemas.microsoft.com/office/drawing/2014/main" id="{28AB0557-3986-87BB-C158-12B729D52822}"/>
              </a:ext>
            </a:extLst>
          </p:cNvPr>
          <p:cNvSpPr>
            <a:spLocks noGrp="1"/>
          </p:cNvSpPr>
          <p:nvPr>
            <p:ph type="sldNum" sz="quarter" idx="12"/>
          </p:nvPr>
        </p:nvSpPr>
        <p:spPr/>
        <p:txBody>
          <a:bodyPr/>
          <a:lstStyle/>
          <a:p>
            <a:fld id="{0BDC6CC0-337C-4DEC-BAED-08CE4EABF7AC}" type="slidenum">
              <a:rPr lang="ja-JP" altLang="en-US" smtClean="0"/>
              <a:pPr/>
              <a:t>7</a:t>
            </a:fld>
            <a:endParaRPr lang="ja-JP" altLang="en-US" dirty="0"/>
          </a:p>
        </p:txBody>
      </p:sp>
      <p:sp>
        <p:nvSpPr>
          <p:cNvPr id="4" name="テキスト ボックス 3">
            <a:extLst>
              <a:ext uri="{FF2B5EF4-FFF2-40B4-BE49-F238E27FC236}">
                <a16:creationId xmlns:a16="http://schemas.microsoft.com/office/drawing/2014/main" id="{BC614822-BE65-CAE3-3F09-39DA75416779}"/>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3-2. WITH</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句の使用</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4C5B6418-4AFA-6C91-50AE-9869AD55A36C}"/>
              </a:ext>
            </a:extLst>
          </p:cNvPr>
          <p:cNvSpPr txBox="1"/>
          <p:nvPr/>
        </p:nvSpPr>
        <p:spPr>
          <a:xfrm>
            <a:off x="112541" y="953339"/>
            <a:ext cx="9636369" cy="375487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サブクエリを使用する際に、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つの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文の中に同一のサブクエリを複数回使用すると、データベースに対し</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て複数回同一の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文が発行され、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文全体のレスポンスが落ちてしまうため、</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WITH</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句を使用して予</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め一度発行されたサブクエリの結果をメモリ上に展開し、使いまわすことによりレスポンスを早めることができ</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WITH AS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サブクエリのエイリアス名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SELECT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取得するフィールド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FROM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テーブル名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p>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        SELECT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取得するフィールド</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FROM</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サブクエリのエイリアス名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WITH</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句を使用する際には、サブクエリの結果がサーバーのメモリ上に展開される、また</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文自体も複雑化</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し、可読性が落ちてしまうため、使用時のメリットと効果をしっかりと理解した上で適切に使用する必要がある。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09775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E0D085-594D-071E-DA37-6C299AB3588D}"/>
              </a:ext>
            </a:extLst>
          </p:cNvPr>
          <p:cNvSpPr>
            <a:spLocks noGrp="1"/>
          </p:cNvSpPr>
          <p:nvPr>
            <p:ph type="title"/>
          </p:nvPr>
        </p:nvSpPr>
        <p:spPr/>
        <p:txBody>
          <a:bodyPr/>
          <a:lstStyle/>
          <a:p>
            <a:r>
              <a:rPr kumimoji="1" lang="en-US" altLang="ja-JP" dirty="0"/>
              <a:t>3. </a:t>
            </a:r>
            <a:r>
              <a:rPr kumimoji="1" lang="ja-JP" altLang="en-US" dirty="0"/>
              <a:t>サブクエリについて</a:t>
            </a:r>
          </a:p>
        </p:txBody>
      </p:sp>
      <p:sp>
        <p:nvSpPr>
          <p:cNvPr id="3" name="スライド番号プレースホルダー 2">
            <a:extLst>
              <a:ext uri="{FF2B5EF4-FFF2-40B4-BE49-F238E27FC236}">
                <a16:creationId xmlns:a16="http://schemas.microsoft.com/office/drawing/2014/main" id="{90A3BB1E-CCDF-3818-CF09-88F656790BA0}"/>
              </a:ext>
            </a:extLst>
          </p:cNvPr>
          <p:cNvSpPr>
            <a:spLocks noGrp="1"/>
          </p:cNvSpPr>
          <p:nvPr>
            <p:ph type="sldNum" sz="quarter" idx="12"/>
          </p:nvPr>
        </p:nvSpPr>
        <p:spPr/>
        <p:txBody>
          <a:bodyPr/>
          <a:lstStyle/>
          <a:p>
            <a:fld id="{0BDC6CC0-337C-4DEC-BAED-08CE4EABF7AC}" type="slidenum">
              <a:rPr lang="ja-JP" altLang="en-US" smtClean="0"/>
              <a:pPr/>
              <a:t>8</a:t>
            </a:fld>
            <a:endParaRPr lang="ja-JP" altLang="en-US" dirty="0"/>
          </a:p>
        </p:txBody>
      </p:sp>
      <p:sp>
        <p:nvSpPr>
          <p:cNvPr id="4" name="テキスト ボックス 3">
            <a:extLst>
              <a:ext uri="{FF2B5EF4-FFF2-40B4-BE49-F238E27FC236}">
                <a16:creationId xmlns:a16="http://schemas.microsoft.com/office/drawing/2014/main" id="{612DFE57-9E03-E6A1-FDD9-F94955CE5C5F}"/>
              </a:ext>
            </a:extLst>
          </p:cNvPr>
          <p:cNvSpPr txBox="1"/>
          <p:nvPr/>
        </p:nvSpPr>
        <p:spPr>
          <a:xfrm>
            <a:off x="112541" y="576000"/>
            <a:ext cx="9636369" cy="4401205"/>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3】</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から売上日が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[2025/04/01]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の売上伝票で各伝票番号ごとの明細番号が最小</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値のレコードのみを</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4】</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から売上年月ごとの販売数量の集計結果で販売数量が最も少ない年月の販</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売数量を</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5】</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の売上年月ごと・得意先ごと・商品ごとの販売数量の合計と、販売金額の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合計を集計し、集計結果を元に販売数量が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300</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500</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売上年月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得意先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得意先名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販売数量計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販売金額計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ただし、各明細ごとの販売金額に小数桁が発生する場合には、四捨五入で整数値として集計すること。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6】</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の売上日が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[2025/04/01]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の売上伝票で各明細の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売上伝票番号</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日</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得意先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得意先名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明細番号</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販売数量</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販売金額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と伝票合計金額に対する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消費税額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のレコードを一括で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ただし、</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消費税額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明細番号</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99</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商品名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販売数量</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NULL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として、各売上明細の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一覧の最後に取得することし、</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消費税額</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に小数桁が発生する場合には、四捨五入で整数値として集計すること。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47013886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4808</TotalTime>
  <Words>2914</Words>
  <Application>Microsoft Office PowerPoint</Application>
  <PresentationFormat>A4 210 x 297 mm</PresentationFormat>
  <Paragraphs>451</Paragraphs>
  <Slides>8</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メイリオ</vt:lpstr>
      <vt:lpstr>Arial</vt:lpstr>
      <vt:lpstr>Calibri</vt:lpstr>
      <vt:lpstr>Office テーマ</vt:lpstr>
      <vt:lpstr>【第3回】SELECT文 上級</vt:lpstr>
      <vt:lpstr>1. テーブルの正規化</vt:lpstr>
      <vt:lpstr>2. テーブルの結合について</vt:lpstr>
      <vt:lpstr>2. テーブルの結合について</vt:lpstr>
      <vt:lpstr>2. テーブルの結合について</vt:lpstr>
      <vt:lpstr>3. サブクエリについて</vt:lpstr>
      <vt:lpstr>3. サブクエリについて</vt:lpstr>
      <vt:lpstr>3. サブクエリについて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nagano</dc:creator>
  <cp:lastModifiedBy>ibcl177</cp:lastModifiedBy>
  <cp:revision>479</cp:revision>
  <cp:lastPrinted>2025-06-19T22:39:45Z</cp:lastPrinted>
  <dcterms:created xsi:type="dcterms:W3CDTF">2018-12-05T10:12:33Z</dcterms:created>
  <dcterms:modified xsi:type="dcterms:W3CDTF">2025-11-26T10:42:17Z</dcterms:modified>
</cp:coreProperties>
</file>